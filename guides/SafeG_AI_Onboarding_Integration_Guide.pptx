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F4D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C1525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914400"/>
            <a:ext cx="1645920" cy="1828800"/>
          </a:xfrm>
          <a:prstGeom prst="rect">
            <a:avLst/>
          </a:prstGeom>
          <a:solidFill>
            <a:srgbClr val="FF4D00">
              <a:alpha val="1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256032" y="96012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800" kern="0" dirty="0">
                <a:solidFill>
                  <a:srgbClr val="FF4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SAFEG AI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56032" y="1417320"/>
            <a:ext cx="6858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42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Onboarding &amp;</a:t>
            </a:r>
            <a:endParaRPr lang="en-US" sz="4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42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Integration Guide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256032" y="2944368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step-by-step implementation guide for factory safety AI deployment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56032" y="3547872"/>
            <a:ext cx="1737360" cy="329184"/>
          </a:xfrm>
          <a:prstGeom prst="rect">
            <a:avLst/>
          </a:prstGeom>
          <a:solidFill>
            <a:srgbClr val="132240"/>
          </a:solidFill>
          <a:ln w="12700">
            <a:solidFill>
              <a:srgbClr val="FF4D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354787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Cameras Supported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651760" y="3547872"/>
            <a:ext cx="1737360" cy="329184"/>
          </a:xfrm>
          <a:prstGeom prst="rect">
            <a:avLst/>
          </a:prstGeom>
          <a:solidFill>
            <a:srgbClr val="132240"/>
          </a:solidFill>
          <a:ln w="12700">
            <a:solidFill>
              <a:srgbClr val="FF4D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51760" y="354787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6-Step Process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572000" y="3547872"/>
            <a:ext cx="1737360" cy="329184"/>
          </a:xfrm>
          <a:prstGeom prst="rect">
            <a:avLst/>
          </a:prstGeom>
          <a:solidFill>
            <a:srgbClr val="132240"/>
          </a:solidFill>
          <a:ln w="12700">
            <a:solidFill>
              <a:srgbClr val="FF4D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354787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 Day Setup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7132320" y="365760"/>
            <a:ext cx="502920" cy="384048"/>
          </a:xfrm>
          <a:prstGeom prst="rect">
            <a:avLst/>
          </a:prstGeom>
          <a:solidFill>
            <a:srgbClr val="1322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296912" y="438912"/>
            <a:ext cx="182880" cy="182880"/>
          </a:xfrm>
          <a:prstGeom prst="ellipse">
            <a:avLst/>
          </a:prstGeom>
          <a:solidFill>
            <a:srgbClr val="1E3A5F"/>
          </a:solidFill>
          <a:ln w="6350">
            <a:solidFill>
              <a:srgbClr val="05080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863840" y="365760"/>
            <a:ext cx="502920" cy="384048"/>
          </a:xfrm>
          <a:prstGeom prst="rect">
            <a:avLst/>
          </a:prstGeom>
          <a:solidFill>
            <a:srgbClr val="1322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28432" y="438912"/>
            <a:ext cx="182880" cy="182880"/>
          </a:xfrm>
          <a:prstGeom prst="ellipse">
            <a:avLst/>
          </a:prstGeom>
          <a:solidFill>
            <a:srgbClr val="1E3A5F"/>
          </a:solidFill>
          <a:ln w="6350">
            <a:solidFill>
              <a:srgbClr val="05080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412480" y="365760"/>
            <a:ext cx="502920" cy="384048"/>
          </a:xfrm>
          <a:prstGeom prst="rect">
            <a:avLst/>
          </a:prstGeom>
          <a:solidFill>
            <a:srgbClr val="1322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577072" y="438912"/>
            <a:ext cx="182880" cy="182880"/>
          </a:xfrm>
          <a:prstGeom prst="ellipse">
            <a:avLst/>
          </a:prstGeom>
          <a:solidFill>
            <a:srgbClr val="1E3A5F"/>
          </a:solidFill>
          <a:ln w="6350">
            <a:solidFill>
              <a:srgbClr val="05080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32320" y="1005840"/>
            <a:ext cx="502920" cy="384048"/>
          </a:xfrm>
          <a:prstGeom prst="rect">
            <a:avLst/>
          </a:prstGeom>
          <a:solidFill>
            <a:srgbClr val="1322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296912" y="1078992"/>
            <a:ext cx="182880" cy="182880"/>
          </a:xfrm>
          <a:prstGeom prst="ellipse">
            <a:avLst/>
          </a:prstGeom>
          <a:solidFill>
            <a:srgbClr val="1E3A5F"/>
          </a:solidFill>
          <a:ln w="6350">
            <a:solidFill>
              <a:srgbClr val="05080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863840" y="1005840"/>
            <a:ext cx="502920" cy="384048"/>
          </a:xfrm>
          <a:prstGeom prst="rect">
            <a:avLst/>
          </a:prstGeom>
          <a:solidFill>
            <a:srgbClr val="132240"/>
          </a:solidFill>
          <a:ln w="25400">
            <a:solidFill>
              <a:srgbClr val="FF4D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28432" y="1078992"/>
            <a:ext cx="182880" cy="182880"/>
          </a:xfrm>
          <a:prstGeom prst="ellipse">
            <a:avLst/>
          </a:prstGeom>
          <a:solidFill>
            <a:srgbClr val="FF4D00"/>
          </a:solidFill>
          <a:ln w="6350">
            <a:solidFill>
              <a:srgbClr val="05080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1005840"/>
            <a:ext cx="502920" cy="384048"/>
          </a:xfrm>
          <a:prstGeom prst="rect">
            <a:avLst/>
          </a:prstGeom>
          <a:solidFill>
            <a:srgbClr val="1322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577072" y="1078992"/>
            <a:ext cx="182880" cy="182880"/>
          </a:xfrm>
          <a:prstGeom prst="ellipse">
            <a:avLst/>
          </a:prstGeom>
          <a:solidFill>
            <a:srgbClr val="1E3A5F"/>
          </a:solidFill>
          <a:ln w="6350">
            <a:solidFill>
              <a:srgbClr val="05080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132320" y="1645920"/>
            <a:ext cx="502920" cy="384048"/>
          </a:xfrm>
          <a:prstGeom prst="rect">
            <a:avLst/>
          </a:prstGeom>
          <a:solidFill>
            <a:srgbClr val="1322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296912" y="1719072"/>
            <a:ext cx="182880" cy="182880"/>
          </a:xfrm>
          <a:prstGeom prst="ellipse">
            <a:avLst/>
          </a:prstGeom>
          <a:solidFill>
            <a:srgbClr val="1E3A5F"/>
          </a:solidFill>
          <a:ln w="6350">
            <a:solidFill>
              <a:srgbClr val="05080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863840" y="1645920"/>
            <a:ext cx="502920" cy="384048"/>
          </a:xfrm>
          <a:prstGeom prst="rect">
            <a:avLst/>
          </a:prstGeom>
          <a:solidFill>
            <a:srgbClr val="1322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028432" y="1719072"/>
            <a:ext cx="182880" cy="182880"/>
          </a:xfrm>
          <a:prstGeom prst="ellipse">
            <a:avLst/>
          </a:prstGeom>
          <a:solidFill>
            <a:srgbClr val="1E3A5F"/>
          </a:solidFill>
          <a:ln w="6350">
            <a:solidFill>
              <a:srgbClr val="05080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412480" y="1645920"/>
            <a:ext cx="502920" cy="384048"/>
          </a:xfrm>
          <a:prstGeom prst="rect">
            <a:avLst/>
          </a:prstGeom>
          <a:solidFill>
            <a:srgbClr val="1322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577072" y="1719072"/>
            <a:ext cx="182880" cy="182880"/>
          </a:xfrm>
          <a:prstGeom prst="ellipse">
            <a:avLst/>
          </a:prstGeom>
          <a:solidFill>
            <a:srgbClr val="1E3A5F"/>
          </a:solidFill>
          <a:ln w="6350">
            <a:solidFill>
              <a:srgbClr val="05080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040880" y="21945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200" kern="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FEEDS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256032" y="477316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1.0  ·  2025  ·  Confidential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7772400" y="477316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22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4D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5080F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4800600"/>
            <a:ext cx="54864" cy="228600"/>
          </a:xfrm>
          <a:prstGeom prst="rect">
            <a:avLst/>
          </a:prstGeom>
          <a:solidFill>
            <a:srgbClr val="FF4D00"/>
          </a:solidFill>
          <a:ln/>
        </p:spPr>
      </p:sp>
      <p:sp>
        <p:nvSpPr>
          <p:cNvPr id="5" name="Text 3"/>
          <p:cNvSpPr/>
          <p:nvPr/>
        </p:nvSpPr>
        <p:spPr>
          <a:xfrm>
            <a:off x="384048" y="477316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SAFEG AI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0" y="477316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56032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Inside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256032" y="960120"/>
            <a:ext cx="411480" cy="411480"/>
          </a:xfrm>
          <a:prstGeom prst="rect">
            <a:avLst/>
          </a:prstGeom>
          <a:solidFill>
            <a:srgbClr val="FF4D00"/>
          </a:solidFill>
          <a:ln/>
        </p:spPr>
      </p:sp>
      <p:sp>
        <p:nvSpPr>
          <p:cNvPr id="9" name="Text 7"/>
          <p:cNvSpPr/>
          <p:nvPr/>
        </p:nvSpPr>
        <p:spPr>
          <a:xfrm>
            <a:off x="256032" y="960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96012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&amp; Overview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1179576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SafeG AI does for your factory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6032" y="1389888"/>
            <a:ext cx="8595360" cy="7315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3" name="Shape 11"/>
          <p:cNvSpPr/>
          <p:nvPr/>
        </p:nvSpPr>
        <p:spPr>
          <a:xfrm>
            <a:off x="256032" y="1508760"/>
            <a:ext cx="411480" cy="411480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14" name="Text 12"/>
          <p:cNvSpPr/>
          <p:nvPr/>
        </p:nvSpPr>
        <p:spPr>
          <a:xfrm>
            <a:off x="256032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" y="150876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Pre-Installation Checklist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77240" y="1728216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Network, hardware &amp; site requirements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56032" y="1938528"/>
            <a:ext cx="8595360" cy="7315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8" name="Shape 16"/>
          <p:cNvSpPr/>
          <p:nvPr/>
        </p:nvSpPr>
        <p:spPr>
          <a:xfrm>
            <a:off x="256032" y="2057400"/>
            <a:ext cx="411480" cy="411480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19" name="Text 17"/>
          <p:cNvSpPr/>
          <p:nvPr/>
        </p:nvSpPr>
        <p:spPr>
          <a:xfrm>
            <a:off x="256032" y="2057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77240" y="205740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Setup &amp; Wizard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77240" y="2276856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Registration, plant, zones &amp; user roles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56032" y="2487168"/>
            <a:ext cx="8595360" cy="7315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3" name="Shape 21"/>
          <p:cNvSpPr/>
          <p:nvPr/>
        </p:nvSpPr>
        <p:spPr>
          <a:xfrm>
            <a:off x="256032" y="2606040"/>
            <a:ext cx="411480" cy="411480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24" name="Text 22"/>
          <p:cNvSpPr/>
          <p:nvPr/>
        </p:nvSpPr>
        <p:spPr>
          <a:xfrm>
            <a:off x="256032" y="2606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77240" y="260604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Installation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77240" y="2825496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Mounting, cabling, RTSP config per zone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56032" y="3035808"/>
            <a:ext cx="8595360" cy="7315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8" name="Shape 26"/>
          <p:cNvSpPr/>
          <p:nvPr/>
        </p:nvSpPr>
        <p:spPr>
          <a:xfrm>
            <a:off x="256032" y="3154680"/>
            <a:ext cx="411480" cy="411480"/>
          </a:xfrm>
          <a:prstGeom prst="rect">
            <a:avLst/>
          </a:prstGeom>
          <a:solidFill>
            <a:srgbClr val="2D8EFF"/>
          </a:solidFill>
          <a:ln/>
        </p:spPr>
      </p:sp>
      <p:sp>
        <p:nvSpPr>
          <p:cNvPr id="29" name="Text 27"/>
          <p:cNvSpPr/>
          <p:nvPr/>
        </p:nvSpPr>
        <p:spPr>
          <a:xfrm>
            <a:off x="256032" y="3154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77240" y="315468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Configuration &amp; Testing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77240" y="3374136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rules, sensitivity, alerts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56032" y="3584448"/>
            <a:ext cx="8595360" cy="7315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3" name="Shape 31"/>
          <p:cNvSpPr/>
          <p:nvPr/>
        </p:nvSpPr>
        <p:spPr>
          <a:xfrm>
            <a:off x="256032" y="3703320"/>
            <a:ext cx="411480" cy="4114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4" name="Text 32"/>
          <p:cNvSpPr/>
          <p:nvPr/>
        </p:nvSpPr>
        <p:spPr>
          <a:xfrm>
            <a:off x="256032" y="3703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77240" y="370332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Go-Live &amp; Support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77240" y="3922776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Dashboard, Form 18, WhatsApp alerts, SLA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56032" y="4133088"/>
            <a:ext cx="8595360" cy="7315"/>
          </a:xfrm>
          <a:prstGeom prst="rect">
            <a:avLst/>
          </a:prstGeom>
          <a:solidFill>
            <a:srgbClr val="1E3A5F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F4D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3224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18872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600" b="1" dirty="0">
                <a:solidFill>
                  <a:srgbClr val="FF4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274320" y="219456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&amp;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274320" y="3520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SafeG AI before you begin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74320" y="4800600"/>
            <a:ext cx="54864" cy="228600"/>
          </a:xfrm>
          <a:prstGeom prst="rect">
            <a:avLst/>
          </a:prstGeom>
          <a:solidFill>
            <a:srgbClr val="FF4D00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477316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SAFEG AI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286000" y="477316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 — OVERVIEW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772400" y="477316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22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4D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5080F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4800600"/>
            <a:ext cx="54864" cy="228600"/>
          </a:xfrm>
          <a:prstGeom prst="rect">
            <a:avLst/>
          </a:prstGeom>
          <a:solidFill>
            <a:srgbClr val="FF4D00"/>
          </a:solidFill>
          <a:ln/>
        </p:spPr>
      </p:sp>
      <p:sp>
        <p:nvSpPr>
          <p:cNvPr id="5" name="Text 3"/>
          <p:cNvSpPr/>
          <p:nvPr/>
        </p:nvSpPr>
        <p:spPr>
          <a:xfrm>
            <a:off x="384048" y="477316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SAFEG AI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286000" y="477316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OVERVIEW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0" y="477316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150608" y="274320"/>
            <a:ext cx="1737360" cy="237744"/>
          </a:xfrm>
          <a:prstGeom prst="rect">
            <a:avLst/>
          </a:prstGeom>
          <a:solidFill>
            <a:srgbClr val="FF4D00"/>
          </a:solidFill>
          <a:ln/>
        </p:spPr>
      </p:sp>
      <p:sp>
        <p:nvSpPr>
          <p:cNvPr id="9" name="Text 7"/>
          <p:cNvSpPr/>
          <p:nvPr/>
        </p:nvSpPr>
        <p:spPr>
          <a:xfrm>
            <a:off x="7150608" y="27432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56032" y="27432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SafeG AI Does For Your Factory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256032" y="1005840"/>
            <a:ext cx="2743200" cy="1371600"/>
          </a:xfrm>
          <a:prstGeom prst="rect">
            <a:avLst/>
          </a:prstGeom>
          <a:solidFill>
            <a:srgbClr val="1A2E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" y="1005840"/>
            <a:ext cx="2743200" cy="50292"/>
          </a:xfrm>
          <a:prstGeom prst="rect">
            <a:avLst/>
          </a:prstGeom>
          <a:solidFill>
            <a:srgbClr val="FF4D00"/>
          </a:solidFill>
          <a:ln/>
        </p:spPr>
      </p:sp>
      <p:sp>
        <p:nvSpPr>
          <p:cNvPr id="13" name="Text 11"/>
          <p:cNvSpPr/>
          <p:nvPr/>
        </p:nvSpPr>
        <p:spPr>
          <a:xfrm>
            <a:off x="420624" y="114300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📷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93192" y="15087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PPE Detection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93192" y="1755648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watches every camera 24/7, detecting missing helmets, vests, boots, gloves and eye protection in &lt; 3 seconds.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163824" y="1005840"/>
            <a:ext cx="2743200" cy="1371600"/>
          </a:xfrm>
          <a:prstGeom prst="rect">
            <a:avLst/>
          </a:prstGeom>
          <a:solidFill>
            <a:srgbClr val="1A2E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163824" y="1005840"/>
            <a:ext cx="2743200" cy="50292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18" name="Text 16"/>
          <p:cNvSpPr/>
          <p:nvPr/>
        </p:nvSpPr>
        <p:spPr>
          <a:xfrm>
            <a:off x="3328416" y="114300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⚠️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300984" y="15087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Violation Alerts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00984" y="1755648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+ Email alerts reach your HSE team within 28 seconds of detection. No delayed reports.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071616" y="1005840"/>
            <a:ext cx="2743200" cy="1371600"/>
          </a:xfrm>
          <a:prstGeom prst="rect">
            <a:avLst/>
          </a:prstGeom>
          <a:solidFill>
            <a:srgbClr val="1A2E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071616" y="1005840"/>
            <a:ext cx="2743200" cy="50292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23" name="Text 21"/>
          <p:cNvSpPr/>
          <p:nvPr/>
        </p:nvSpPr>
        <p:spPr>
          <a:xfrm>
            <a:off x="6236208" y="114300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208776" y="15087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18 Auto-Fill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08776" y="1755648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94% of Factories Act Form 18 fields auto-populated from AI detections. Inspector-ready reports.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56032" y="2578608"/>
            <a:ext cx="2743200" cy="1371600"/>
          </a:xfrm>
          <a:prstGeom prst="rect">
            <a:avLst/>
          </a:prstGeom>
          <a:solidFill>
            <a:srgbClr val="1A2E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56032" y="2578608"/>
            <a:ext cx="2743200" cy="50292"/>
          </a:xfrm>
          <a:prstGeom prst="rect">
            <a:avLst/>
          </a:prstGeom>
          <a:solidFill>
            <a:srgbClr val="2D8EFF"/>
          </a:solidFill>
          <a:ln/>
        </p:spPr>
      </p:sp>
      <p:sp>
        <p:nvSpPr>
          <p:cNvPr id="28" name="Text 26"/>
          <p:cNvSpPr/>
          <p:nvPr/>
        </p:nvSpPr>
        <p:spPr>
          <a:xfrm>
            <a:off x="420624" y="271576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393192" y="30815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Dashboard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93192" y="3328416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KPIs, 7-day trends, PPE compliance rates and violation heatmaps for every zone.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163824" y="2578608"/>
            <a:ext cx="2743200" cy="1371600"/>
          </a:xfrm>
          <a:prstGeom prst="rect">
            <a:avLst/>
          </a:prstGeom>
          <a:solidFill>
            <a:srgbClr val="1A2E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163824" y="2578608"/>
            <a:ext cx="2743200" cy="5029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3" name="Text 31"/>
          <p:cNvSpPr/>
          <p:nvPr/>
        </p:nvSpPr>
        <p:spPr>
          <a:xfrm>
            <a:off x="3328416" y="271576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🔒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3300984" y="30815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Danger Zone Monitoring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300984" y="3328416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perimeters around hazardous areas. AI raises alert the moment an unauthorised worker enters.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071616" y="2578608"/>
            <a:ext cx="2743200" cy="1371600"/>
          </a:xfrm>
          <a:prstGeom prst="rect">
            <a:avLst/>
          </a:prstGeom>
          <a:solidFill>
            <a:srgbClr val="1A2E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071616" y="2578608"/>
            <a:ext cx="2743200" cy="50292"/>
          </a:xfrm>
          <a:prstGeom prst="rect">
            <a:avLst/>
          </a:prstGeom>
          <a:solidFill>
            <a:srgbClr val="FF6B2B"/>
          </a:solidFill>
          <a:ln/>
        </p:spPr>
      </p:sp>
      <p:sp>
        <p:nvSpPr>
          <p:cNvPr id="38" name="Text 36"/>
          <p:cNvSpPr/>
          <p:nvPr/>
        </p:nvSpPr>
        <p:spPr>
          <a:xfrm>
            <a:off x="6236208" y="271576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🏭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6208776" y="30815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Multi-Plant Support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208776" y="3328416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dashboard for up to 32 cameras across 5 plants. Role-based access for HSE officers and managers.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4D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5080F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4800600"/>
            <a:ext cx="54864" cy="228600"/>
          </a:xfrm>
          <a:prstGeom prst="rect">
            <a:avLst/>
          </a:prstGeom>
          <a:solidFill>
            <a:srgbClr val="FF4D00"/>
          </a:solidFill>
          <a:ln/>
        </p:spPr>
      </p:sp>
      <p:sp>
        <p:nvSpPr>
          <p:cNvPr id="5" name="Text 3"/>
          <p:cNvSpPr/>
          <p:nvPr/>
        </p:nvSpPr>
        <p:spPr>
          <a:xfrm>
            <a:off x="384048" y="477316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SAFEG AI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286000" y="477316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OVERVIEW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0" y="477316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150608" y="274320"/>
            <a:ext cx="1737360" cy="237744"/>
          </a:xfrm>
          <a:prstGeom prst="rect">
            <a:avLst/>
          </a:prstGeom>
          <a:solidFill>
            <a:srgbClr val="FF4D00"/>
          </a:solidFill>
          <a:ln/>
        </p:spPr>
      </p:sp>
      <p:sp>
        <p:nvSpPr>
          <p:cNvPr id="9" name="Text 7"/>
          <p:cNvSpPr/>
          <p:nvPr/>
        </p:nvSpPr>
        <p:spPr>
          <a:xfrm>
            <a:off x="7150608" y="27432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56032" y="256032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at a Glance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56032" y="768096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results within 90 days of deployment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56032" y="1188720"/>
            <a:ext cx="1993392" cy="1508760"/>
          </a:xfrm>
          <a:prstGeom prst="rect">
            <a:avLst/>
          </a:prstGeom>
          <a:solidFill>
            <a:srgbClr val="1A2E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6032" y="1188720"/>
            <a:ext cx="1993392" cy="50292"/>
          </a:xfrm>
          <a:prstGeom prst="rect">
            <a:avLst/>
          </a:prstGeom>
          <a:solidFill>
            <a:srgbClr val="FF4D00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132588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4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73%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365760" y="199339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PPE Violations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423160" y="1188720"/>
            <a:ext cx="1993392" cy="1508760"/>
          </a:xfrm>
          <a:prstGeom prst="rect">
            <a:avLst/>
          </a:prstGeom>
          <a:solidFill>
            <a:srgbClr val="1A2E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423160" y="1188720"/>
            <a:ext cx="1993392" cy="50292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18" name="Text 16"/>
          <p:cNvSpPr/>
          <p:nvPr/>
        </p:nvSpPr>
        <p:spPr>
          <a:xfrm>
            <a:off x="2532888" y="132588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3s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2532888" y="199339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Detection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90288" y="1188720"/>
            <a:ext cx="1993392" cy="1508760"/>
          </a:xfrm>
          <a:prstGeom prst="rect">
            <a:avLst/>
          </a:prstGeom>
          <a:solidFill>
            <a:srgbClr val="1A2E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90288" y="1188720"/>
            <a:ext cx="1993392" cy="50292"/>
          </a:xfrm>
          <a:prstGeom prst="rect">
            <a:avLst/>
          </a:prstGeom>
          <a:solidFill>
            <a:srgbClr val="2D8EFF"/>
          </a:solidFill>
          <a:ln/>
        </p:spPr>
      </p:sp>
      <p:sp>
        <p:nvSpPr>
          <p:cNvPr id="22" name="Text 20"/>
          <p:cNvSpPr/>
          <p:nvPr/>
        </p:nvSpPr>
        <p:spPr>
          <a:xfrm>
            <a:off x="4700016" y="132588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D8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98.7%</a:t>
            </a:r>
            <a:endParaRPr lang="en-US" sz="3800" dirty="0"/>
          </a:p>
        </p:txBody>
      </p:sp>
      <p:sp>
        <p:nvSpPr>
          <p:cNvPr id="23" name="Text 21"/>
          <p:cNvSpPr/>
          <p:nvPr/>
        </p:nvSpPr>
        <p:spPr>
          <a:xfrm>
            <a:off x="4700016" y="199339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748272" y="1188720"/>
            <a:ext cx="1993392" cy="1508760"/>
          </a:xfrm>
          <a:prstGeom prst="rect">
            <a:avLst/>
          </a:prstGeom>
          <a:solidFill>
            <a:srgbClr val="1A2E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748272" y="1188720"/>
            <a:ext cx="1993392" cy="50292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0" y="132588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6 mo</a:t>
            </a:r>
            <a:endParaRPr lang="en-US" sz="3800" dirty="0"/>
          </a:p>
        </p:txBody>
      </p:sp>
      <p:sp>
        <p:nvSpPr>
          <p:cNvPr id="27" name="Text 25"/>
          <p:cNvSpPr/>
          <p:nvPr/>
        </p:nvSpPr>
        <p:spPr>
          <a:xfrm>
            <a:off x="6858000" y="199339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56032" y="283464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4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camera to alert in under 30 seconds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6032" y="3200400"/>
            <a:ext cx="1508760" cy="640080"/>
          </a:xfrm>
          <a:prstGeom prst="rect">
            <a:avLst/>
          </a:prstGeom>
          <a:solidFill>
            <a:srgbClr val="132240"/>
          </a:solidFill>
          <a:ln w="19050">
            <a:solidFill>
              <a:srgbClr val="FF4D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6032" y="320040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Captures Frame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783080" y="3493008"/>
            <a:ext cx="182880" cy="54864"/>
          </a:xfrm>
          <a:prstGeom prst="rect">
            <a:avLst/>
          </a:prstGeom>
          <a:solidFill>
            <a:srgbClr val="FF4D00"/>
          </a:solidFill>
          <a:ln/>
        </p:spPr>
      </p:sp>
      <p:sp>
        <p:nvSpPr>
          <p:cNvPr id="32" name="Shape 30"/>
          <p:cNvSpPr/>
          <p:nvPr/>
        </p:nvSpPr>
        <p:spPr>
          <a:xfrm>
            <a:off x="1993392" y="3200400"/>
            <a:ext cx="1508760" cy="640080"/>
          </a:xfrm>
          <a:prstGeom prst="rect">
            <a:avLst/>
          </a:prstGeom>
          <a:solidFill>
            <a:srgbClr val="132240"/>
          </a:solidFill>
          <a:ln w="19050">
            <a:solidFill>
              <a:srgbClr val="FF8C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993392" y="320040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Analyses PPE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520440" y="3493008"/>
            <a:ext cx="182880" cy="54864"/>
          </a:xfrm>
          <a:prstGeom prst="rect">
            <a:avLst/>
          </a:prstGeom>
          <a:solidFill>
            <a:srgbClr val="FF4D00"/>
          </a:solidFill>
          <a:ln/>
        </p:spPr>
      </p:sp>
      <p:sp>
        <p:nvSpPr>
          <p:cNvPr id="35" name="Shape 33"/>
          <p:cNvSpPr/>
          <p:nvPr/>
        </p:nvSpPr>
        <p:spPr>
          <a:xfrm>
            <a:off x="3730752" y="3200400"/>
            <a:ext cx="1508760" cy="640080"/>
          </a:xfrm>
          <a:prstGeom prst="rect">
            <a:avLst/>
          </a:prstGeom>
          <a:solidFill>
            <a:srgbClr val="132240"/>
          </a:solidFill>
          <a:ln w="19050">
            <a:solidFill>
              <a:srgbClr val="FFB02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730752" y="320040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Violation Detected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257800" y="3493008"/>
            <a:ext cx="182880" cy="54864"/>
          </a:xfrm>
          <a:prstGeom prst="rect">
            <a:avLst/>
          </a:prstGeom>
          <a:solidFill>
            <a:srgbClr val="FF4D00"/>
          </a:solidFill>
          <a:ln/>
        </p:spPr>
      </p:sp>
      <p:sp>
        <p:nvSpPr>
          <p:cNvPr id="38" name="Shape 36"/>
          <p:cNvSpPr/>
          <p:nvPr/>
        </p:nvSpPr>
        <p:spPr>
          <a:xfrm>
            <a:off x="5468112" y="3200400"/>
            <a:ext cx="1508760" cy="640080"/>
          </a:xfrm>
          <a:prstGeom prst="rect">
            <a:avLst/>
          </a:prstGeom>
          <a:solidFill>
            <a:srgbClr val="132240"/>
          </a:solidFill>
          <a:ln w="19050">
            <a:solidFill>
              <a:srgbClr val="00C89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68112" y="320040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Sent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995160" y="3493008"/>
            <a:ext cx="182880" cy="54864"/>
          </a:xfrm>
          <a:prstGeom prst="rect">
            <a:avLst/>
          </a:prstGeom>
          <a:solidFill>
            <a:srgbClr val="FF4D00"/>
          </a:solidFill>
          <a:ln/>
        </p:spPr>
      </p:sp>
      <p:sp>
        <p:nvSpPr>
          <p:cNvPr id="41" name="Shape 39"/>
          <p:cNvSpPr/>
          <p:nvPr/>
        </p:nvSpPr>
        <p:spPr>
          <a:xfrm>
            <a:off x="7205472" y="3200400"/>
            <a:ext cx="1508760" cy="640080"/>
          </a:xfrm>
          <a:prstGeom prst="rect">
            <a:avLst/>
          </a:prstGeom>
          <a:solidFill>
            <a:srgbClr val="132240"/>
          </a:solidFill>
          <a:ln w="19050">
            <a:solidFill>
              <a:srgbClr val="2D8E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05472" y="320040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Updated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F4D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3224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18872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6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274320" y="219456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Pre-Installation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274320" y="3520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you need ready before Day 1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74320" y="4800600"/>
            <a:ext cx="54864" cy="228600"/>
          </a:xfrm>
          <a:prstGeom prst="rect">
            <a:avLst/>
          </a:prstGeom>
          <a:solidFill>
            <a:srgbClr val="FF4D00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477316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SAFEG AI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286000" y="477316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 — PRE-INSTALLATION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772400" y="477316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22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4D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5080F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4800600"/>
            <a:ext cx="54864" cy="228600"/>
          </a:xfrm>
          <a:prstGeom prst="rect">
            <a:avLst/>
          </a:prstGeom>
          <a:solidFill>
            <a:srgbClr val="FF4D00"/>
          </a:solidFill>
          <a:ln/>
        </p:spPr>
      </p:sp>
      <p:sp>
        <p:nvSpPr>
          <p:cNvPr id="5" name="Text 3"/>
          <p:cNvSpPr/>
          <p:nvPr/>
        </p:nvSpPr>
        <p:spPr>
          <a:xfrm>
            <a:off x="384048" y="477316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SAFEG AI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286000" y="477316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PRE-INSTALLATION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0" y="477316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150608" y="274320"/>
            <a:ext cx="1737360" cy="237744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9" name="Text 7"/>
          <p:cNvSpPr/>
          <p:nvPr/>
        </p:nvSpPr>
        <p:spPr>
          <a:xfrm>
            <a:off x="7150608" y="27432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PRE-INSTALL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56032" y="256032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&amp; Infrastructure Requirements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256032" y="914400"/>
            <a:ext cx="4114800" cy="3566160"/>
          </a:xfrm>
          <a:prstGeom prst="rect">
            <a:avLst/>
          </a:prstGeom>
          <a:solidFill>
            <a:srgbClr val="1A2E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" y="914400"/>
            <a:ext cx="4114800" cy="50292"/>
          </a:xfrm>
          <a:prstGeom prst="rect">
            <a:avLst/>
          </a:prstGeom>
          <a:solidFill>
            <a:srgbClr val="2D8EFF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100584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D8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NETWORK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1480" y="1389888"/>
            <a:ext cx="137160" cy="137160"/>
          </a:xfrm>
          <a:prstGeom prst="ellipse">
            <a:avLst/>
          </a:prstGeom>
          <a:solidFill>
            <a:srgbClr val="2D8EFF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" y="133502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Internet: Min. 10 Mbps upload (25 Mbps recommended)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11480" y="1700784"/>
            <a:ext cx="137160" cy="137160"/>
          </a:xfrm>
          <a:prstGeom prst="ellipse">
            <a:avLst/>
          </a:prstGeom>
          <a:solidFill>
            <a:srgbClr val="2D8EFF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" y="1645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LAN: 100 Mbps switch (Gigabit preferred)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11480" y="2011680"/>
            <a:ext cx="137160" cy="137160"/>
          </a:xfrm>
          <a:prstGeom prst="ellipse">
            <a:avLst/>
          </a:prstGeom>
          <a:solidFill>
            <a:srgbClr val="2D8EFF"/>
          </a:solidFill>
          <a:ln/>
        </p:spPr>
      </p:sp>
      <p:sp>
        <p:nvSpPr>
          <p:cNvPr id="19" name="Text 17"/>
          <p:cNvSpPr/>
          <p:nvPr/>
        </p:nvSpPr>
        <p:spPr>
          <a:xfrm>
            <a:off x="621792" y="195681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Range: 192.168.x.x dedicated VLAN for cameras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11480" y="2322576"/>
            <a:ext cx="137160" cy="137160"/>
          </a:xfrm>
          <a:prstGeom prst="ellipse">
            <a:avLst/>
          </a:prstGeom>
          <a:solidFill>
            <a:srgbClr val="2D8EFF"/>
          </a:solidFill>
          <a:ln/>
        </p:spPr>
      </p:sp>
      <p:sp>
        <p:nvSpPr>
          <p:cNvPr id="21" name="Text 19"/>
          <p:cNvSpPr/>
          <p:nvPr/>
        </p:nvSpPr>
        <p:spPr>
          <a:xfrm>
            <a:off x="621792" y="226771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Ports open: RTSP 554, HTTP 80/443, WebSocket 4000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11480" y="2633472"/>
            <a:ext cx="137160" cy="137160"/>
          </a:xfrm>
          <a:prstGeom prst="ellipse">
            <a:avLst/>
          </a:prstGeom>
          <a:solidFill>
            <a:srgbClr val="2D8EFF"/>
          </a:solidFill>
          <a:ln/>
        </p:spPr>
      </p:sp>
      <p:sp>
        <p:nvSpPr>
          <p:cNvPr id="23" name="Text 21"/>
          <p:cNvSpPr/>
          <p:nvPr/>
        </p:nvSpPr>
        <p:spPr>
          <a:xfrm>
            <a:off x="621792" y="25786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IPs for each camera (DHCP reservation OK)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11480" y="2944368"/>
            <a:ext cx="137160" cy="137160"/>
          </a:xfrm>
          <a:prstGeom prst="ellipse">
            <a:avLst/>
          </a:prstGeom>
          <a:solidFill>
            <a:srgbClr val="2D8EFF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" y="288950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VPN or firewall whitelist for SafeG AI cloud: api.syyaimsafeg.ai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11480" y="3255264"/>
            <a:ext cx="137160" cy="137160"/>
          </a:xfrm>
          <a:prstGeom prst="ellipse">
            <a:avLst/>
          </a:prstGeom>
          <a:solidFill>
            <a:srgbClr val="2D8EFF"/>
          </a:solidFill>
          <a:ln/>
        </p:spPr>
      </p:sp>
      <p:sp>
        <p:nvSpPr>
          <p:cNvPr id="27" name="Text 25"/>
          <p:cNvSpPr/>
          <p:nvPr/>
        </p:nvSpPr>
        <p:spPr>
          <a:xfrm>
            <a:off x="621792" y="32004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 backup power on PoE switch (min. 4-hour runtime)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663440" y="914400"/>
            <a:ext cx="4206240" cy="3566160"/>
          </a:xfrm>
          <a:prstGeom prst="rect">
            <a:avLst/>
          </a:prstGeom>
          <a:solidFill>
            <a:srgbClr val="1A2E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63440" y="914400"/>
            <a:ext cx="4206240" cy="50292"/>
          </a:xfrm>
          <a:prstGeom prst="rect">
            <a:avLst/>
          </a:prstGeom>
          <a:solidFill>
            <a:srgbClr val="FF4D00"/>
          </a:solidFill>
          <a:ln/>
        </p:spPr>
      </p:sp>
      <p:sp>
        <p:nvSpPr>
          <p:cNvPr id="30" name="Text 28"/>
          <p:cNvSpPr/>
          <p:nvPr/>
        </p:nvSpPr>
        <p:spPr>
          <a:xfrm>
            <a:off x="4828032" y="100584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4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  HARDWARE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828032" y="1389888"/>
            <a:ext cx="137160" cy="137160"/>
          </a:xfrm>
          <a:prstGeom prst="ellipse">
            <a:avLst/>
          </a:prstGeom>
          <a:solidFill>
            <a:srgbClr val="FF4D00"/>
          </a:solidFill>
          <a:ln/>
        </p:spPr>
      </p:sp>
      <p:sp>
        <p:nvSpPr>
          <p:cNvPr id="32" name="Text 30"/>
          <p:cNvSpPr/>
          <p:nvPr/>
        </p:nvSpPr>
        <p:spPr>
          <a:xfrm>
            <a:off x="5029200" y="13350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Cameras: 2MP+ resolution, RTSP support, H.264/H.265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828032" y="1700784"/>
            <a:ext cx="137160" cy="137160"/>
          </a:xfrm>
          <a:prstGeom prst="ellipse">
            <a:avLst/>
          </a:prstGeom>
          <a:solidFill>
            <a:srgbClr val="FF4D00"/>
          </a:solidFill>
          <a:ln/>
        </p:spPr>
      </p:sp>
      <p:sp>
        <p:nvSpPr>
          <p:cNvPr id="34" name="Text 32"/>
          <p:cNvSpPr/>
          <p:nvPr/>
        </p:nvSpPr>
        <p:spPr>
          <a:xfrm>
            <a:off x="5029200" y="1645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PoE Switch: 30W per port for PTZ, 15W for fixed cams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828032" y="2011680"/>
            <a:ext cx="137160" cy="137160"/>
          </a:xfrm>
          <a:prstGeom prst="ellipse">
            <a:avLst/>
          </a:prstGeom>
          <a:solidFill>
            <a:srgbClr val="FF4D00"/>
          </a:solidFill>
          <a:ln/>
        </p:spPr>
      </p:sp>
      <p:sp>
        <p:nvSpPr>
          <p:cNvPr id="36" name="Text 34"/>
          <p:cNvSpPr/>
          <p:nvPr/>
        </p:nvSpPr>
        <p:spPr>
          <a:xfrm>
            <a:off x="5029200" y="19568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Server (optional): Intel i5/i7 NUC, 16GB RAM, SSD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828032" y="2322576"/>
            <a:ext cx="137160" cy="137160"/>
          </a:xfrm>
          <a:prstGeom prst="ellipse">
            <a:avLst/>
          </a:prstGeom>
          <a:solidFill>
            <a:srgbClr val="FF4D00"/>
          </a:solidFill>
          <a:ln/>
        </p:spPr>
      </p:sp>
      <p:sp>
        <p:nvSpPr>
          <p:cNvPr id="38" name="Text 36"/>
          <p:cNvSpPr/>
          <p:nvPr/>
        </p:nvSpPr>
        <p:spPr>
          <a:xfrm>
            <a:off x="5029200" y="22677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NVR (optional): 4-channel minimum for local recording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828032" y="2633472"/>
            <a:ext cx="137160" cy="137160"/>
          </a:xfrm>
          <a:prstGeom prst="ellipse">
            <a:avLst/>
          </a:prstGeom>
          <a:solidFill>
            <a:srgbClr val="FF4D00"/>
          </a:solidFill>
          <a:ln/>
        </p:spPr>
      </p:sp>
      <p:sp>
        <p:nvSpPr>
          <p:cNvPr id="40" name="Text 38"/>
          <p:cNvSpPr/>
          <p:nvPr/>
        </p:nvSpPr>
        <p:spPr>
          <a:xfrm>
            <a:off x="5029200" y="2578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Cat6 cable: max 100m per camera run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828032" y="2944368"/>
            <a:ext cx="137160" cy="137160"/>
          </a:xfrm>
          <a:prstGeom prst="ellipse">
            <a:avLst/>
          </a:prstGeom>
          <a:solidFill>
            <a:srgbClr val="FF4D00"/>
          </a:solidFill>
          <a:ln/>
        </p:spPr>
      </p:sp>
      <p:sp>
        <p:nvSpPr>
          <p:cNvPr id="42" name="Text 40"/>
          <p:cNvSpPr/>
          <p:nvPr/>
        </p:nvSpPr>
        <p:spPr>
          <a:xfrm>
            <a:off x="5029200" y="288950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Conduit: PVC/metal for outdoor cable routing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828032" y="3255264"/>
            <a:ext cx="137160" cy="137160"/>
          </a:xfrm>
          <a:prstGeom prst="ellipse">
            <a:avLst/>
          </a:prstGeom>
          <a:solidFill>
            <a:srgbClr val="FF4D00"/>
          </a:solidFill>
          <a:ln/>
        </p:spPr>
      </p:sp>
      <p:sp>
        <p:nvSpPr>
          <p:cNvPr id="44" name="Text 42"/>
          <p:cNvSpPr/>
          <p:nvPr/>
        </p:nvSpPr>
        <p:spPr>
          <a:xfrm>
            <a:off x="5029200" y="3200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Junction boxes: IP66 rated for outdoor installations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4D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5080F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4800600"/>
            <a:ext cx="54864" cy="228600"/>
          </a:xfrm>
          <a:prstGeom prst="rect">
            <a:avLst/>
          </a:prstGeom>
          <a:solidFill>
            <a:srgbClr val="FF4D00"/>
          </a:solidFill>
          <a:ln/>
        </p:spPr>
      </p:sp>
      <p:sp>
        <p:nvSpPr>
          <p:cNvPr id="5" name="Text 3"/>
          <p:cNvSpPr/>
          <p:nvPr/>
        </p:nvSpPr>
        <p:spPr>
          <a:xfrm>
            <a:off x="384048" y="477316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SAFEG AI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286000" y="477316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PRE-INSTALLATION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0" y="477316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150608" y="274320"/>
            <a:ext cx="1737360" cy="237744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9" name="Text 7"/>
          <p:cNvSpPr/>
          <p:nvPr/>
        </p:nvSpPr>
        <p:spPr>
          <a:xfrm>
            <a:off x="7150608" y="27432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PRE-INSTALL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56032" y="256032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Survey Checklist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56032" y="74980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this survey at least 7 days before installation date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6032" y="1078992"/>
            <a:ext cx="4206240" cy="1463040"/>
          </a:xfrm>
          <a:prstGeom prst="rect">
            <a:avLst/>
          </a:prstGeom>
          <a:solidFill>
            <a:srgbClr val="1A2E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6032" y="1078992"/>
            <a:ext cx="4206240" cy="50292"/>
          </a:xfrm>
          <a:prstGeom prst="rect">
            <a:avLst/>
          </a:prstGeom>
          <a:solidFill>
            <a:srgbClr val="FF4D00"/>
          </a:solidFill>
          <a:ln/>
        </p:spPr>
      </p:sp>
      <p:sp>
        <p:nvSpPr>
          <p:cNvPr id="14" name="Text 12"/>
          <p:cNvSpPr/>
          <p:nvPr/>
        </p:nvSpPr>
        <p:spPr>
          <a:xfrm>
            <a:off x="393192" y="11704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4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Identification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93192" y="1481328"/>
            <a:ext cx="128016" cy="128016"/>
          </a:xfrm>
          <a:prstGeom prst="rect">
            <a:avLst/>
          </a:prstGeom>
          <a:solidFill>
            <a:srgbClr val="1E3A5F"/>
          </a:solidFill>
          <a:ln w="12700">
            <a:solidFill>
              <a:srgbClr val="FF4D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6072" y="143560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all hazardous zones on factory floor plan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93192" y="1719072"/>
            <a:ext cx="128016" cy="128016"/>
          </a:xfrm>
          <a:prstGeom prst="rect">
            <a:avLst/>
          </a:prstGeom>
          <a:solidFill>
            <a:srgbClr val="1E3A5F"/>
          </a:solidFill>
          <a:ln w="12700">
            <a:solidFill>
              <a:srgbClr val="FF4D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6072" y="167335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workers per shift per zone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93192" y="1956816"/>
            <a:ext cx="128016" cy="128016"/>
          </a:xfrm>
          <a:prstGeom prst="rect">
            <a:avLst/>
          </a:prstGeom>
          <a:solidFill>
            <a:srgbClr val="1E3A5F"/>
          </a:solidFill>
          <a:ln w="12700">
            <a:solidFill>
              <a:srgbClr val="FF4D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6072" y="191109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PPE requirements for each zone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93192" y="2194560"/>
            <a:ext cx="128016" cy="128016"/>
          </a:xfrm>
          <a:prstGeom prst="rect">
            <a:avLst/>
          </a:prstGeom>
          <a:solidFill>
            <a:srgbClr val="1E3A5F"/>
          </a:solidFill>
          <a:ln w="12700">
            <a:solidFill>
              <a:srgbClr val="FF4D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6072" y="214884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danger zones and restricted areas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56032" y="2724912"/>
            <a:ext cx="4206240" cy="1463040"/>
          </a:xfrm>
          <a:prstGeom prst="rect">
            <a:avLst/>
          </a:prstGeom>
          <a:solidFill>
            <a:srgbClr val="1A2E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56032" y="2724912"/>
            <a:ext cx="4206240" cy="50292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25" name="Text 23"/>
          <p:cNvSpPr/>
          <p:nvPr/>
        </p:nvSpPr>
        <p:spPr>
          <a:xfrm>
            <a:off x="393192" y="281635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Coverage Planning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93192" y="3127248"/>
            <a:ext cx="128016" cy="128016"/>
          </a:xfrm>
          <a:prstGeom prst="rect">
            <a:avLst/>
          </a:prstGeom>
          <a:solidFill>
            <a:srgbClr val="1E3A5F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6072" y="308152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mounting positions (walls, pillars, gantries)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93192" y="3364992"/>
            <a:ext cx="128016" cy="128016"/>
          </a:xfrm>
          <a:prstGeom prst="rect">
            <a:avLst/>
          </a:prstGeom>
          <a:solidFill>
            <a:srgbClr val="1E3A5F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6072" y="331927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ceiling/mount height (3m–8m ideal)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93192" y="3602736"/>
            <a:ext cx="128016" cy="128016"/>
          </a:xfrm>
          <a:prstGeom prst="rect">
            <a:avLst/>
          </a:prstGeom>
          <a:solidFill>
            <a:srgbClr val="1E3A5F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6072" y="355701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field of view covers work area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93192" y="3840480"/>
            <a:ext cx="128016" cy="128016"/>
          </a:xfrm>
          <a:prstGeom prst="rect">
            <a:avLst/>
          </a:prstGeom>
          <a:solidFill>
            <a:srgbClr val="1E3A5F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6072" y="379476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lighting conditions (supplementary lighting needed?)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663440" y="1078992"/>
            <a:ext cx="4206240" cy="1463040"/>
          </a:xfrm>
          <a:prstGeom prst="rect">
            <a:avLst/>
          </a:prstGeom>
          <a:solidFill>
            <a:srgbClr val="1A2E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663440" y="1078992"/>
            <a:ext cx="4206240" cy="50292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36" name="Text 34"/>
          <p:cNvSpPr/>
          <p:nvPr/>
        </p:nvSpPr>
        <p:spPr>
          <a:xfrm>
            <a:off x="4800600" y="11704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&amp; Cabling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800600" y="1481328"/>
            <a:ext cx="128016" cy="128016"/>
          </a:xfrm>
          <a:prstGeom prst="rect">
            <a:avLst/>
          </a:prstGeom>
          <a:solidFill>
            <a:srgbClr val="1E3A5F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83480" y="143560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 nearest power source per camera position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800600" y="1719072"/>
            <a:ext cx="128016" cy="128016"/>
          </a:xfrm>
          <a:prstGeom prst="rect">
            <a:avLst/>
          </a:prstGeom>
          <a:solidFill>
            <a:srgbClr val="1E3A5F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83480" y="167335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cable runs (note obstructions)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800600" y="1956816"/>
            <a:ext cx="128016" cy="128016"/>
          </a:xfrm>
          <a:prstGeom prst="rect">
            <a:avLst/>
          </a:prstGeom>
          <a:solidFill>
            <a:srgbClr val="1E3A5F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83480" y="191109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conduit routing path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800600" y="2194560"/>
            <a:ext cx="128016" cy="128016"/>
          </a:xfrm>
          <a:prstGeom prst="rect">
            <a:avLst/>
          </a:prstGeom>
          <a:solidFill>
            <a:srgbClr val="1E3A5F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83480" y="214884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PoE switch location and capacity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663440" y="2724912"/>
            <a:ext cx="4206240" cy="1463040"/>
          </a:xfrm>
          <a:prstGeom prst="rect">
            <a:avLst/>
          </a:prstGeom>
          <a:solidFill>
            <a:srgbClr val="1A2E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663440" y="2724912"/>
            <a:ext cx="4206240" cy="50292"/>
          </a:xfrm>
          <a:prstGeom prst="rect">
            <a:avLst/>
          </a:prstGeom>
          <a:solidFill>
            <a:srgbClr val="2D8EFF"/>
          </a:solidFill>
          <a:ln/>
        </p:spPr>
      </p:sp>
      <p:sp>
        <p:nvSpPr>
          <p:cNvPr id="47" name="Text 45"/>
          <p:cNvSpPr/>
          <p:nvPr/>
        </p:nvSpPr>
        <p:spPr>
          <a:xfrm>
            <a:off x="4800600" y="281635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8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800600" y="3127248"/>
            <a:ext cx="128016" cy="128016"/>
          </a:xfrm>
          <a:prstGeom prst="rect">
            <a:avLst/>
          </a:prstGeom>
          <a:solidFill>
            <a:srgbClr val="1E3A5F"/>
          </a:solidFill>
          <a:ln w="12700">
            <a:solidFill>
              <a:srgbClr val="2D8E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983480" y="308152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internet speed at server room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800600" y="3364992"/>
            <a:ext cx="128016" cy="128016"/>
          </a:xfrm>
          <a:prstGeom prst="rect">
            <a:avLst/>
          </a:prstGeom>
          <a:solidFill>
            <a:srgbClr val="1E3A5F"/>
          </a:solidFill>
          <a:ln w="12700">
            <a:solidFill>
              <a:srgbClr val="2D8E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983480" y="331927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network switch port availability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800600" y="3602736"/>
            <a:ext cx="128016" cy="128016"/>
          </a:xfrm>
          <a:prstGeom prst="rect">
            <a:avLst/>
          </a:prstGeom>
          <a:solidFill>
            <a:srgbClr val="1E3A5F"/>
          </a:solidFill>
          <a:ln w="12700">
            <a:solidFill>
              <a:srgbClr val="2D8E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983480" y="355701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IT approval for VLAN/firewall changes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800600" y="3840480"/>
            <a:ext cx="128016" cy="128016"/>
          </a:xfrm>
          <a:prstGeom prst="rect">
            <a:avLst/>
          </a:prstGeom>
          <a:solidFill>
            <a:srgbClr val="1E3A5F"/>
          </a:solidFill>
          <a:ln w="12700">
            <a:solidFill>
              <a:srgbClr val="2D8EF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983480" y="379476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PC/server for SafeG AI edge node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256032" y="4279392"/>
            <a:ext cx="8595360" cy="329184"/>
          </a:xfrm>
          <a:prstGeom prst="rect">
            <a:avLst/>
          </a:prstGeom>
          <a:solidFill>
            <a:srgbClr val="132240"/>
          </a:solidFill>
          <a:ln w="12700">
            <a:solidFill>
              <a:srgbClr val="FF4D0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56032" y="4279392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  Download the full Site Survey form: support.syyaimsafeg.ai/survey  ·  Or request via WhatsApp: +91 98765 43210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F4D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3224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18872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600" b="1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274320" y="219456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Setup &amp;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Wizard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274320" y="3520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your plant, zones and user accounts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74320" y="4800600"/>
            <a:ext cx="54864" cy="228600"/>
          </a:xfrm>
          <a:prstGeom prst="rect">
            <a:avLst/>
          </a:prstGeom>
          <a:solidFill>
            <a:srgbClr val="FF4D00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477316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SAFEG AI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286000" y="477316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 — ACCOUNT SETUP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772400" y="477316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22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4D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5080F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4800600"/>
            <a:ext cx="54864" cy="228600"/>
          </a:xfrm>
          <a:prstGeom prst="rect">
            <a:avLst/>
          </a:prstGeom>
          <a:solidFill>
            <a:srgbClr val="FF4D00"/>
          </a:solidFill>
          <a:ln/>
        </p:spPr>
      </p:sp>
      <p:sp>
        <p:nvSpPr>
          <p:cNvPr id="5" name="Text 3"/>
          <p:cNvSpPr/>
          <p:nvPr/>
        </p:nvSpPr>
        <p:spPr>
          <a:xfrm>
            <a:off x="384048" y="477316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SAFEG AI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286000" y="477316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ACCOUNT SETUP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0" y="477316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150608" y="274320"/>
            <a:ext cx="1737360" cy="237744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9" name="Text 7"/>
          <p:cNvSpPr/>
          <p:nvPr/>
        </p:nvSpPr>
        <p:spPr>
          <a:xfrm>
            <a:off x="7150608" y="27432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SETUP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56032" y="256032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5-Step Onboarding Wizard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56032" y="74980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app.syyaimsafeg.ai → Sign Up → Complete the wizard below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6032" y="1078992"/>
            <a:ext cx="1600200" cy="3383280"/>
          </a:xfrm>
          <a:prstGeom prst="rect">
            <a:avLst/>
          </a:prstGeom>
          <a:solidFill>
            <a:srgbClr val="1A2E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6032" y="1078992"/>
            <a:ext cx="1600200" cy="50292"/>
          </a:xfrm>
          <a:prstGeom prst="rect">
            <a:avLst/>
          </a:prstGeom>
          <a:solidFill>
            <a:srgbClr val="FF4D00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170432"/>
            <a:ext cx="475488" cy="475488"/>
          </a:xfrm>
          <a:prstGeom prst="ellipse">
            <a:avLst/>
          </a:prstGeom>
          <a:solidFill>
            <a:srgbClr val="FF4D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11704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47472" y="171907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Details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93192" y="2176272"/>
            <a:ext cx="91440" cy="91440"/>
          </a:xfrm>
          <a:prstGeom prst="ellipse">
            <a:avLst/>
          </a:prstGeom>
          <a:solidFill>
            <a:srgbClr val="FF4D00"/>
          </a:solidFill>
          <a:ln/>
        </p:spPr>
      </p:sp>
      <p:sp>
        <p:nvSpPr>
          <p:cNvPr id="18" name="Text 16"/>
          <p:cNvSpPr/>
          <p:nvPr/>
        </p:nvSpPr>
        <p:spPr>
          <a:xfrm>
            <a:off x="530352" y="213055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name &amp; CIN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93192" y="2468880"/>
            <a:ext cx="91440" cy="91440"/>
          </a:xfrm>
          <a:prstGeom prst="ellipse">
            <a:avLst/>
          </a:prstGeom>
          <a:solidFill>
            <a:srgbClr val="FF4D00"/>
          </a:solidFill>
          <a:ln/>
        </p:spPr>
      </p:sp>
      <p:sp>
        <p:nvSpPr>
          <p:cNvPr id="20" name="Text 18"/>
          <p:cNvSpPr/>
          <p:nvPr/>
        </p:nvSpPr>
        <p:spPr>
          <a:xfrm>
            <a:off x="530352" y="242316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type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93192" y="2761488"/>
            <a:ext cx="91440" cy="91440"/>
          </a:xfrm>
          <a:prstGeom prst="ellipse">
            <a:avLst/>
          </a:prstGeom>
          <a:solidFill>
            <a:srgbClr val="FF4D00"/>
          </a:solidFill>
          <a:ln/>
        </p:spPr>
      </p:sp>
      <p:sp>
        <p:nvSpPr>
          <p:cNvPr id="22" name="Text 20"/>
          <p:cNvSpPr/>
          <p:nvPr/>
        </p:nvSpPr>
        <p:spPr>
          <a:xfrm>
            <a:off x="530352" y="271576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count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93192" y="3054096"/>
            <a:ext cx="91440" cy="91440"/>
          </a:xfrm>
          <a:prstGeom prst="ellipse">
            <a:avLst/>
          </a:prstGeom>
          <a:solidFill>
            <a:srgbClr val="FF4D00"/>
          </a:solidFill>
          <a:ln/>
        </p:spPr>
      </p:sp>
      <p:sp>
        <p:nvSpPr>
          <p:cNvPr id="24" name="Text 22"/>
          <p:cNvSpPr/>
          <p:nvPr/>
        </p:nvSpPr>
        <p:spPr>
          <a:xfrm>
            <a:off x="530352" y="300837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person &amp; GSTIN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1874520" y="2276856"/>
            <a:ext cx="329184" cy="64008"/>
          </a:xfrm>
          <a:prstGeom prst="rect">
            <a:avLst/>
          </a:prstGeom>
          <a:solidFill>
            <a:srgbClr val="FF4D00"/>
          </a:solidFill>
          <a:ln/>
        </p:spPr>
      </p:sp>
      <p:sp>
        <p:nvSpPr>
          <p:cNvPr id="26" name="Shape 24"/>
          <p:cNvSpPr/>
          <p:nvPr/>
        </p:nvSpPr>
        <p:spPr>
          <a:xfrm>
            <a:off x="2130552" y="2194560"/>
            <a:ext cx="64008" cy="219456"/>
          </a:xfrm>
          <a:prstGeom prst="rect">
            <a:avLst/>
          </a:prstGeom>
          <a:solidFill>
            <a:srgbClr val="FF4D00"/>
          </a:solidFill>
          <a:ln/>
        </p:spPr>
      </p:sp>
      <p:sp>
        <p:nvSpPr>
          <p:cNvPr id="27" name="Shape 25"/>
          <p:cNvSpPr/>
          <p:nvPr/>
        </p:nvSpPr>
        <p:spPr>
          <a:xfrm>
            <a:off x="1993392" y="1078992"/>
            <a:ext cx="1600200" cy="3383280"/>
          </a:xfrm>
          <a:prstGeom prst="rect">
            <a:avLst/>
          </a:prstGeom>
          <a:solidFill>
            <a:srgbClr val="1A2E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1993392" y="1078992"/>
            <a:ext cx="1600200" cy="50292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29" name="Shape 27"/>
          <p:cNvSpPr/>
          <p:nvPr/>
        </p:nvSpPr>
        <p:spPr>
          <a:xfrm>
            <a:off x="2560320" y="1170432"/>
            <a:ext cx="475488" cy="475488"/>
          </a:xfrm>
          <a:prstGeom prst="ellipse">
            <a:avLst/>
          </a:prstGeom>
          <a:solidFill>
            <a:srgbClr val="FF8C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60320" y="11704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2084832" y="171907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Information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130552" y="2176272"/>
            <a:ext cx="91440" cy="91440"/>
          </a:xfrm>
          <a:prstGeom prst="ellipse">
            <a:avLst/>
          </a:prstGeom>
          <a:solidFill>
            <a:srgbClr val="FF8C00"/>
          </a:solidFill>
          <a:ln/>
        </p:spPr>
      </p:sp>
      <p:sp>
        <p:nvSpPr>
          <p:cNvPr id="33" name="Text 31"/>
          <p:cNvSpPr/>
          <p:nvPr/>
        </p:nvSpPr>
        <p:spPr>
          <a:xfrm>
            <a:off x="2267712" y="213055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name &amp; address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130552" y="2468880"/>
            <a:ext cx="91440" cy="91440"/>
          </a:xfrm>
          <a:prstGeom prst="ellipse">
            <a:avLst/>
          </a:prstGeom>
          <a:solidFill>
            <a:srgbClr val="FF8C00"/>
          </a:solidFill>
          <a:ln/>
        </p:spPr>
      </p:sp>
      <p:sp>
        <p:nvSpPr>
          <p:cNvPr id="35" name="Text 33"/>
          <p:cNvSpPr/>
          <p:nvPr/>
        </p:nvSpPr>
        <p:spPr>
          <a:xfrm>
            <a:off x="2267712" y="242316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 Licence No.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2130552" y="2761488"/>
            <a:ext cx="91440" cy="91440"/>
          </a:xfrm>
          <a:prstGeom prst="ellipse">
            <a:avLst/>
          </a:prstGeom>
          <a:solidFill>
            <a:srgbClr val="FF8C00"/>
          </a:solidFill>
          <a:ln/>
        </p:spPr>
      </p:sp>
      <p:sp>
        <p:nvSpPr>
          <p:cNvPr id="37" name="Text 35"/>
          <p:cNvSpPr/>
          <p:nvPr/>
        </p:nvSpPr>
        <p:spPr>
          <a:xfrm>
            <a:off x="2267712" y="271576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HSE Officer details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130552" y="3054096"/>
            <a:ext cx="91440" cy="91440"/>
          </a:xfrm>
          <a:prstGeom prst="ellipse">
            <a:avLst/>
          </a:prstGeom>
          <a:solidFill>
            <a:srgbClr val="FF8C00"/>
          </a:solidFill>
          <a:ln/>
        </p:spPr>
      </p:sp>
      <p:sp>
        <p:nvSpPr>
          <p:cNvPr id="39" name="Text 37"/>
          <p:cNvSpPr/>
          <p:nvPr/>
        </p:nvSpPr>
        <p:spPr>
          <a:xfrm>
            <a:off x="2267712" y="300837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coordinates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3611880" y="2276856"/>
            <a:ext cx="329184" cy="64008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41" name="Shape 39"/>
          <p:cNvSpPr/>
          <p:nvPr/>
        </p:nvSpPr>
        <p:spPr>
          <a:xfrm>
            <a:off x="3867912" y="2194560"/>
            <a:ext cx="64008" cy="219456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42" name="Shape 40"/>
          <p:cNvSpPr/>
          <p:nvPr/>
        </p:nvSpPr>
        <p:spPr>
          <a:xfrm>
            <a:off x="3730752" y="1078992"/>
            <a:ext cx="1600200" cy="3383280"/>
          </a:xfrm>
          <a:prstGeom prst="rect">
            <a:avLst/>
          </a:prstGeom>
          <a:solidFill>
            <a:srgbClr val="1A2E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3730752" y="1078992"/>
            <a:ext cx="1600200" cy="50292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44" name="Shape 42"/>
          <p:cNvSpPr/>
          <p:nvPr/>
        </p:nvSpPr>
        <p:spPr>
          <a:xfrm>
            <a:off x="4297680" y="1170432"/>
            <a:ext cx="475488" cy="475488"/>
          </a:xfrm>
          <a:prstGeom prst="ellipse">
            <a:avLst/>
          </a:prstGeom>
          <a:solidFill>
            <a:srgbClr val="FFB02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297680" y="11704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3822192" y="171907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/ Area Setup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3867912" y="2176272"/>
            <a:ext cx="91440" cy="91440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48" name="Text 46"/>
          <p:cNvSpPr/>
          <p:nvPr/>
        </p:nvSpPr>
        <p:spPr>
          <a:xfrm>
            <a:off x="4005072" y="213055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each zone (Welding, Assembly…)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3867912" y="2468880"/>
            <a:ext cx="91440" cy="91440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50" name="Text 48"/>
          <p:cNvSpPr/>
          <p:nvPr/>
        </p:nvSpPr>
        <p:spPr>
          <a:xfrm>
            <a:off x="4005072" y="242316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risk level per zone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3867912" y="2761488"/>
            <a:ext cx="91440" cy="91440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52" name="Text 50"/>
          <p:cNvSpPr/>
          <p:nvPr/>
        </p:nvSpPr>
        <p:spPr>
          <a:xfrm>
            <a:off x="4005072" y="271576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PPE requirements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3867912" y="3054096"/>
            <a:ext cx="91440" cy="91440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54" name="Text 52"/>
          <p:cNvSpPr/>
          <p:nvPr/>
        </p:nvSpPr>
        <p:spPr>
          <a:xfrm>
            <a:off x="4005072" y="300837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danger zone flag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5349240" y="2276856"/>
            <a:ext cx="329184" cy="64008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56" name="Shape 54"/>
          <p:cNvSpPr/>
          <p:nvPr/>
        </p:nvSpPr>
        <p:spPr>
          <a:xfrm>
            <a:off x="5605272" y="2194560"/>
            <a:ext cx="64008" cy="219456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57" name="Shape 55"/>
          <p:cNvSpPr/>
          <p:nvPr/>
        </p:nvSpPr>
        <p:spPr>
          <a:xfrm>
            <a:off x="5468112" y="1078992"/>
            <a:ext cx="1600200" cy="3383280"/>
          </a:xfrm>
          <a:prstGeom prst="rect">
            <a:avLst/>
          </a:prstGeom>
          <a:solidFill>
            <a:srgbClr val="1A2E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5468112" y="1078992"/>
            <a:ext cx="1600200" cy="50292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59" name="Shape 57"/>
          <p:cNvSpPr/>
          <p:nvPr/>
        </p:nvSpPr>
        <p:spPr>
          <a:xfrm>
            <a:off x="6035040" y="1170432"/>
            <a:ext cx="475488" cy="475488"/>
          </a:xfrm>
          <a:prstGeom prst="ellipse">
            <a:avLst/>
          </a:prstGeom>
          <a:solidFill>
            <a:srgbClr val="00C89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035040" y="11704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61" name="Text 59"/>
          <p:cNvSpPr/>
          <p:nvPr/>
        </p:nvSpPr>
        <p:spPr>
          <a:xfrm>
            <a:off x="5559552" y="171907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Registration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5605272" y="2176272"/>
            <a:ext cx="91440" cy="91440"/>
          </a:xfrm>
          <a:prstGeom prst="ellipse">
            <a:avLst/>
          </a:prstGeom>
          <a:solidFill>
            <a:srgbClr val="00C896"/>
          </a:solidFill>
          <a:ln/>
        </p:spPr>
      </p:sp>
      <p:sp>
        <p:nvSpPr>
          <p:cNvPr id="63" name="Text 61"/>
          <p:cNvSpPr/>
          <p:nvPr/>
        </p:nvSpPr>
        <p:spPr>
          <a:xfrm>
            <a:off x="5742432" y="213055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ID &amp; location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5605272" y="2468880"/>
            <a:ext cx="91440" cy="91440"/>
          </a:xfrm>
          <a:prstGeom prst="ellipse">
            <a:avLst/>
          </a:prstGeom>
          <a:solidFill>
            <a:srgbClr val="00C896"/>
          </a:solidFill>
          <a:ln/>
        </p:spPr>
      </p:sp>
      <p:sp>
        <p:nvSpPr>
          <p:cNvPr id="65" name="Text 63"/>
          <p:cNvSpPr/>
          <p:nvPr/>
        </p:nvSpPr>
        <p:spPr>
          <a:xfrm>
            <a:off x="5742432" y="242316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RTSP URL or IP address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5605272" y="2761488"/>
            <a:ext cx="91440" cy="91440"/>
          </a:xfrm>
          <a:prstGeom prst="ellipse">
            <a:avLst/>
          </a:prstGeom>
          <a:solidFill>
            <a:srgbClr val="00C896"/>
          </a:solidFill>
          <a:ln/>
        </p:spPr>
      </p:sp>
      <p:sp>
        <p:nvSpPr>
          <p:cNvPr id="67" name="Text 65"/>
          <p:cNvSpPr/>
          <p:nvPr/>
        </p:nvSpPr>
        <p:spPr>
          <a:xfrm>
            <a:off x="5742432" y="271576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 height &amp; angle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5605272" y="3054096"/>
            <a:ext cx="91440" cy="91440"/>
          </a:xfrm>
          <a:prstGeom prst="ellipse">
            <a:avLst/>
          </a:prstGeom>
          <a:solidFill>
            <a:srgbClr val="00C896"/>
          </a:solidFill>
          <a:ln/>
        </p:spPr>
      </p:sp>
      <p:sp>
        <p:nvSpPr>
          <p:cNvPr id="69" name="Text 67"/>
          <p:cNvSpPr/>
          <p:nvPr/>
        </p:nvSpPr>
        <p:spPr>
          <a:xfrm>
            <a:off x="5742432" y="300837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detection rules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7086600" y="2276856"/>
            <a:ext cx="329184" cy="64008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71" name="Shape 69"/>
          <p:cNvSpPr/>
          <p:nvPr/>
        </p:nvSpPr>
        <p:spPr>
          <a:xfrm>
            <a:off x="7342632" y="2194560"/>
            <a:ext cx="64008" cy="219456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72" name="Shape 70"/>
          <p:cNvSpPr/>
          <p:nvPr/>
        </p:nvSpPr>
        <p:spPr>
          <a:xfrm>
            <a:off x="7205472" y="1078992"/>
            <a:ext cx="1600200" cy="3383280"/>
          </a:xfrm>
          <a:prstGeom prst="rect">
            <a:avLst/>
          </a:prstGeom>
          <a:solidFill>
            <a:srgbClr val="1A2E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73" name="Shape 71"/>
          <p:cNvSpPr/>
          <p:nvPr/>
        </p:nvSpPr>
        <p:spPr>
          <a:xfrm>
            <a:off x="7205472" y="1078992"/>
            <a:ext cx="1600200" cy="50292"/>
          </a:xfrm>
          <a:prstGeom prst="rect">
            <a:avLst/>
          </a:prstGeom>
          <a:solidFill>
            <a:srgbClr val="2D8EFF"/>
          </a:solidFill>
          <a:ln/>
        </p:spPr>
      </p:sp>
      <p:sp>
        <p:nvSpPr>
          <p:cNvPr id="74" name="Shape 72"/>
          <p:cNvSpPr/>
          <p:nvPr/>
        </p:nvSpPr>
        <p:spPr>
          <a:xfrm>
            <a:off x="7772400" y="1170432"/>
            <a:ext cx="475488" cy="475488"/>
          </a:xfrm>
          <a:prstGeom prst="ellipse">
            <a:avLst/>
          </a:prstGeom>
          <a:solidFill>
            <a:srgbClr val="2D8EF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772400" y="11704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76" name="Text 74"/>
          <p:cNvSpPr/>
          <p:nvPr/>
        </p:nvSpPr>
        <p:spPr>
          <a:xfrm>
            <a:off x="7296912" y="171907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 SafeG AI</a:t>
            </a:r>
            <a:endParaRPr lang="en-US" sz="1050" dirty="0"/>
          </a:p>
        </p:txBody>
      </p:sp>
      <p:sp>
        <p:nvSpPr>
          <p:cNvPr id="77" name="Shape 75"/>
          <p:cNvSpPr/>
          <p:nvPr/>
        </p:nvSpPr>
        <p:spPr>
          <a:xfrm>
            <a:off x="7342632" y="2176272"/>
            <a:ext cx="91440" cy="91440"/>
          </a:xfrm>
          <a:prstGeom prst="ellipse">
            <a:avLst/>
          </a:prstGeom>
          <a:solidFill>
            <a:srgbClr val="2D8EFF"/>
          </a:solidFill>
          <a:ln/>
        </p:spPr>
      </p:sp>
      <p:sp>
        <p:nvSpPr>
          <p:cNvPr id="78" name="Text 76"/>
          <p:cNvSpPr/>
          <p:nvPr/>
        </p:nvSpPr>
        <p:spPr>
          <a:xfrm>
            <a:off x="7479792" y="213055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all settings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7342632" y="2468880"/>
            <a:ext cx="91440" cy="91440"/>
          </a:xfrm>
          <a:prstGeom prst="ellipse">
            <a:avLst/>
          </a:prstGeom>
          <a:solidFill>
            <a:srgbClr val="2D8EFF"/>
          </a:solidFill>
          <a:ln/>
        </p:spPr>
      </p:sp>
      <p:sp>
        <p:nvSpPr>
          <p:cNvPr id="80" name="Text 78"/>
          <p:cNvSpPr/>
          <p:nvPr/>
        </p:nvSpPr>
        <p:spPr>
          <a:xfrm>
            <a:off x="7479792" y="242316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activation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7342632" y="2761488"/>
            <a:ext cx="91440" cy="91440"/>
          </a:xfrm>
          <a:prstGeom prst="ellipse">
            <a:avLst/>
          </a:prstGeom>
          <a:solidFill>
            <a:srgbClr val="2D8EFF"/>
          </a:solidFill>
          <a:ln/>
        </p:spPr>
      </p:sp>
      <p:sp>
        <p:nvSpPr>
          <p:cNvPr id="82" name="Text 80"/>
          <p:cNvSpPr/>
          <p:nvPr/>
        </p:nvSpPr>
        <p:spPr>
          <a:xfrm>
            <a:off x="7479792" y="271576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Cameras go live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7342632" y="3054096"/>
            <a:ext cx="91440" cy="91440"/>
          </a:xfrm>
          <a:prstGeom prst="ellipse">
            <a:avLst/>
          </a:prstGeom>
          <a:solidFill>
            <a:srgbClr val="2D8EFF"/>
          </a:solidFill>
          <a:ln/>
        </p:spPr>
      </p:sp>
      <p:sp>
        <p:nvSpPr>
          <p:cNvPr id="84" name="Text 82"/>
          <p:cNvSpPr/>
          <p:nvPr/>
        </p:nvSpPr>
        <p:spPr>
          <a:xfrm>
            <a:off x="7479792" y="300837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email sent</a:t>
            </a:r>
            <a:endParaRPr lang="en-US" sz="800" dirty="0"/>
          </a:p>
        </p:txBody>
      </p:sp>
      <p:sp>
        <p:nvSpPr>
          <p:cNvPr id="85" name="Shape 83"/>
          <p:cNvSpPr/>
          <p:nvPr/>
        </p:nvSpPr>
        <p:spPr>
          <a:xfrm>
            <a:off x="256032" y="4572000"/>
            <a:ext cx="8595360" cy="7315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86" name="Text 84"/>
          <p:cNvSpPr/>
          <p:nvPr/>
        </p:nvSpPr>
        <p:spPr>
          <a:xfrm>
            <a:off x="256032" y="4572000"/>
            <a:ext cx="8595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Total wizard time: approximately 15–20 minutes with all information ready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C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4D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5080F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4800600"/>
            <a:ext cx="54864" cy="228600"/>
          </a:xfrm>
          <a:prstGeom prst="rect">
            <a:avLst/>
          </a:prstGeom>
          <a:solidFill>
            <a:srgbClr val="FF4D00"/>
          </a:solidFill>
          <a:ln/>
        </p:spPr>
      </p:sp>
      <p:sp>
        <p:nvSpPr>
          <p:cNvPr id="5" name="Text 3"/>
          <p:cNvSpPr/>
          <p:nvPr/>
        </p:nvSpPr>
        <p:spPr>
          <a:xfrm>
            <a:off x="384048" y="477316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SAFEG AI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286000" y="477316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ACCOUNT SETUP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0" y="477316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150608" y="274320"/>
            <a:ext cx="1737360" cy="237744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9" name="Text 7"/>
          <p:cNvSpPr/>
          <p:nvPr/>
        </p:nvSpPr>
        <p:spPr>
          <a:xfrm>
            <a:off x="7150608" y="27432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SETUP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56032" y="256032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 &amp; Access Levels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256032" y="960120"/>
            <a:ext cx="4160520" cy="1627632"/>
          </a:xfrm>
          <a:prstGeom prst="rect">
            <a:avLst/>
          </a:prstGeom>
          <a:solidFill>
            <a:srgbClr val="1A2E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" y="960120"/>
            <a:ext cx="4160520" cy="50292"/>
          </a:xfrm>
          <a:prstGeom prst="rect">
            <a:avLst/>
          </a:prstGeom>
          <a:solidFill>
            <a:srgbClr val="FF4D00"/>
          </a:solidFill>
          <a:ln/>
        </p:spPr>
      </p:sp>
      <p:sp>
        <p:nvSpPr>
          <p:cNvPr id="13" name="Shape 11"/>
          <p:cNvSpPr/>
          <p:nvPr/>
        </p:nvSpPr>
        <p:spPr>
          <a:xfrm>
            <a:off x="393192" y="1078992"/>
            <a:ext cx="822960" cy="237744"/>
          </a:xfrm>
          <a:prstGeom prst="rect">
            <a:avLst/>
          </a:prstGeom>
          <a:solidFill>
            <a:srgbClr val="FF4D00"/>
          </a:solidFill>
          <a:ln/>
        </p:spPr>
      </p:sp>
      <p:sp>
        <p:nvSpPr>
          <p:cNvPr id="14" name="Text 12"/>
          <p:cNvSpPr/>
          <p:nvPr/>
        </p:nvSpPr>
        <p:spPr>
          <a:xfrm>
            <a:off x="393192" y="107899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280160" y="105156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Admin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93192" y="139903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access — billing, users, all plants, AI config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0624" y="1728216"/>
            <a:ext cx="91440" cy="91440"/>
          </a:xfrm>
          <a:prstGeom prst="ellipse">
            <a:avLst/>
          </a:prstGeom>
          <a:solidFill>
            <a:srgbClr val="00C896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168249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Create/delete users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20624" y="1947672"/>
            <a:ext cx="91440" cy="91440"/>
          </a:xfrm>
          <a:prstGeom prst="ellipse">
            <a:avLst/>
          </a:prstGeom>
          <a:solidFill>
            <a:srgbClr val="00C896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190195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Manage billing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432304" y="1728216"/>
            <a:ext cx="91440" cy="91440"/>
          </a:xfrm>
          <a:prstGeom prst="ellipse">
            <a:avLst/>
          </a:prstGeom>
          <a:solidFill>
            <a:srgbClr val="FF3B6B"/>
          </a:solidFill>
          <a:ln/>
        </p:spPr>
      </p:sp>
      <p:sp>
        <p:nvSpPr>
          <p:cNvPr id="22" name="Text 20"/>
          <p:cNvSpPr/>
          <p:nvPr/>
        </p:nvSpPr>
        <p:spPr>
          <a:xfrm>
            <a:off x="2560320" y="1682496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System config (SafeG team only)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99432" y="960120"/>
            <a:ext cx="4160520" cy="1627632"/>
          </a:xfrm>
          <a:prstGeom prst="rect">
            <a:avLst/>
          </a:prstGeom>
          <a:solidFill>
            <a:srgbClr val="1A2E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99432" y="960120"/>
            <a:ext cx="4160520" cy="50292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25" name="Shape 23"/>
          <p:cNvSpPr/>
          <p:nvPr/>
        </p:nvSpPr>
        <p:spPr>
          <a:xfrm>
            <a:off x="4736592" y="1078992"/>
            <a:ext cx="822960" cy="237744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26" name="Text 24"/>
          <p:cNvSpPr/>
          <p:nvPr/>
        </p:nvSpPr>
        <p:spPr>
          <a:xfrm>
            <a:off x="4736592" y="107899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5623560" y="105156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Manager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736592" y="139903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features for assigned plant(s) — read/write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64024" y="1728216"/>
            <a:ext cx="91440" cy="91440"/>
          </a:xfrm>
          <a:prstGeom prst="ellipse">
            <a:avLst/>
          </a:prstGeom>
          <a:solidFill>
            <a:srgbClr val="00C896"/>
          </a:solidFill>
          <a:ln/>
        </p:spPr>
      </p:sp>
      <p:sp>
        <p:nvSpPr>
          <p:cNvPr id="30" name="Text 28"/>
          <p:cNvSpPr/>
          <p:nvPr/>
        </p:nvSpPr>
        <p:spPr>
          <a:xfrm>
            <a:off x="4892040" y="168249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Camera management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764024" y="1947672"/>
            <a:ext cx="91440" cy="91440"/>
          </a:xfrm>
          <a:prstGeom prst="ellipse">
            <a:avLst/>
          </a:prstGeom>
          <a:solidFill>
            <a:srgbClr val="00C896"/>
          </a:solidFill>
          <a:ln/>
        </p:spPr>
      </p:sp>
      <p:sp>
        <p:nvSpPr>
          <p:cNvPr id="32" name="Text 30"/>
          <p:cNvSpPr/>
          <p:nvPr/>
        </p:nvSpPr>
        <p:spPr>
          <a:xfrm>
            <a:off x="4892040" y="190195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View all violations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775704" y="1728216"/>
            <a:ext cx="91440" cy="91440"/>
          </a:xfrm>
          <a:prstGeom prst="ellipse">
            <a:avLst/>
          </a:prstGeom>
          <a:solidFill>
            <a:srgbClr val="FF3B6B"/>
          </a:solidFill>
          <a:ln/>
        </p:spPr>
      </p:sp>
      <p:sp>
        <p:nvSpPr>
          <p:cNvPr id="34" name="Text 32"/>
          <p:cNvSpPr/>
          <p:nvPr/>
        </p:nvSpPr>
        <p:spPr>
          <a:xfrm>
            <a:off x="6903720" y="1682496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Billing &amp; subscription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775704" y="1947672"/>
            <a:ext cx="91440" cy="91440"/>
          </a:xfrm>
          <a:prstGeom prst="ellipse">
            <a:avLst/>
          </a:prstGeom>
          <a:solidFill>
            <a:srgbClr val="FF3B6B"/>
          </a:solidFill>
          <a:ln/>
        </p:spPr>
      </p:sp>
      <p:sp>
        <p:nvSpPr>
          <p:cNvPr id="36" name="Text 34"/>
          <p:cNvSpPr/>
          <p:nvPr/>
        </p:nvSpPr>
        <p:spPr>
          <a:xfrm>
            <a:off x="6903720" y="1901952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Create new plants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256032" y="2770632"/>
            <a:ext cx="4160520" cy="1627632"/>
          </a:xfrm>
          <a:prstGeom prst="rect">
            <a:avLst/>
          </a:prstGeom>
          <a:solidFill>
            <a:srgbClr val="1A2E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256032" y="2770632"/>
            <a:ext cx="4160520" cy="50292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39" name="Shape 37"/>
          <p:cNvSpPr/>
          <p:nvPr/>
        </p:nvSpPr>
        <p:spPr>
          <a:xfrm>
            <a:off x="393192" y="2889504"/>
            <a:ext cx="822960" cy="237744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40" name="Text 38"/>
          <p:cNvSpPr/>
          <p:nvPr/>
        </p:nvSpPr>
        <p:spPr>
          <a:xfrm>
            <a:off x="393192" y="288950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HSE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1280160" y="286207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HSE Officer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393192" y="320954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Violations, Form 18, inspections — read/write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20624" y="3538728"/>
            <a:ext cx="91440" cy="91440"/>
          </a:xfrm>
          <a:prstGeom prst="ellipse">
            <a:avLst/>
          </a:prstGeom>
          <a:solidFill>
            <a:srgbClr val="00C896"/>
          </a:solidFill>
          <a:ln/>
        </p:spPr>
      </p:sp>
      <p:sp>
        <p:nvSpPr>
          <p:cNvPr id="44" name="Text 42"/>
          <p:cNvSpPr/>
          <p:nvPr/>
        </p:nvSpPr>
        <p:spPr>
          <a:xfrm>
            <a:off x="548640" y="349300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Acknowledge violations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20624" y="3758184"/>
            <a:ext cx="91440" cy="91440"/>
          </a:xfrm>
          <a:prstGeom prst="ellipse">
            <a:avLst/>
          </a:prstGeom>
          <a:solidFill>
            <a:srgbClr val="00C896"/>
          </a:solidFill>
          <a:ln/>
        </p:spPr>
      </p:sp>
      <p:sp>
        <p:nvSpPr>
          <p:cNvPr id="46" name="Text 44"/>
          <p:cNvSpPr/>
          <p:nvPr/>
        </p:nvSpPr>
        <p:spPr>
          <a:xfrm>
            <a:off x="548640" y="371246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Fill Form 18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2432304" y="3538728"/>
            <a:ext cx="91440" cy="91440"/>
          </a:xfrm>
          <a:prstGeom prst="ellipse">
            <a:avLst/>
          </a:prstGeom>
          <a:solidFill>
            <a:srgbClr val="FF3B6B"/>
          </a:solidFill>
          <a:ln/>
        </p:spPr>
      </p:sp>
      <p:sp>
        <p:nvSpPr>
          <p:cNvPr id="48" name="Text 46"/>
          <p:cNvSpPr/>
          <p:nvPr/>
        </p:nvSpPr>
        <p:spPr>
          <a:xfrm>
            <a:off x="2560320" y="3493008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Camera config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2432304" y="3758184"/>
            <a:ext cx="91440" cy="91440"/>
          </a:xfrm>
          <a:prstGeom prst="ellipse">
            <a:avLst/>
          </a:prstGeom>
          <a:solidFill>
            <a:srgbClr val="FF3B6B"/>
          </a:solidFill>
          <a:ln/>
        </p:spPr>
      </p:sp>
      <p:sp>
        <p:nvSpPr>
          <p:cNvPr id="50" name="Text 48"/>
          <p:cNvSpPr/>
          <p:nvPr/>
        </p:nvSpPr>
        <p:spPr>
          <a:xfrm>
            <a:off x="2560320" y="3712464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User management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4599432" y="2770632"/>
            <a:ext cx="4160520" cy="1627632"/>
          </a:xfrm>
          <a:prstGeom prst="rect">
            <a:avLst/>
          </a:prstGeom>
          <a:solidFill>
            <a:srgbClr val="1A2E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4599432" y="2770632"/>
            <a:ext cx="4160520" cy="50292"/>
          </a:xfrm>
          <a:prstGeom prst="rect">
            <a:avLst/>
          </a:prstGeom>
          <a:solidFill>
            <a:srgbClr val="2D8EFF"/>
          </a:solidFill>
          <a:ln/>
        </p:spPr>
      </p:sp>
      <p:sp>
        <p:nvSpPr>
          <p:cNvPr id="53" name="Shape 51"/>
          <p:cNvSpPr/>
          <p:nvPr/>
        </p:nvSpPr>
        <p:spPr>
          <a:xfrm>
            <a:off x="4736592" y="2889504"/>
            <a:ext cx="822960" cy="237744"/>
          </a:xfrm>
          <a:prstGeom prst="rect">
            <a:avLst/>
          </a:prstGeom>
          <a:solidFill>
            <a:srgbClr val="2D8EFF"/>
          </a:solidFill>
          <a:ln/>
        </p:spPr>
      </p:sp>
      <p:sp>
        <p:nvSpPr>
          <p:cNvPr id="54" name="Text 52"/>
          <p:cNvSpPr/>
          <p:nvPr/>
        </p:nvSpPr>
        <p:spPr>
          <a:xfrm>
            <a:off x="4736592" y="288950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5623560" y="286207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4736592" y="320954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dashboard and live feeds only — read only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4764024" y="3538728"/>
            <a:ext cx="91440" cy="91440"/>
          </a:xfrm>
          <a:prstGeom prst="ellipse">
            <a:avLst/>
          </a:prstGeom>
          <a:solidFill>
            <a:srgbClr val="00C896"/>
          </a:solidFill>
          <a:ln/>
        </p:spPr>
      </p:sp>
      <p:sp>
        <p:nvSpPr>
          <p:cNvPr id="58" name="Text 56"/>
          <p:cNvSpPr/>
          <p:nvPr/>
        </p:nvSpPr>
        <p:spPr>
          <a:xfrm>
            <a:off x="4892040" y="349300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Live camera feeds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4764024" y="3758184"/>
            <a:ext cx="91440" cy="91440"/>
          </a:xfrm>
          <a:prstGeom prst="ellipse">
            <a:avLst/>
          </a:prstGeom>
          <a:solidFill>
            <a:srgbClr val="00C896"/>
          </a:solidFill>
          <a:ln/>
        </p:spPr>
      </p:sp>
      <p:sp>
        <p:nvSpPr>
          <p:cNvPr id="60" name="Text 58"/>
          <p:cNvSpPr/>
          <p:nvPr/>
        </p:nvSpPr>
        <p:spPr>
          <a:xfrm>
            <a:off x="4892040" y="371246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Dashboard KPIs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6775704" y="3538728"/>
            <a:ext cx="91440" cy="91440"/>
          </a:xfrm>
          <a:prstGeom prst="ellipse">
            <a:avLst/>
          </a:prstGeom>
          <a:solidFill>
            <a:srgbClr val="FF3B6B"/>
          </a:solidFill>
          <a:ln/>
        </p:spPr>
      </p:sp>
      <p:sp>
        <p:nvSpPr>
          <p:cNvPr id="62" name="Text 60"/>
          <p:cNvSpPr/>
          <p:nvPr/>
        </p:nvSpPr>
        <p:spPr>
          <a:xfrm>
            <a:off x="6903720" y="3493008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Acknowledge/resolve violations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6775704" y="3758184"/>
            <a:ext cx="91440" cy="91440"/>
          </a:xfrm>
          <a:prstGeom prst="ellipse">
            <a:avLst/>
          </a:prstGeom>
          <a:solidFill>
            <a:srgbClr val="FF3B6B"/>
          </a:solidFill>
          <a:ln/>
        </p:spPr>
      </p:sp>
      <p:sp>
        <p:nvSpPr>
          <p:cNvPr id="64" name="Text 62"/>
          <p:cNvSpPr/>
          <p:nvPr/>
        </p:nvSpPr>
        <p:spPr>
          <a:xfrm>
            <a:off x="6903720" y="3712464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Any settings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C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F4D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3224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18872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6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274320" y="219456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Installation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274320" y="3520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Mounting, cabling, IP config and RTSP setup for every zone type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74320" y="4800600"/>
            <a:ext cx="54864" cy="228600"/>
          </a:xfrm>
          <a:prstGeom prst="rect">
            <a:avLst/>
          </a:prstGeom>
          <a:solidFill>
            <a:srgbClr val="FF4D00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477316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SAFEG AI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286000" y="477316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 — CAMERA INSTALLATION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772400" y="477316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C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4D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5080F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4800600"/>
            <a:ext cx="54864" cy="228600"/>
          </a:xfrm>
          <a:prstGeom prst="rect">
            <a:avLst/>
          </a:prstGeom>
          <a:solidFill>
            <a:srgbClr val="FF4D00"/>
          </a:solidFill>
          <a:ln/>
        </p:spPr>
      </p:sp>
      <p:sp>
        <p:nvSpPr>
          <p:cNvPr id="5" name="Text 3"/>
          <p:cNvSpPr/>
          <p:nvPr/>
        </p:nvSpPr>
        <p:spPr>
          <a:xfrm>
            <a:off x="384048" y="477316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SAFEG AI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286000" y="477316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CAMERA INSTALLATION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0" y="477316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150608" y="274320"/>
            <a:ext cx="1737360" cy="237744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9" name="Text 7"/>
          <p:cNvSpPr/>
          <p:nvPr/>
        </p:nvSpPr>
        <p:spPr>
          <a:xfrm>
            <a:off x="7150608" y="27432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INSTALL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56032" y="256032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Placement Guide by Zone Type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256032" y="914400"/>
            <a:ext cx="2788920" cy="1664208"/>
          </a:xfrm>
          <a:prstGeom prst="rect">
            <a:avLst/>
          </a:prstGeom>
          <a:solidFill>
            <a:srgbClr val="1A2E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" y="914400"/>
            <a:ext cx="2788920" cy="50292"/>
          </a:xfrm>
          <a:prstGeom prst="rect">
            <a:avLst/>
          </a:prstGeom>
          <a:solidFill>
            <a:srgbClr val="FF4D00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10058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4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Welding Bay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1316736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Height: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124712" y="131673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4–6m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65760" y="153619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Angle: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124712" y="153619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30–45°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65760" y="175564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Coverage: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124712" y="175564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 150 sq.ft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29184" y="2240280"/>
            <a:ext cx="2633472" cy="256032"/>
          </a:xfrm>
          <a:prstGeom prst="rect">
            <a:avLst/>
          </a:prstGeom>
          <a:solidFill>
            <a:srgbClr val="05080F"/>
          </a:solidFill>
          <a:ln w="10160">
            <a:solidFill>
              <a:srgbClr val="FF4D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2240280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Use dust-resistant IP67 camera + spark deflector hood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3200400" y="914400"/>
            <a:ext cx="2788920" cy="1664208"/>
          </a:xfrm>
          <a:prstGeom prst="rect">
            <a:avLst/>
          </a:prstGeom>
          <a:solidFill>
            <a:srgbClr val="1A2E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0" y="914400"/>
            <a:ext cx="2788920" cy="50292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24" name="Text 22"/>
          <p:cNvSpPr/>
          <p:nvPr/>
        </p:nvSpPr>
        <p:spPr>
          <a:xfrm>
            <a:off x="3310128" y="10058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Assembly Line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310128" y="1316736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Height: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069080" y="131673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3–5m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310128" y="153619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Angle: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069080" y="153619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15–30°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310128" y="175564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Coverage: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069080" y="175564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 20m of line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273552" y="2240280"/>
            <a:ext cx="2633472" cy="256032"/>
          </a:xfrm>
          <a:prstGeom prst="rect">
            <a:avLst/>
          </a:prstGeom>
          <a:solidFill>
            <a:srgbClr val="05080F"/>
          </a:solidFill>
          <a:ln w="10160">
            <a:solidFill>
              <a:srgbClr val="FF8C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10128" y="2240280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Ensure adequate lighting ≥ 300 lux. Avoid backlighting.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6144768" y="914400"/>
            <a:ext cx="2788920" cy="1664208"/>
          </a:xfrm>
          <a:prstGeom prst="rect">
            <a:avLst/>
          </a:prstGeom>
          <a:solidFill>
            <a:srgbClr val="1A2E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144768" y="914400"/>
            <a:ext cx="2788920" cy="50292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35" name="Text 33"/>
          <p:cNvSpPr/>
          <p:nvPr/>
        </p:nvSpPr>
        <p:spPr>
          <a:xfrm>
            <a:off x="6254496" y="10058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  Paint / Chemical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254496" y="1316736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Height: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7013448" y="131673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3–4m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254496" y="153619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Angle: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7013448" y="153619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20–35°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254496" y="175564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Coverage: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013448" y="175564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cameras per bay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6217920" y="2240280"/>
            <a:ext cx="2633472" cy="256032"/>
          </a:xfrm>
          <a:prstGeom prst="rect">
            <a:avLst/>
          </a:prstGeom>
          <a:solidFill>
            <a:srgbClr val="05080F"/>
          </a:solidFill>
          <a:ln w="10160">
            <a:solidFill>
              <a:srgbClr val="FFB02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54496" y="2240280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Use explosion-proof camera (Zone 2 rated) in spray booths.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256032" y="2724912"/>
            <a:ext cx="2788920" cy="1664208"/>
          </a:xfrm>
          <a:prstGeom prst="rect">
            <a:avLst/>
          </a:prstGeom>
          <a:solidFill>
            <a:srgbClr val="1A2E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256032" y="2724912"/>
            <a:ext cx="2788920" cy="50292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46" name="Text 44"/>
          <p:cNvSpPr/>
          <p:nvPr/>
        </p:nvSpPr>
        <p:spPr>
          <a:xfrm>
            <a:off x="365760" y="28163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🚛  Forklift / Dock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365760" y="312724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Height: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1124712" y="312724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5–8m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365760" y="3346704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Angle: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1124712" y="3346704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45–60°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365760" y="356616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Coverage: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1124712" y="356616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Corner mounts preferred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329184" y="4050792"/>
            <a:ext cx="2633472" cy="256032"/>
          </a:xfrm>
          <a:prstGeom prst="rect">
            <a:avLst/>
          </a:prstGeom>
          <a:solidFill>
            <a:srgbClr val="05080F"/>
          </a:solidFill>
          <a:ln w="10160">
            <a:solidFill>
              <a:srgbClr val="00C89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65760" y="4050792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PTZ camera recommended for large dock areas &gt; 500 sq.ft.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3200400" y="2724912"/>
            <a:ext cx="2788920" cy="1664208"/>
          </a:xfrm>
          <a:prstGeom prst="rect">
            <a:avLst/>
          </a:prstGeom>
          <a:solidFill>
            <a:srgbClr val="1A2E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3200400" y="2724912"/>
            <a:ext cx="2788920" cy="50292"/>
          </a:xfrm>
          <a:prstGeom prst="rect">
            <a:avLst/>
          </a:prstGeom>
          <a:solidFill>
            <a:srgbClr val="2D8EFF"/>
          </a:solidFill>
          <a:ln/>
        </p:spPr>
      </p:sp>
      <p:sp>
        <p:nvSpPr>
          <p:cNvPr id="57" name="Text 55"/>
          <p:cNvSpPr/>
          <p:nvPr/>
        </p:nvSpPr>
        <p:spPr>
          <a:xfrm>
            <a:off x="3310128" y="28163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8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Machine Shop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3310128" y="312724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Height: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4069080" y="312724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3–4m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3310128" y="3346704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Angle: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4069080" y="3346704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20–40°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3310128" y="356616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Coverage: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4069080" y="356616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 4 machines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3273552" y="4050792"/>
            <a:ext cx="2633472" cy="256032"/>
          </a:xfrm>
          <a:prstGeom prst="rect">
            <a:avLst/>
          </a:prstGeom>
          <a:solidFill>
            <a:srgbClr val="05080F"/>
          </a:solidFill>
          <a:ln w="10160">
            <a:solidFill>
              <a:srgbClr val="2D8EF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310128" y="4050792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Install IR illuminator if area has variable lighting shifts.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6144768" y="2724912"/>
            <a:ext cx="2788920" cy="1664208"/>
          </a:xfrm>
          <a:prstGeom prst="rect">
            <a:avLst/>
          </a:prstGeom>
          <a:solidFill>
            <a:srgbClr val="1A2E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6144768" y="2724912"/>
            <a:ext cx="2788920" cy="5029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8" name="Text 66"/>
          <p:cNvSpPr/>
          <p:nvPr/>
        </p:nvSpPr>
        <p:spPr>
          <a:xfrm>
            <a:off x="6254496" y="28163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Electrical Room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6254496" y="312724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Height: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7013448" y="312724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2.5–3m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6254496" y="3346704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Angle: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7013448" y="3346704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6254496" y="356616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Coverage: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7013448" y="356616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covers entire room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6217920" y="4050792"/>
            <a:ext cx="2633472" cy="256032"/>
          </a:xfrm>
          <a:prstGeom prst="rect">
            <a:avLst/>
          </a:prstGeom>
          <a:solidFill>
            <a:srgbClr val="05080F"/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254496" y="4050792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Standard IP66 camera sufficient — no heavy dust/fumes.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C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4D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5080F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4800600"/>
            <a:ext cx="54864" cy="228600"/>
          </a:xfrm>
          <a:prstGeom prst="rect">
            <a:avLst/>
          </a:prstGeom>
          <a:solidFill>
            <a:srgbClr val="FF4D00"/>
          </a:solidFill>
          <a:ln/>
        </p:spPr>
      </p:sp>
      <p:sp>
        <p:nvSpPr>
          <p:cNvPr id="5" name="Text 3"/>
          <p:cNvSpPr/>
          <p:nvPr/>
        </p:nvSpPr>
        <p:spPr>
          <a:xfrm>
            <a:off x="384048" y="477316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SAFEG AI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286000" y="477316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CAMERA INSTALLATION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0" y="477316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150608" y="274320"/>
            <a:ext cx="1737360" cy="237744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9" name="Text 7"/>
          <p:cNvSpPr/>
          <p:nvPr/>
        </p:nvSpPr>
        <p:spPr>
          <a:xfrm>
            <a:off x="7150608" y="27432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INSTALL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56032" y="256032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Installation — Step by Step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256032" y="1097280"/>
            <a:ext cx="457200" cy="457200"/>
          </a:xfrm>
          <a:prstGeom prst="ellipse">
            <a:avLst/>
          </a:prstGeom>
          <a:solidFill>
            <a:srgbClr val="FF4D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10424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4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Mounting Position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1280160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laser level. Mark drill holes. Check for hidden wiring/pipes with stud finder. Install wall anchor or pipe clamp.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56032" y="1737360"/>
            <a:ext cx="4160520" cy="5486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6" name="Shape 14"/>
          <p:cNvSpPr/>
          <p:nvPr/>
        </p:nvSpPr>
        <p:spPr>
          <a:xfrm>
            <a:off x="4626864" y="1097280"/>
            <a:ext cx="457200" cy="457200"/>
          </a:xfrm>
          <a:prstGeom prst="ellipse">
            <a:avLst/>
          </a:prstGeom>
          <a:solidFill>
            <a:srgbClr val="FF8C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26864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193792" y="10424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&amp; Lay Cable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193792" y="1280160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Cat6 cable from camera position to PoE switch. Max 90m. Use conduit/cable trays. Label both ends (e.g. CAM-01-A).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26864" y="1737360"/>
            <a:ext cx="4160520" cy="5486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1" name="Shape 19"/>
          <p:cNvSpPr/>
          <p:nvPr/>
        </p:nvSpPr>
        <p:spPr>
          <a:xfrm>
            <a:off x="256032" y="1993392"/>
            <a:ext cx="457200" cy="457200"/>
          </a:xfrm>
          <a:prstGeom prst="ellipse">
            <a:avLst/>
          </a:prstGeom>
          <a:solidFill>
            <a:srgbClr val="FFB02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6032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22960" y="19385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 Camera Bracket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22960" y="2176272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bracket to wall/pillar. Tighten all bolts. For outdoor: apply waterproof sealant around drill holes.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56032" y="2633472"/>
            <a:ext cx="4160520" cy="5486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6" name="Shape 24"/>
          <p:cNvSpPr/>
          <p:nvPr/>
        </p:nvSpPr>
        <p:spPr>
          <a:xfrm>
            <a:off x="4626864" y="1993392"/>
            <a:ext cx="457200" cy="457200"/>
          </a:xfrm>
          <a:prstGeom prst="ellipse">
            <a:avLst/>
          </a:prstGeom>
          <a:solidFill>
            <a:srgbClr val="00C89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26864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193792" y="19385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&amp; Power 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193792" y="2176272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Terminate Cat6 to camera (T568B standard). Connect to PoE switch port. Camera LED turns on in 15–30 seconds.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626864" y="2633472"/>
            <a:ext cx="4160520" cy="5486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1" name="Shape 29"/>
          <p:cNvSpPr/>
          <p:nvPr/>
        </p:nvSpPr>
        <p:spPr>
          <a:xfrm>
            <a:off x="256032" y="2889504"/>
            <a:ext cx="457200" cy="457200"/>
          </a:xfrm>
          <a:prstGeom prst="ellipse">
            <a:avLst/>
          </a:prstGeom>
          <a:solidFill>
            <a:srgbClr val="2D8EF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6032" y="28895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22960" y="28346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8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Static IP Address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22960" y="3072384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camera web UI at 192.168.1.x (default). Set static IP per naming plan. Example: CAM-01 → 192.168.10.101.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56032" y="3529584"/>
            <a:ext cx="4160520" cy="5486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6" name="Shape 34"/>
          <p:cNvSpPr/>
          <p:nvPr/>
        </p:nvSpPr>
        <p:spPr>
          <a:xfrm>
            <a:off x="4626864" y="2889504"/>
            <a:ext cx="457200" cy="457200"/>
          </a:xfrm>
          <a:prstGeom prst="ellipse">
            <a:avLst/>
          </a:prstGeom>
          <a:solidFill>
            <a:srgbClr val="7C3AE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26864" y="28895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193792" y="28346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 Pan/Tilt/Zoom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193792" y="3072384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live feed via camera web UI. Adjust angle to cover full work zone. Lock screw when satisfied.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26864" y="3529584"/>
            <a:ext cx="4160520" cy="5486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1" name="Shape 39"/>
          <p:cNvSpPr/>
          <p:nvPr/>
        </p:nvSpPr>
        <p:spPr>
          <a:xfrm>
            <a:off x="256032" y="3785616"/>
            <a:ext cx="457200" cy="457200"/>
          </a:xfrm>
          <a:prstGeom prst="ellipse">
            <a:avLst/>
          </a:prstGeom>
          <a:solidFill>
            <a:srgbClr val="00C89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56032" y="37856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822960" y="37307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RTSP URL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822960" y="3968496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Format: rtsp://admin:PASSWORD@192.168.10.101:554/stream1  Note this down — you'll enter it in SafeG wizard.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256032" y="4425696"/>
            <a:ext cx="4160520" cy="5486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6" name="Shape 44"/>
          <p:cNvSpPr/>
          <p:nvPr/>
        </p:nvSpPr>
        <p:spPr>
          <a:xfrm>
            <a:off x="4626864" y="3785616"/>
            <a:ext cx="457200" cy="457200"/>
          </a:xfrm>
          <a:prstGeom prst="ellipse">
            <a:avLst/>
          </a:prstGeom>
          <a:solidFill>
            <a:srgbClr val="2D8EF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626864" y="37856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5193792" y="37307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8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&amp; Document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193792" y="3968496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Stick asset label on camera (CAM-01, zone, IP). Update site floor plan with camera positions.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C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4D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5080F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4800600"/>
            <a:ext cx="54864" cy="228600"/>
          </a:xfrm>
          <a:prstGeom prst="rect">
            <a:avLst/>
          </a:prstGeom>
          <a:solidFill>
            <a:srgbClr val="FF4D00"/>
          </a:solidFill>
          <a:ln/>
        </p:spPr>
      </p:sp>
      <p:sp>
        <p:nvSpPr>
          <p:cNvPr id="5" name="Text 3"/>
          <p:cNvSpPr/>
          <p:nvPr/>
        </p:nvSpPr>
        <p:spPr>
          <a:xfrm>
            <a:off x="384048" y="477316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SAFEG AI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286000" y="477316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CAMERA INSTALLATION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0" y="477316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150608" y="274320"/>
            <a:ext cx="1737360" cy="237744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9" name="Text 7"/>
          <p:cNvSpPr/>
          <p:nvPr/>
        </p:nvSpPr>
        <p:spPr>
          <a:xfrm>
            <a:off x="7150608" y="27432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RTSP CONFIG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56032" y="256032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RTSP URL &amp; IP Configuration Reference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256032" y="868680"/>
            <a:ext cx="8631936" cy="1005840"/>
          </a:xfrm>
          <a:prstGeom prst="rect">
            <a:avLst/>
          </a:prstGeom>
          <a:solidFill>
            <a:srgbClr val="1A2E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" y="868680"/>
            <a:ext cx="8631936" cy="50292"/>
          </a:xfrm>
          <a:prstGeom prst="rect">
            <a:avLst/>
          </a:prstGeom>
          <a:solidFill>
            <a:srgbClr val="2D8EFF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9326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8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RTSP URL Anatomy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1234440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rtsp://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87552" y="123444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4D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admin:password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386584" y="1234440"/>
            <a:ext cx="182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8C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551176" y="123444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192.168.10.101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133088" y="123444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8C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:554/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617720" y="123444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8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stream1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11480" y="157276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987552" y="157276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4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551176" y="157276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IP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617720" y="157276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8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Port/Path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56032" y="202996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RTSP Stream Paths by Camera Brand</a:t>
            </a:r>
            <a:endParaRPr lang="en-US" sz="13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" y="2340864"/>
          <a:ext cx="8631936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5943600"/>
                <a:gridCol w="1371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RTSP URL Pattern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4D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Hikvision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B8CDE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rtsp://admin:PASS@IP:554/Streaming/Channels/101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B8C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stream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4D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Dahua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8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B8CDE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rtsp://admin:PASS@IP:554/cam/realmonitor?channel=1&amp;subtype=0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8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B8C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HD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80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4D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Axis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B8CDE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rtsp://root:PASS@IP/axis-media/media.amp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B8C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VAPIX stream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4D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Hanwha/Samsung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8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B8CDE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rtsp://admin:PASS@IP/video1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8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B8C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H.264 main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80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4D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 Plus (CPDI)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B8CDE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rtsp://admin:PASS@IP:554/live/ch00_0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B8C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stream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4D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Bosch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8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B8CDE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rtsp://IP:554/rtsp_tunnel?h26x=4&amp;line=1&amp;inst=1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8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B8C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H.264 main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80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4D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Generic ONVIF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B8CDE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rtsp://admin:PASS@IP:554/onvif1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B8C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path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C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4D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5080F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4800600"/>
            <a:ext cx="54864" cy="228600"/>
          </a:xfrm>
          <a:prstGeom prst="rect">
            <a:avLst/>
          </a:prstGeom>
          <a:solidFill>
            <a:srgbClr val="FF4D00"/>
          </a:solidFill>
          <a:ln/>
        </p:spPr>
      </p:sp>
      <p:sp>
        <p:nvSpPr>
          <p:cNvPr id="5" name="Text 3"/>
          <p:cNvSpPr/>
          <p:nvPr/>
        </p:nvSpPr>
        <p:spPr>
          <a:xfrm>
            <a:off x="384048" y="477316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SAFEG AI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286000" y="477316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CAMERA INSTALLATION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0" y="477316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150608" y="274320"/>
            <a:ext cx="1737360" cy="237744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9" name="Text 7"/>
          <p:cNvSpPr/>
          <p:nvPr/>
        </p:nvSpPr>
        <p:spPr>
          <a:xfrm>
            <a:off x="7150608" y="27432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INSTALL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56032" y="256032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Addressing &amp; Camera Naming Convention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256032" y="868680"/>
            <a:ext cx="5029200" cy="1993392"/>
          </a:xfrm>
          <a:prstGeom prst="rect">
            <a:avLst/>
          </a:prstGeom>
          <a:solidFill>
            <a:srgbClr val="1A2E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" y="868680"/>
            <a:ext cx="5029200" cy="50292"/>
          </a:xfrm>
          <a:prstGeom prst="rect">
            <a:avLst/>
          </a:prstGeom>
          <a:solidFill>
            <a:srgbClr val="2D8EFF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93268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8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IP Addressing Scheme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11480" y="126187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SafeG AI Edge Server: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971800" y="1261872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192.168.10.10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11480" y="1499616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PoE Switch Management: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971800" y="1499616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192.168.10.1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11480" y="173736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Cameras (Unit 1):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971800" y="1737360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192.168.10.101 – .132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11480" y="1975104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Cameras (Unit 2):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971800" y="1975104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192.168.10.133 – .164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11480" y="221284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NVR (if used):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971800" y="2212848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192.168.10.50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11480" y="245059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Subnet Mask: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971800" y="2450592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255.255.255.0  ( /24 )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11480" y="2688336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Gateway: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971800" y="2688336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192.168.10.1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532120" y="868680"/>
            <a:ext cx="3355848" cy="1993392"/>
          </a:xfrm>
          <a:prstGeom prst="rect">
            <a:avLst/>
          </a:prstGeom>
          <a:solidFill>
            <a:srgbClr val="1A2E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532120" y="868680"/>
            <a:ext cx="3355848" cy="50292"/>
          </a:xfrm>
          <a:prstGeom prst="rect">
            <a:avLst/>
          </a:prstGeom>
          <a:solidFill>
            <a:srgbClr val="FF4D00"/>
          </a:solidFill>
          <a:ln/>
        </p:spPr>
      </p:sp>
      <p:sp>
        <p:nvSpPr>
          <p:cNvPr id="30" name="Text 28"/>
          <p:cNvSpPr/>
          <p:nvPr/>
        </p:nvSpPr>
        <p:spPr>
          <a:xfrm>
            <a:off x="5687568" y="93268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4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Naming Convention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687568" y="126187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CAM-PLT-PUN-001-003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687568" y="166420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4D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CAM =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492240" y="166420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687568" y="186537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4D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 =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492240" y="186537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687568" y="2066544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4D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PUN =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492240" y="206654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code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5687568" y="226771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4D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001 =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6492240" y="226771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seq.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5687568" y="246888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4D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003 =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6492240" y="246888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seq.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256032" y="2971800"/>
            <a:ext cx="8631936" cy="1536192"/>
          </a:xfrm>
          <a:prstGeom prst="rect">
            <a:avLst/>
          </a:prstGeom>
          <a:solidFill>
            <a:srgbClr val="1A2E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256032" y="2971800"/>
            <a:ext cx="8631936" cy="50292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44" name="Text 42"/>
          <p:cNvSpPr/>
          <p:nvPr/>
        </p:nvSpPr>
        <p:spPr>
          <a:xfrm>
            <a:off x="411480" y="30358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PoE Wiring Diagram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11480" y="3401568"/>
            <a:ext cx="1280160" cy="594360"/>
          </a:xfrm>
          <a:prstGeom prst="rect">
            <a:avLst/>
          </a:prstGeom>
          <a:solidFill>
            <a:srgbClr val="132240"/>
          </a:solidFill>
          <a:ln w="19050">
            <a:solidFill>
              <a:srgbClr val="00C89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11480" y="3401568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Camera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(×8–32)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1709928" y="3666744"/>
            <a:ext cx="393192" cy="54864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48" name="Shape 46"/>
          <p:cNvSpPr/>
          <p:nvPr/>
        </p:nvSpPr>
        <p:spPr>
          <a:xfrm>
            <a:off x="2103120" y="3401568"/>
            <a:ext cx="1280160" cy="594360"/>
          </a:xfrm>
          <a:prstGeom prst="rect">
            <a:avLst/>
          </a:prstGeom>
          <a:solidFill>
            <a:srgbClr val="132240"/>
          </a:solidFill>
          <a:ln w="19050">
            <a:solidFill>
              <a:srgbClr val="FFB02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103120" y="3401568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PoE Switch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(Gigabit)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3401568" y="3666744"/>
            <a:ext cx="393192" cy="54864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51" name="Shape 49"/>
          <p:cNvSpPr/>
          <p:nvPr/>
        </p:nvSpPr>
        <p:spPr>
          <a:xfrm>
            <a:off x="3794760" y="3401568"/>
            <a:ext cx="1280160" cy="594360"/>
          </a:xfrm>
          <a:prstGeom prst="rect">
            <a:avLst/>
          </a:prstGeom>
          <a:solidFill>
            <a:srgbClr val="132240"/>
          </a:solidFill>
          <a:ln w="19050">
            <a:solidFill>
              <a:srgbClr val="FF8C0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794760" y="3401568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/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5093208" y="3666744"/>
            <a:ext cx="393192" cy="54864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54" name="Shape 52"/>
          <p:cNvSpPr/>
          <p:nvPr/>
        </p:nvSpPr>
        <p:spPr>
          <a:xfrm>
            <a:off x="5486400" y="3401568"/>
            <a:ext cx="1280160" cy="594360"/>
          </a:xfrm>
          <a:prstGeom prst="rect">
            <a:avLst/>
          </a:prstGeom>
          <a:solidFill>
            <a:srgbClr val="132240"/>
          </a:solidFill>
          <a:ln w="19050">
            <a:solidFill>
              <a:srgbClr val="FF4D0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486400" y="3401568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Server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(SafeG AI)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6784848" y="3666744"/>
            <a:ext cx="393192" cy="54864"/>
          </a:xfrm>
          <a:prstGeom prst="rect">
            <a:avLst/>
          </a:prstGeom>
          <a:solidFill>
            <a:srgbClr val="FF4D00"/>
          </a:solidFill>
          <a:ln/>
        </p:spPr>
      </p:sp>
      <p:sp>
        <p:nvSpPr>
          <p:cNvPr id="57" name="Shape 55"/>
          <p:cNvSpPr/>
          <p:nvPr/>
        </p:nvSpPr>
        <p:spPr>
          <a:xfrm>
            <a:off x="7178040" y="3401568"/>
            <a:ext cx="1371600" cy="594360"/>
          </a:xfrm>
          <a:prstGeom prst="rect">
            <a:avLst/>
          </a:prstGeom>
          <a:solidFill>
            <a:srgbClr val="132240"/>
          </a:solidFill>
          <a:ln w="19050">
            <a:solidFill>
              <a:srgbClr val="2D8EF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178040" y="3401568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SafeG AI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411480" y="405993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Cat6 — 90m max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2103120" y="405993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10/100/1000 LAN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5394960" y="405993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uplink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C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F4D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3224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18872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600" b="1" dirty="0">
                <a:solidFill>
                  <a:srgbClr val="2D8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274320" y="219456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Configuration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Testing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274320" y="3520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detection rules, sensitivity and alert routing per zone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74320" y="4800600"/>
            <a:ext cx="54864" cy="228600"/>
          </a:xfrm>
          <a:prstGeom prst="rect">
            <a:avLst/>
          </a:prstGeom>
          <a:solidFill>
            <a:srgbClr val="FF4D00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477316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SAFEG AI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286000" y="477316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 — AI CONFIGURATION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772400" y="477316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22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C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4D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5080F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4800600"/>
            <a:ext cx="54864" cy="228600"/>
          </a:xfrm>
          <a:prstGeom prst="rect">
            <a:avLst/>
          </a:prstGeom>
          <a:solidFill>
            <a:srgbClr val="FF4D00"/>
          </a:solidFill>
          <a:ln/>
        </p:spPr>
      </p:sp>
      <p:sp>
        <p:nvSpPr>
          <p:cNvPr id="5" name="Text 3"/>
          <p:cNvSpPr/>
          <p:nvPr/>
        </p:nvSpPr>
        <p:spPr>
          <a:xfrm>
            <a:off x="384048" y="477316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SAFEG AI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286000" y="477316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AI CONFIGURATION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0" y="477316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150608" y="274320"/>
            <a:ext cx="1737360" cy="237744"/>
          </a:xfrm>
          <a:prstGeom prst="rect">
            <a:avLst/>
          </a:prstGeom>
          <a:solidFill>
            <a:srgbClr val="2D8EFF"/>
          </a:solidFill>
          <a:ln/>
        </p:spPr>
      </p:sp>
      <p:sp>
        <p:nvSpPr>
          <p:cNvPr id="9" name="Text 7"/>
          <p:cNvSpPr/>
          <p:nvPr/>
        </p:nvSpPr>
        <p:spPr>
          <a:xfrm>
            <a:off x="7150608" y="27432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CONFIG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56032" y="256032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Configuring AI Detection Rules Per Zone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256032" y="868680"/>
            <a:ext cx="5029200" cy="2377440"/>
          </a:xfrm>
          <a:prstGeom prst="rect">
            <a:avLst/>
          </a:prstGeom>
          <a:solidFill>
            <a:srgbClr val="1A2E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" y="868680"/>
            <a:ext cx="5029200" cy="50292"/>
          </a:xfrm>
          <a:prstGeom prst="rect">
            <a:avLst/>
          </a:prstGeom>
          <a:solidFill>
            <a:srgbClr val="FF4D00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9326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4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PPE Detection Types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84048" y="1261872"/>
            <a:ext cx="292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⛑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04088" y="129844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Hat / Helmet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04088" y="1499616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8C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detect_helmet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395728" y="1335024"/>
            <a:ext cx="384048" cy="201168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18" name="Text 16"/>
          <p:cNvSpPr/>
          <p:nvPr/>
        </p:nvSpPr>
        <p:spPr>
          <a:xfrm>
            <a:off x="2395728" y="1335024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2761488" y="1261872"/>
            <a:ext cx="292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🦺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081528" y="129844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Vest / Hi-Viz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081528" y="1499616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8C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detect_vest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4773168" y="1335024"/>
            <a:ext cx="384048" cy="201168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23" name="Text 21"/>
          <p:cNvSpPr/>
          <p:nvPr/>
        </p:nvSpPr>
        <p:spPr>
          <a:xfrm>
            <a:off x="4773168" y="1335024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384048" y="1737360"/>
            <a:ext cx="292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👟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04088" y="1773936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Boots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04088" y="1975104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8C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detect_boots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2395728" y="1810512"/>
            <a:ext cx="384048" cy="201168"/>
          </a:xfrm>
          <a:prstGeom prst="rect">
            <a:avLst/>
          </a:prstGeom>
          <a:solidFill>
            <a:srgbClr val="6B8CB8"/>
          </a:solidFill>
          <a:ln/>
        </p:spPr>
      </p:sp>
      <p:sp>
        <p:nvSpPr>
          <p:cNvPr id="28" name="Text 26"/>
          <p:cNvSpPr/>
          <p:nvPr/>
        </p:nvSpPr>
        <p:spPr>
          <a:xfrm>
            <a:off x="2395728" y="1810512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2761488" y="1737360"/>
            <a:ext cx="292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🥽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081528" y="1773936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 Protection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081528" y="1975104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8C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detect_eye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4773168" y="1810512"/>
            <a:ext cx="384048" cy="201168"/>
          </a:xfrm>
          <a:prstGeom prst="rect">
            <a:avLst/>
          </a:prstGeom>
          <a:solidFill>
            <a:srgbClr val="6B8CB8"/>
          </a:solidFill>
          <a:ln/>
        </p:spPr>
      </p:sp>
      <p:sp>
        <p:nvSpPr>
          <p:cNvPr id="33" name="Text 31"/>
          <p:cNvSpPr/>
          <p:nvPr/>
        </p:nvSpPr>
        <p:spPr>
          <a:xfrm>
            <a:off x="4773168" y="1810512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384048" y="2212848"/>
            <a:ext cx="292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🧤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04088" y="2249424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Gloves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04088" y="2450592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8C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detect_gloves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2395728" y="2286000"/>
            <a:ext cx="384048" cy="201168"/>
          </a:xfrm>
          <a:prstGeom prst="rect">
            <a:avLst/>
          </a:prstGeom>
          <a:solidFill>
            <a:srgbClr val="6B8CB8"/>
          </a:solidFill>
          <a:ln/>
        </p:spPr>
      </p:sp>
      <p:sp>
        <p:nvSpPr>
          <p:cNvPr id="38" name="Text 36"/>
          <p:cNvSpPr/>
          <p:nvPr/>
        </p:nvSpPr>
        <p:spPr>
          <a:xfrm>
            <a:off x="2395728" y="2286000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2761488" y="2212848"/>
            <a:ext cx="292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🎧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3081528" y="2249424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 Protection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081528" y="2450592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8C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detect_ear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4773168" y="2286000"/>
            <a:ext cx="384048" cy="201168"/>
          </a:xfrm>
          <a:prstGeom prst="rect">
            <a:avLst/>
          </a:prstGeom>
          <a:solidFill>
            <a:srgbClr val="6B8CB8"/>
          </a:solidFill>
          <a:ln/>
        </p:spPr>
      </p:sp>
      <p:sp>
        <p:nvSpPr>
          <p:cNvPr id="43" name="Text 41"/>
          <p:cNvSpPr/>
          <p:nvPr/>
        </p:nvSpPr>
        <p:spPr>
          <a:xfrm>
            <a:off x="4773168" y="2286000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384048" y="2688336"/>
            <a:ext cx="292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🚧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704088" y="272491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Danger Zone Breach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04088" y="2926080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8C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detect_danger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2395728" y="2761488"/>
            <a:ext cx="384048" cy="201168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48" name="Text 46"/>
          <p:cNvSpPr/>
          <p:nvPr/>
        </p:nvSpPr>
        <p:spPr>
          <a:xfrm>
            <a:off x="2395728" y="276148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ZN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2761488" y="2688336"/>
            <a:ext cx="292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📡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3081528" y="272491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Detection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3081528" y="2926080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8C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detect_motion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4773168" y="2761488"/>
            <a:ext cx="384048" cy="201168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53" name="Text 51"/>
          <p:cNvSpPr/>
          <p:nvPr/>
        </p:nvSpPr>
        <p:spPr>
          <a:xfrm>
            <a:off x="4773168" y="276148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5532120" y="868680"/>
            <a:ext cx="3355848" cy="2377440"/>
          </a:xfrm>
          <a:prstGeom prst="rect">
            <a:avLst/>
          </a:prstGeom>
          <a:solidFill>
            <a:srgbClr val="1A2E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5532120" y="868680"/>
            <a:ext cx="3355848" cy="50292"/>
          </a:xfrm>
          <a:prstGeom prst="rect">
            <a:avLst/>
          </a:prstGeom>
          <a:solidFill>
            <a:srgbClr val="2D8EFF"/>
          </a:solidFill>
          <a:ln/>
        </p:spPr>
      </p:sp>
      <p:sp>
        <p:nvSpPr>
          <p:cNvPr id="56" name="Text 54"/>
          <p:cNvSpPr/>
          <p:nvPr/>
        </p:nvSpPr>
        <p:spPr>
          <a:xfrm>
            <a:off x="5687568" y="93268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8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Sensitivity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5687568" y="1261872"/>
            <a:ext cx="685800" cy="329184"/>
          </a:xfrm>
          <a:prstGeom prst="rect">
            <a:avLst/>
          </a:prstGeom>
          <a:solidFill>
            <a:srgbClr val="FF4D00"/>
          </a:solidFill>
          <a:ln/>
        </p:spPr>
      </p:sp>
      <p:sp>
        <p:nvSpPr>
          <p:cNvPr id="58" name="Text 56"/>
          <p:cNvSpPr/>
          <p:nvPr/>
        </p:nvSpPr>
        <p:spPr>
          <a:xfrm>
            <a:off x="5687568" y="1261872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6437376" y="126187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on every detection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6437376" y="1426464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Welding, Chemical zones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5687568" y="1920240"/>
            <a:ext cx="685800" cy="329184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62" name="Text 60"/>
          <p:cNvSpPr/>
          <p:nvPr/>
        </p:nvSpPr>
        <p:spPr>
          <a:xfrm>
            <a:off x="5687568" y="1920240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6437376" y="192024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after 2+ detections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6437376" y="208483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Assembly, Machine shop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5687568" y="2578608"/>
            <a:ext cx="685800" cy="329184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66" name="Text 64"/>
          <p:cNvSpPr/>
          <p:nvPr/>
        </p:nvSpPr>
        <p:spPr>
          <a:xfrm>
            <a:off x="5687568" y="2578608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6437376" y="257860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on repeated violations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6437376" y="274320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Office, Canteen entry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256032" y="3337560"/>
            <a:ext cx="8631936" cy="1188720"/>
          </a:xfrm>
          <a:prstGeom prst="rect">
            <a:avLst/>
          </a:prstGeom>
          <a:solidFill>
            <a:srgbClr val="1A2E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256032" y="3337560"/>
            <a:ext cx="8631936" cy="50292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71" name="Text 69"/>
          <p:cNvSpPr/>
          <p:nvPr/>
        </p:nvSpPr>
        <p:spPr>
          <a:xfrm>
            <a:off x="411480" y="34015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Routing Configuration</a:t>
            </a:r>
            <a:endParaRPr lang="en-US" sz="1200" dirty="0"/>
          </a:p>
        </p:txBody>
      </p:sp>
      <p:sp>
        <p:nvSpPr>
          <p:cNvPr id="72" name="Text 70"/>
          <p:cNvSpPr/>
          <p:nvPr/>
        </p:nvSpPr>
        <p:spPr>
          <a:xfrm>
            <a:off x="411480" y="374904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WhatsApp: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411480" y="39319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HSE mobile numbers → messages.syyaimsafeg.ai</a:t>
            </a:r>
            <a:endParaRPr lang="en-US" sz="750" dirty="0"/>
          </a:p>
        </p:txBody>
      </p:sp>
      <p:sp>
        <p:nvSpPr>
          <p:cNvPr id="74" name="Text 72"/>
          <p:cNvSpPr/>
          <p:nvPr/>
        </p:nvSpPr>
        <p:spPr>
          <a:xfrm>
            <a:off x="2606040" y="374904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Email: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2606040" y="39319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multiple email IDs in Settings → Alerts → Email recipients</a:t>
            </a:r>
            <a:endParaRPr lang="en-US" sz="750" dirty="0"/>
          </a:p>
        </p:txBody>
      </p:sp>
      <p:sp>
        <p:nvSpPr>
          <p:cNvPr id="76" name="Text 74"/>
          <p:cNvSpPr/>
          <p:nvPr/>
        </p:nvSpPr>
        <p:spPr>
          <a:xfrm>
            <a:off x="4800600" y="374904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Dashboard: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4800600" y="39319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violations auto-appear in live dashboard — no config needed</a:t>
            </a:r>
            <a:endParaRPr lang="en-US" sz="750" dirty="0"/>
          </a:p>
        </p:txBody>
      </p:sp>
      <p:sp>
        <p:nvSpPr>
          <p:cNvPr id="78" name="Text 76"/>
          <p:cNvSpPr/>
          <p:nvPr/>
        </p:nvSpPr>
        <p:spPr>
          <a:xfrm>
            <a:off x="6995160" y="374904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Form 18: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6995160" y="39319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Violations auto-populate Factories Act Form 18 — review weekly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C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4D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5080F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4800600"/>
            <a:ext cx="54864" cy="228600"/>
          </a:xfrm>
          <a:prstGeom prst="rect">
            <a:avLst/>
          </a:prstGeom>
          <a:solidFill>
            <a:srgbClr val="FF4D00"/>
          </a:solidFill>
          <a:ln/>
        </p:spPr>
      </p:sp>
      <p:sp>
        <p:nvSpPr>
          <p:cNvPr id="5" name="Text 3"/>
          <p:cNvSpPr/>
          <p:nvPr/>
        </p:nvSpPr>
        <p:spPr>
          <a:xfrm>
            <a:off x="384048" y="477316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SAFEG AI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286000" y="477316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AI CONFIGURATION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0" y="477316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150608" y="274320"/>
            <a:ext cx="1737360" cy="237744"/>
          </a:xfrm>
          <a:prstGeom prst="rect">
            <a:avLst/>
          </a:prstGeom>
          <a:solidFill>
            <a:srgbClr val="2D8EFF"/>
          </a:solidFill>
          <a:ln/>
        </p:spPr>
      </p:sp>
      <p:sp>
        <p:nvSpPr>
          <p:cNvPr id="9" name="Text 7"/>
          <p:cNvSpPr/>
          <p:nvPr/>
        </p:nvSpPr>
        <p:spPr>
          <a:xfrm>
            <a:off x="7150608" y="27432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56032" y="256032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Pre-Launch Testing &amp; Validation Checklist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256032" y="896112"/>
            <a:ext cx="4224528" cy="1755648"/>
          </a:xfrm>
          <a:prstGeom prst="rect">
            <a:avLst/>
          </a:prstGeom>
          <a:solidFill>
            <a:srgbClr val="1A2E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" y="896112"/>
            <a:ext cx="4224528" cy="50292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13" name="Text 11"/>
          <p:cNvSpPr/>
          <p:nvPr/>
        </p:nvSpPr>
        <p:spPr>
          <a:xfrm>
            <a:off x="393192" y="98755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Connectivity Tests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93192" y="1335024"/>
            <a:ext cx="137160" cy="137160"/>
          </a:xfrm>
          <a:prstGeom prst="rect">
            <a:avLst/>
          </a:prstGeom>
          <a:solidFill>
            <a:srgbClr val="1E3A5F"/>
          </a:solidFill>
          <a:ln w="10160">
            <a:solidFill>
              <a:srgbClr val="00C8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5216" y="129844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cameras show 'Online' status in dashboard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93192" y="1581912"/>
            <a:ext cx="137160" cy="137160"/>
          </a:xfrm>
          <a:prstGeom prst="rect">
            <a:avLst/>
          </a:prstGeom>
          <a:solidFill>
            <a:srgbClr val="1E3A5F"/>
          </a:solidFill>
          <a:ln w="10160">
            <a:solidFill>
              <a:srgbClr val="00C8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5216" y="154533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feed visible for each camera (no black screens)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93192" y="1828800"/>
            <a:ext cx="137160" cy="137160"/>
          </a:xfrm>
          <a:prstGeom prst="rect">
            <a:avLst/>
          </a:prstGeom>
          <a:solidFill>
            <a:srgbClr val="1E3A5F"/>
          </a:solidFill>
          <a:ln w="10160">
            <a:solidFill>
              <a:srgbClr val="00C89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5216" y="179222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confirmed: min. 720p (1080p recommended)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93192" y="2075688"/>
            <a:ext cx="137160" cy="137160"/>
          </a:xfrm>
          <a:prstGeom prst="rect">
            <a:avLst/>
          </a:prstGeom>
          <a:solidFill>
            <a:srgbClr val="1E3A5F"/>
          </a:solidFill>
          <a:ln w="10160">
            <a:solidFill>
              <a:srgbClr val="00C89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5216" y="203911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rate ≥ 3.5 FPS sustained under load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93192" y="2322576"/>
            <a:ext cx="137160" cy="137160"/>
          </a:xfrm>
          <a:prstGeom prst="rect">
            <a:avLst/>
          </a:prstGeom>
          <a:solidFill>
            <a:srgbClr val="1E3A5F"/>
          </a:solidFill>
          <a:ln w="10160">
            <a:solidFill>
              <a:srgbClr val="00C89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5216" y="228600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RTSP stream reconnects automatically after network drop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63440" y="896112"/>
            <a:ext cx="4224528" cy="1755648"/>
          </a:xfrm>
          <a:prstGeom prst="rect">
            <a:avLst/>
          </a:prstGeom>
          <a:solidFill>
            <a:srgbClr val="1A2E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896112"/>
            <a:ext cx="4224528" cy="50292"/>
          </a:xfrm>
          <a:prstGeom prst="rect">
            <a:avLst/>
          </a:prstGeom>
          <a:solidFill>
            <a:srgbClr val="FF4D00"/>
          </a:solidFill>
          <a:ln/>
        </p:spPr>
      </p:sp>
      <p:sp>
        <p:nvSpPr>
          <p:cNvPr id="26" name="Text 24"/>
          <p:cNvSpPr/>
          <p:nvPr/>
        </p:nvSpPr>
        <p:spPr>
          <a:xfrm>
            <a:off x="4800600" y="98755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4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Detection Accuracy Tests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00600" y="1335024"/>
            <a:ext cx="137160" cy="137160"/>
          </a:xfrm>
          <a:prstGeom prst="rect">
            <a:avLst/>
          </a:prstGeom>
          <a:solidFill>
            <a:srgbClr val="1E3A5F"/>
          </a:solidFill>
          <a:ln w="10160">
            <a:solidFill>
              <a:srgbClr val="FF4D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92624" y="129844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through each zone wearing PPE — no false violation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800600" y="1581912"/>
            <a:ext cx="137160" cy="137160"/>
          </a:xfrm>
          <a:prstGeom prst="rect">
            <a:avLst/>
          </a:prstGeom>
          <a:solidFill>
            <a:srgbClr val="1E3A5F"/>
          </a:solidFill>
          <a:ln w="10160">
            <a:solidFill>
              <a:srgbClr val="FF4D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92624" y="154533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hard hat — violation detected within 3 seconds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800600" y="1828800"/>
            <a:ext cx="137160" cy="137160"/>
          </a:xfrm>
          <a:prstGeom prst="rect">
            <a:avLst/>
          </a:prstGeom>
          <a:solidFill>
            <a:srgbClr val="1E3A5F"/>
          </a:solidFill>
          <a:ln w="10160">
            <a:solidFill>
              <a:srgbClr val="FF4D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92624" y="179222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vest — violation detected and alert sent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800600" y="2075688"/>
            <a:ext cx="137160" cy="137160"/>
          </a:xfrm>
          <a:prstGeom prst="rect">
            <a:avLst/>
          </a:prstGeom>
          <a:solidFill>
            <a:srgbClr val="1E3A5F"/>
          </a:solidFill>
          <a:ln w="10160">
            <a:solidFill>
              <a:srgbClr val="FF4D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92624" y="203911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danger zone: enter boundary → instant alert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800600" y="2322576"/>
            <a:ext cx="137160" cy="137160"/>
          </a:xfrm>
          <a:prstGeom prst="rect">
            <a:avLst/>
          </a:prstGeom>
          <a:solidFill>
            <a:srgbClr val="1E3A5F"/>
          </a:solidFill>
          <a:ln w="10160">
            <a:solidFill>
              <a:srgbClr val="FF4D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92624" y="228600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 / low-light test: detection works at shift change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56032" y="2724912"/>
            <a:ext cx="4224528" cy="1755648"/>
          </a:xfrm>
          <a:prstGeom prst="rect">
            <a:avLst/>
          </a:prstGeom>
          <a:solidFill>
            <a:srgbClr val="1A2E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256032" y="2724912"/>
            <a:ext cx="4224528" cy="50292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39" name="Text 37"/>
          <p:cNvSpPr/>
          <p:nvPr/>
        </p:nvSpPr>
        <p:spPr>
          <a:xfrm>
            <a:off x="393192" y="281635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System Tests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93192" y="3163824"/>
            <a:ext cx="137160" cy="137160"/>
          </a:xfrm>
          <a:prstGeom prst="rect">
            <a:avLst/>
          </a:prstGeom>
          <a:solidFill>
            <a:srgbClr val="1E3A5F"/>
          </a:solidFill>
          <a:ln w="10160">
            <a:solidFill>
              <a:srgbClr val="00C89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85216" y="312724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WhatsApp: violation triggers message to HSE number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93192" y="3410712"/>
            <a:ext cx="137160" cy="137160"/>
          </a:xfrm>
          <a:prstGeom prst="rect">
            <a:avLst/>
          </a:prstGeom>
          <a:solidFill>
            <a:srgbClr val="1E3A5F"/>
          </a:solidFill>
          <a:ln w="10160">
            <a:solidFill>
              <a:srgbClr val="00C89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85216" y="337413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Email: receipt confirmed to all recipients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93192" y="3657600"/>
            <a:ext cx="137160" cy="137160"/>
          </a:xfrm>
          <a:prstGeom prst="rect">
            <a:avLst/>
          </a:prstGeom>
          <a:solidFill>
            <a:srgbClr val="1E3A5F"/>
          </a:solidFill>
          <a:ln w="10160">
            <a:solidFill>
              <a:srgbClr val="00C89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85216" y="362102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violation counter increments correctly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93192" y="3904488"/>
            <a:ext cx="137160" cy="137160"/>
          </a:xfrm>
          <a:prstGeom prst="rect">
            <a:avLst/>
          </a:prstGeom>
          <a:solidFill>
            <a:srgbClr val="1E3A5F"/>
          </a:solidFill>
          <a:ln w="10160">
            <a:solidFill>
              <a:srgbClr val="00C89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85216" y="386791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18 auto-populates from test violation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93192" y="4151376"/>
            <a:ext cx="137160" cy="137160"/>
          </a:xfrm>
          <a:prstGeom prst="rect">
            <a:avLst/>
          </a:prstGeom>
          <a:solidFill>
            <a:srgbClr val="1E3A5F"/>
          </a:solidFill>
          <a:ln w="10160">
            <a:solidFill>
              <a:srgbClr val="00C89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85216" y="411480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Acknowledge and resolve flow works end-to-end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663440" y="2724912"/>
            <a:ext cx="4224528" cy="1755648"/>
          </a:xfrm>
          <a:prstGeom prst="rect">
            <a:avLst/>
          </a:prstGeom>
          <a:solidFill>
            <a:srgbClr val="1A2E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4663440" y="2724912"/>
            <a:ext cx="4224528" cy="50292"/>
          </a:xfrm>
          <a:prstGeom prst="rect">
            <a:avLst/>
          </a:prstGeom>
          <a:solidFill>
            <a:srgbClr val="2D8EFF"/>
          </a:solidFill>
          <a:ln/>
        </p:spPr>
      </p:sp>
      <p:sp>
        <p:nvSpPr>
          <p:cNvPr id="52" name="Text 50"/>
          <p:cNvSpPr/>
          <p:nvPr/>
        </p:nvSpPr>
        <p:spPr>
          <a:xfrm>
            <a:off x="4800600" y="281635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8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Access Tests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4800600" y="3163824"/>
            <a:ext cx="137160" cy="137160"/>
          </a:xfrm>
          <a:prstGeom prst="rect">
            <a:avLst/>
          </a:prstGeom>
          <a:solidFill>
            <a:srgbClr val="1E3A5F"/>
          </a:solidFill>
          <a:ln w="10160">
            <a:solidFill>
              <a:srgbClr val="2D8E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992624" y="312724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Admin: can access all plants and settings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800600" y="3410712"/>
            <a:ext cx="137160" cy="137160"/>
          </a:xfrm>
          <a:prstGeom prst="rect">
            <a:avLst/>
          </a:prstGeom>
          <a:solidFill>
            <a:srgbClr val="1E3A5F"/>
          </a:solidFill>
          <a:ln w="10160">
            <a:solidFill>
              <a:srgbClr val="2D8E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992624" y="337413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HSE Officer: can acknowledge violations, cannot edit cameras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4800600" y="3657600"/>
            <a:ext cx="137160" cy="137160"/>
          </a:xfrm>
          <a:prstGeom prst="rect">
            <a:avLst/>
          </a:prstGeom>
          <a:solidFill>
            <a:srgbClr val="1E3A5F"/>
          </a:solidFill>
          <a:ln w="10160">
            <a:solidFill>
              <a:srgbClr val="2D8EF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992624" y="362102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Operator: view-only dashboard, no settings visible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800600" y="3904488"/>
            <a:ext cx="137160" cy="137160"/>
          </a:xfrm>
          <a:prstGeom prst="rect">
            <a:avLst/>
          </a:prstGeom>
          <a:solidFill>
            <a:srgbClr val="1E3A5F"/>
          </a:solidFill>
          <a:ln w="10160">
            <a:solidFill>
              <a:srgbClr val="2D8EF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992624" y="386791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reset flow tested for all user roles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4800600" y="4151376"/>
            <a:ext cx="137160" cy="137160"/>
          </a:xfrm>
          <a:prstGeom prst="rect">
            <a:avLst/>
          </a:prstGeom>
          <a:solidFill>
            <a:srgbClr val="1E3A5F"/>
          </a:solidFill>
          <a:ln w="10160">
            <a:solidFill>
              <a:srgbClr val="2D8EF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992624" y="411480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timeout works after inactivity period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256032" y="4572000"/>
            <a:ext cx="8631936" cy="914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4" name="Text 62"/>
          <p:cNvSpPr/>
          <p:nvPr/>
        </p:nvSpPr>
        <p:spPr>
          <a:xfrm>
            <a:off x="256032" y="4572000"/>
            <a:ext cx="86319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All tests passed = System is ready for Go-Live. SafeG AI team must countersign the acceptance form.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C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F4D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3224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18872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274320" y="219456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Go-Live &amp;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Support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274320" y="3520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day live, Form 18 workflow, and how to get help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74320" y="4800600"/>
            <a:ext cx="54864" cy="228600"/>
          </a:xfrm>
          <a:prstGeom prst="rect">
            <a:avLst/>
          </a:prstGeom>
          <a:solidFill>
            <a:srgbClr val="FF4D00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477316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SAFEG AI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286000" y="477316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06 — GO-LIVE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772400" y="477316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22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C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4D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5080F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4800600"/>
            <a:ext cx="54864" cy="228600"/>
          </a:xfrm>
          <a:prstGeom prst="rect">
            <a:avLst/>
          </a:prstGeom>
          <a:solidFill>
            <a:srgbClr val="FF4D00"/>
          </a:solidFill>
          <a:ln/>
        </p:spPr>
      </p:sp>
      <p:sp>
        <p:nvSpPr>
          <p:cNvPr id="5" name="Text 3"/>
          <p:cNvSpPr/>
          <p:nvPr/>
        </p:nvSpPr>
        <p:spPr>
          <a:xfrm>
            <a:off x="384048" y="477316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SAFEG AI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286000" y="477316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GO-LIVE &amp; SUPPORT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0" y="477316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150608" y="274320"/>
            <a:ext cx="1737360" cy="23774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9" name="Text 7"/>
          <p:cNvSpPr/>
          <p:nvPr/>
        </p:nvSpPr>
        <p:spPr>
          <a:xfrm>
            <a:off x="7150608" y="27432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GO-LIVE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56032" y="256032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Go-Live Day &amp; Form 18 Compliance Workflow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256032" y="868680"/>
            <a:ext cx="5303520" cy="1828800"/>
          </a:xfrm>
          <a:prstGeom prst="rect">
            <a:avLst/>
          </a:prstGeom>
          <a:solidFill>
            <a:srgbClr val="1A2E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" y="868680"/>
            <a:ext cx="5303520" cy="50292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93268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Go-Live Day Sequence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1480" y="1261872"/>
            <a:ext cx="594360" cy="201168"/>
          </a:xfrm>
          <a:prstGeom prst="rect">
            <a:avLst/>
          </a:prstGeom>
          <a:solidFill>
            <a:srgbClr val="FF4D00"/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" y="1261872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08:00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078992" y="1261872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SafeG AI team performs final camera check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11480" y="1490472"/>
            <a:ext cx="594360" cy="201168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" y="1490472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09:00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078992" y="1490472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button pressed — cameras go live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11480" y="1719072"/>
            <a:ext cx="594360" cy="201168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21" name="Text 19"/>
          <p:cNvSpPr/>
          <p:nvPr/>
        </p:nvSpPr>
        <p:spPr>
          <a:xfrm>
            <a:off x="411480" y="1719072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09:15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078992" y="1719072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HSE Officer confirms WhatsApp alerts working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11480" y="1947672"/>
            <a:ext cx="594360" cy="201168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24" name="Text 22"/>
          <p:cNvSpPr/>
          <p:nvPr/>
        </p:nvSpPr>
        <p:spPr>
          <a:xfrm>
            <a:off x="411480" y="1947672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10:00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078992" y="1947672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shift monitoring begins — first KPIs visible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11480" y="2176272"/>
            <a:ext cx="594360" cy="201168"/>
          </a:xfrm>
          <a:prstGeom prst="rect">
            <a:avLst/>
          </a:prstGeom>
          <a:solidFill>
            <a:srgbClr val="2D8EFF"/>
          </a:solidFill>
          <a:ln/>
        </p:spPr>
      </p:sp>
      <p:sp>
        <p:nvSpPr>
          <p:cNvPr id="27" name="Text 25"/>
          <p:cNvSpPr/>
          <p:nvPr/>
        </p:nvSpPr>
        <p:spPr>
          <a:xfrm>
            <a:off x="411480" y="2176272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16:00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078992" y="2176272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End-of-shift review: violations, patterns, gaps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11480" y="2404872"/>
            <a:ext cx="594360" cy="20116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0" name="Text 28"/>
          <p:cNvSpPr/>
          <p:nvPr/>
        </p:nvSpPr>
        <p:spPr>
          <a:xfrm>
            <a:off x="411480" y="2404872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17:00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078992" y="2404872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18 first draft auto-generated — HSE reviews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806440" y="868680"/>
            <a:ext cx="3081528" cy="1828800"/>
          </a:xfrm>
          <a:prstGeom prst="rect">
            <a:avLst/>
          </a:prstGeom>
          <a:solidFill>
            <a:srgbClr val="1A2E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806440" y="868680"/>
            <a:ext cx="3081528" cy="50292"/>
          </a:xfrm>
          <a:prstGeom prst="rect">
            <a:avLst/>
          </a:prstGeom>
          <a:solidFill>
            <a:srgbClr val="FF4D00"/>
          </a:solidFill>
          <a:ln/>
        </p:spPr>
      </p:sp>
      <p:sp>
        <p:nvSpPr>
          <p:cNvPr id="34" name="Text 32"/>
          <p:cNvSpPr/>
          <p:nvPr/>
        </p:nvSpPr>
        <p:spPr>
          <a:xfrm>
            <a:off x="5961888" y="9326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4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Form 18 Workflow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961888" y="1261872"/>
            <a:ext cx="457200" cy="457200"/>
          </a:xfrm>
          <a:prstGeom prst="ellipse">
            <a:avLst/>
          </a:prstGeom>
          <a:solidFill>
            <a:srgbClr val="FF4D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61888" y="1261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492240" y="126187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auto-fills 94% of fields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961888" y="1536192"/>
            <a:ext cx="457200" cy="457200"/>
          </a:xfrm>
          <a:prstGeom prst="ellipse">
            <a:avLst/>
          </a:prstGeom>
          <a:solidFill>
            <a:srgbClr val="FF4D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961888" y="1536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492240" y="15361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HSE Officer reviews &amp; edits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961888" y="1810512"/>
            <a:ext cx="457200" cy="457200"/>
          </a:xfrm>
          <a:prstGeom prst="ellipse">
            <a:avLst/>
          </a:prstGeom>
          <a:solidFill>
            <a:srgbClr val="FF4D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61888" y="1810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6492240" y="18105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Manager approves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961888" y="2084832"/>
            <a:ext cx="457200" cy="457200"/>
          </a:xfrm>
          <a:prstGeom prst="ellipse">
            <a:avLst/>
          </a:prstGeom>
          <a:solidFill>
            <a:srgbClr val="FF4D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961888" y="2084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6492240" y="20848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generated — inspector-ready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961888" y="2359152"/>
            <a:ext cx="457200" cy="457200"/>
          </a:xfrm>
          <a:prstGeom prst="ellipse">
            <a:avLst/>
          </a:prstGeom>
          <a:solidFill>
            <a:srgbClr val="FF4D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961888" y="2359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6492240" y="23591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 in SafeG reports vault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256032" y="2834640"/>
            <a:ext cx="8631936" cy="1691640"/>
          </a:xfrm>
          <a:prstGeom prst="rect">
            <a:avLst/>
          </a:prstGeom>
          <a:solidFill>
            <a:srgbClr val="1A2E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256032" y="2834640"/>
            <a:ext cx="8631936" cy="50292"/>
          </a:xfrm>
          <a:prstGeom prst="rect">
            <a:avLst/>
          </a:prstGeom>
          <a:solidFill>
            <a:srgbClr val="2D8EFF"/>
          </a:solidFill>
          <a:ln/>
        </p:spPr>
      </p:sp>
      <p:sp>
        <p:nvSpPr>
          <p:cNvPr id="52" name="Text 50"/>
          <p:cNvSpPr/>
          <p:nvPr/>
        </p:nvSpPr>
        <p:spPr>
          <a:xfrm>
            <a:off x="411480" y="28986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8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📞  Support Contacts &amp; SLA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347472" y="3218688"/>
            <a:ext cx="2029968" cy="1188720"/>
          </a:xfrm>
          <a:prstGeom prst="rect">
            <a:avLst/>
          </a:prstGeom>
          <a:solidFill>
            <a:srgbClr val="1A2E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347472" y="3218688"/>
            <a:ext cx="2029968" cy="50292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55" name="Text 53"/>
          <p:cNvSpPr/>
          <p:nvPr/>
        </p:nvSpPr>
        <p:spPr>
          <a:xfrm>
            <a:off x="475488" y="329184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Support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475488" y="352044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+91 98765 43210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475488" y="374904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× 7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2523744" y="3218688"/>
            <a:ext cx="2029968" cy="1188720"/>
          </a:xfrm>
          <a:prstGeom prst="rect">
            <a:avLst/>
          </a:prstGeom>
          <a:solidFill>
            <a:srgbClr val="1A2E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2523744" y="3218688"/>
            <a:ext cx="2029968" cy="50292"/>
          </a:xfrm>
          <a:prstGeom prst="rect">
            <a:avLst/>
          </a:prstGeom>
          <a:solidFill>
            <a:srgbClr val="2D8EFF"/>
          </a:solidFill>
          <a:ln/>
        </p:spPr>
      </p:sp>
      <p:sp>
        <p:nvSpPr>
          <p:cNvPr id="60" name="Text 58"/>
          <p:cNvSpPr/>
          <p:nvPr/>
        </p:nvSpPr>
        <p:spPr>
          <a:xfrm>
            <a:off x="2651760" y="329184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8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Support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2651760" y="352044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support@syyaimsafeg.ai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2651760" y="374904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4hr response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4700016" y="3218688"/>
            <a:ext cx="2029968" cy="1188720"/>
          </a:xfrm>
          <a:prstGeom prst="rect">
            <a:avLst/>
          </a:prstGeom>
          <a:solidFill>
            <a:srgbClr val="1A2E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4700016" y="3218688"/>
            <a:ext cx="2029968" cy="50292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65" name="Text 63"/>
          <p:cNvSpPr/>
          <p:nvPr/>
        </p:nvSpPr>
        <p:spPr>
          <a:xfrm>
            <a:off x="4828032" y="329184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CSM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4828032" y="352044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dedicated manager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4828032" y="374904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hours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6876288" y="3218688"/>
            <a:ext cx="2029968" cy="1188720"/>
          </a:xfrm>
          <a:prstGeom prst="rect">
            <a:avLst/>
          </a:prstGeom>
          <a:solidFill>
            <a:srgbClr val="1A2E4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6876288" y="3218688"/>
            <a:ext cx="2029968" cy="50292"/>
          </a:xfrm>
          <a:prstGeom prst="rect">
            <a:avLst/>
          </a:prstGeom>
          <a:solidFill>
            <a:srgbClr val="FF4D00"/>
          </a:solidFill>
          <a:ln/>
        </p:spPr>
      </p:sp>
      <p:sp>
        <p:nvSpPr>
          <p:cNvPr id="70" name="Text 68"/>
          <p:cNvSpPr/>
          <p:nvPr/>
        </p:nvSpPr>
        <p:spPr>
          <a:xfrm>
            <a:off x="7004304" y="329184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4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Line</a:t>
            </a:r>
            <a:endParaRPr lang="en-US" sz="950" dirty="0"/>
          </a:p>
        </p:txBody>
      </p:sp>
      <p:sp>
        <p:nvSpPr>
          <p:cNvPr id="71" name="Text 69"/>
          <p:cNvSpPr/>
          <p:nvPr/>
        </p:nvSpPr>
        <p:spPr>
          <a:xfrm>
            <a:off x="7004304" y="352044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+91 98765 43220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7004304" y="374904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issues 24×7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5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F4D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C1525"/>
          </a:solidFill>
          <a:ln/>
        </p:spPr>
      </p:sp>
      <p:sp>
        <p:nvSpPr>
          <p:cNvPr id="4" name="Text 2"/>
          <p:cNvSpPr/>
          <p:nvPr/>
        </p:nvSpPr>
        <p:spPr>
          <a:xfrm>
            <a:off x="256032" y="82296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800" kern="0" dirty="0">
                <a:solidFill>
                  <a:srgbClr val="FF4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SAFEG AI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56032" y="1261872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Ready to Go Live.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256032" y="214884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SafeG AI will now monitor your factory 24/7 — reducing PPE violations, simplifying compliance and keeping your workers safe.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56032" y="2944368"/>
            <a:ext cx="2029968" cy="658368"/>
          </a:xfrm>
          <a:prstGeom prst="rect">
            <a:avLst/>
          </a:prstGeom>
          <a:solidFill>
            <a:srgbClr val="1322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29900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  Dashboard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47472" y="32369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4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app.syyaimsafeg.ai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68880" y="2944368"/>
            <a:ext cx="2029968" cy="658368"/>
          </a:xfrm>
          <a:prstGeom prst="rect">
            <a:avLst/>
          </a:prstGeom>
          <a:solidFill>
            <a:srgbClr val="1322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0" y="29900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🛟  Support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560320" y="32369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4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support.syyaimsafeg.ai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81728" y="2944368"/>
            <a:ext cx="2029968" cy="658368"/>
          </a:xfrm>
          <a:prstGeom prst="rect">
            <a:avLst/>
          </a:prstGeom>
          <a:solidFill>
            <a:srgbClr val="1322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73168" y="29900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Docs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773168" y="32369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4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docs.syyaimsafeg.ai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894576" y="2944368"/>
            <a:ext cx="2029968" cy="658368"/>
          </a:xfrm>
          <a:prstGeom prst="rect">
            <a:avLst/>
          </a:prstGeom>
          <a:solidFill>
            <a:srgbClr val="1322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86016" y="29900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8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WhatsApp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986016" y="32369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4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+91 98765 43210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56032" y="37307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SafeG AI onboarding team is available 24×7 during the first 30 days — call anytime.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56032" y="4773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1.0  ·  Confidential  ·  © 2025 Syyaim SafeG AI Pvt. Ltd.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772400" y="477316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22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SafeG AI — Customer Onboarding &amp; Camera Integration Guide</dc:title>
  <dc:subject>Complete Integration Guide</dc:subject>
  <dc:creator>Syyaim SafeG AI</dc:creator>
  <cp:lastModifiedBy>Syyaim SafeG AI</cp:lastModifiedBy>
  <cp:revision>1</cp:revision>
  <dcterms:created xsi:type="dcterms:W3CDTF">2026-03-09T15:39:38Z</dcterms:created>
  <dcterms:modified xsi:type="dcterms:W3CDTF">2026-03-09T15:39:38Z</dcterms:modified>
</cp:coreProperties>
</file>