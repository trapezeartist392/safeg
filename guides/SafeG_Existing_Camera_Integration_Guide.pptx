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320040"/>
            <a:ext cx="502920" cy="384048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14032" y="402336"/>
            <a:ext cx="164592" cy="164592"/>
          </a:xfrm>
          <a:prstGeom prst="ellipse">
            <a:avLst/>
          </a:prstGeom>
          <a:solidFill>
            <a:srgbClr val="234272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20040"/>
            <a:ext cx="502920" cy="384048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54112" y="402336"/>
            <a:ext cx="164592" cy="164592"/>
          </a:xfrm>
          <a:prstGeom prst="ellipse">
            <a:avLst/>
          </a:prstGeom>
          <a:solidFill>
            <a:srgbClr val="23427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320040"/>
            <a:ext cx="502920" cy="384048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402336"/>
            <a:ext cx="164592" cy="164592"/>
          </a:xfrm>
          <a:prstGeom prst="ellipse">
            <a:avLst/>
          </a:prstGeom>
          <a:solidFill>
            <a:srgbClr val="234272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868680"/>
            <a:ext cx="502920" cy="384048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4032" y="950976"/>
            <a:ext cx="164592" cy="164592"/>
          </a:xfrm>
          <a:prstGeom prst="ellipse">
            <a:avLst/>
          </a:prstGeom>
          <a:solidFill>
            <a:srgbClr val="234272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868680"/>
            <a:ext cx="502920" cy="384048"/>
          </a:xfrm>
          <a:prstGeom prst="rect">
            <a:avLst/>
          </a:prstGeom>
          <a:solidFill>
            <a:srgbClr val="122240"/>
          </a:solidFill>
          <a:ln w="25400">
            <a:solidFill>
              <a:srgbClr val="FF4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54112" y="950976"/>
            <a:ext cx="164592" cy="164592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3568" y="923544"/>
            <a:ext cx="82296" cy="82296"/>
          </a:xfrm>
          <a:prstGeom prst="ellipse">
            <a:avLst/>
          </a:prstGeom>
          <a:solidFill>
            <a:srgbClr val="FF3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868680"/>
            <a:ext cx="502920" cy="384048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950976"/>
            <a:ext cx="164592" cy="164592"/>
          </a:xfrm>
          <a:prstGeom prst="ellipse">
            <a:avLst/>
          </a:prstGeom>
          <a:solidFill>
            <a:srgbClr val="234272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1417320"/>
            <a:ext cx="502920" cy="384048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4032" y="1499616"/>
            <a:ext cx="164592" cy="164592"/>
          </a:xfrm>
          <a:prstGeom prst="ellipse">
            <a:avLst/>
          </a:prstGeom>
          <a:solidFill>
            <a:srgbClr val="234272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0" y="1417320"/>
            <a:ext cx="502920" cy="384048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54112" y="1499616"/>
            <a:ext cx="164592" cy="164592"/>
          </a:xfrm>
          <a:prstGeom prst="ellipse">
            <a:avLst/>
          </a:prstGeom>
          <a:solidFill>
            <a:srgbClr val="23427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1417320"/>
            <a:ext cx="502920" cy="384048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94192" y="1499616"/>
            <a:ext cx="164592" cy="164592"/>
          </a:xfrm>
          <a:prstGeom prst="ellipse">
            <a:avLst/>
          </a:prstGeom>
          <a:solidFill>
            <a:srgbClr val="23427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874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CAMERAS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56032" y="658368"/>
            <a:ext cx="2194560" cy="25603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" y="658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CAMERA ONBOARDING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6032" y="9601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256032" y="24871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already-installed factory cameras to SafeG AI in one day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hardware, no disruption to operations.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56032" y="3246120"/>
            <a:ext cx="1691640" cy="310896"/>
          </a:xfrm>
          <a:prstGeom prst="rect">
            <a:avLst/>
          </a:prstGeom>
          <a:solidFill>
            <a:srgbClr val="12224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2461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84832" y="3246120"/>
            <a:ext cx="1691640" cy="310896"/>
          </a:xfrm>
          <a:prstGeom prst="rect">
            <a:avLst/>
          </a:prstGeom>
          <a:solidFill>
            <a:srgbClr val="12224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32461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 Setup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13632" y="3246120"/>
            <a:ext cx="1691640" cy="310896"/>
          </a:xfrm>
          <a:prstGeom prst="rect">
            <a:avLst/>
          </a:prstGeom>
          <a:solidFill>
            <a:srgbClr val="12224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3632" y="32461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Brand Camera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742432" y="3246120"/>
            <a:ext cx="1691640" cy="310896"/>
          </a:xfrm>
          <a:prstGeom prst="rect">
            <a:avLst/>
          </a:prstGeom>
          <a:solidFill>
            <a:srgbClr val="12224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32461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 / SDK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" y="4809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Confidential  ·  © 2025 Syyaim SafeG AI Pvt. Ltd.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772400" y="4809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Covers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402336" cy="402336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932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9509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How It Works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11521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with your existing cameras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353312"/>
            <a:ext cx="8631936" cy="6401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481328"/>
            <a:ext cx="402336" cy="402336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" y="14996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Pre-Integration Checklist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" y="17007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before connecting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1901952"/>
            <a:ext cx="8631936" cy="6401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18" name="Shape 16"/>
          <p:cNvSpPr/>
          <p:nvPr/>
        </p:nvSpPr>
        <p:spPr>
          <a:xfrm>
            <a:off x="256032" y="2029968"/>
            <a:ext cx="402336" cy="40233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20482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Discovery &amp; Audit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" y="22494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RTSP discovery, compatibility check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450592"/>
            <a:ext cx="8631936" cy="6401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" y="2578608"/>
            <a:ext cx="402336" cy="40233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" y="2596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Account &amp; Wizard Setup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" y="2798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plant, zones and camera registration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999232"/>
            <a:ext cx="8631936" cy="6401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032" y="3127248"/>
            <a:ext cx="402336" cy="402336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" y="31455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Cameras to SafeG AI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8096" y="33467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RTSP/ONVIF/SDK methods, brand-by-brand guide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547872"/>
            <a:ext cx="8631936" cy="6401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33" name="Shape 31"/>
          <p:cNvSpPr/>
          <p:nvPr/>
        </p:nvSpPr>
        <p:spPr>
          <a:xfrm>
            <a:off x="256032" y="3675888"/>
            <a:ext cx="402336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" y="36941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Validation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8096" y="38953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errors, fixes and live-stream testing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4096512"/>
            <a:ext cx="8631936" cy="6401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38" name="Shape 36"/>
          <p:cNvSpPr/>
          <p:nvPr/>
        </p:nvSpPr>
        <p:spPr>
          <a:xfrm>
            <a:off x="256032" y="4224528"/>
            <a:ext cx="402336" cy="402336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" y="42428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Rules, Alerts &amp; Go-Live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8096" y="44439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config, WhatsApp alerts, Form 18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4645152"/>
            <a:ext cx="8631936" cy="6401"/>
          </a:xfrm>
          <a:prstGeom prst="rect">
            <a:avLst/>
          </a:prstGeom>
          <a:solidFill>
            <a:srgbClr val="1E386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activates on your existing camera infrastructure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OVERVIEW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SafeG AI Works With Existing Cameras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960120"/>
            <a:ext cx="1572768" cy="320040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960120"/>
            <a:ext cx="1572768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1353312" cy="548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" y="2148840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Hikvision·Dahua·Axis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Bosch·CP Plus·ONVIF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56232" y="2633472"/>
            <a:ext cx="109728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1938528" y="2523744"/>
            <a:ext cx="54864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1993392" y="960120"/>
            <a:ext cx="1572768" cy="320040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93392" y="960120"/>
            <a:ext cx="1572768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1" name="Text 19"/>
          <p:cNvSpPr/>
          <p:nvPr/>
        </p:nvSpPr>
        <p:spPr>
          <a:xfrm>
            <a:off x="1993392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993392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03120" y="2103120"/>
            <a:ext cx="1353312" cy="5486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4" name="Text 22"/>
          <p:cNvSpPr/>
          <p:nvPr/>
        </p:nvSpPr>
        <p:spPr>
          <a:xfrm>
            <a:off x="1993392" y="2148840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LAN — no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added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93592" y="2633472"/>
            <a:ext cx="109728" cy="54864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675888" y="2523744"/>
            <a:ext cx="54864" cy="2743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730752" y="960120"/>
            <a:ext cx="1572768" cy="320040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30752" y="960120"/>
            <a:ext cx="1572768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9" name="Text 27"/>
          <p:cNvSpPr/>
          <p:nvPr/>
        </p:nvSpPr>
        <p:spPr>
          <a:xfrm>
            <a:off x="3730752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730752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Cloud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0" y="2103120"/>
            <a:ext cx="1353312" cy="5486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2" name="Text 30"/>
          <p:cNvSpPr/>
          <p:nvPr/>
        </p:nvSpPr>
        <p:spPr>
          <a:xfrm>
            <a:off x="3730752" y="2148840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frames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 FPS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30952" y="2633472"/>
            <a:ext cx="109728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413248" y="2523744"/>
            <a:ext cx="54864" cy="2743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5" name="Shape 33"/>
          <p:cNvSpPr/>
          <p:nvPr/>
        </p:nvSpPr>
        <p:spPr>
          <a:xfrm>
            <a:off x="5468112" y="960120"/>
            <a:ext cx="1572768" cy="320040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68112" y="960120"/>
            <a:ext cx="1572768" cy="45720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37" name="Text 35"/>
          <p:cNvSpPr/>
          <p:nvPr/>
        </p:nvSpPr>
        <p:spPr>
          <a:xfrm>
            <a:off x="5468112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468112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77840" y="2103120"/>
            <a:ext cx="1353312" cy="5486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40" name="Text 38"/>
          <p:cNvSpPr/>
          <p:nvPr/>
        </p:nvSpPr>
        <p:spPr>
          <a:xfrm>
            <a:off x="5468112" y="2148840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flagged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Email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28s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68312" y="2633472"/>
            <a:ext cx="109728" cy="54864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42" name="Shape 40"/>
          <p:cNvSpPr/>
          <p:nvPr/>
        </p:nvSpPr>
        <p:spPr>
          <a:xfrm>
            <a:off x="7150608" y="2523744"/>
            <a:ext cx="54864" cy="274320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43" name="Shape 41"/>
          <p:cNvSpPr/>
          <p:nvPr/>
        </p:nvSpPr>
        <p:spPr>
          <a:xfrm>
            <a:off x="7205472" y="960120"/>
            <a:ext cx="1572768" cy="320040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05472" y="960120"/>
            <a:ext cx="1572768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5" name="Text 43"/>
          <p:cNvSpPr/>
          <p:nvPr/>
        </p:nvSpPr>
        <p:spPr>
          <a:xfrm>
            <a:off x="7205472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7205472" y="157276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315200" y="2103120"/>
            <a:ext cx="1353312" cy="548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8" name="Text 46"/>
          <p:cNvSpPr/>
          <p:nvPr/>
        </p:nvSpPr>
        <p:spPr>
          <a:xfrm>
            <a:off x="7205472" y="2148840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Inspection-ready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4590288"/>
            <a:ext cx="8631936" cy="109728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50" name="Text 48"/>
          <p:cNvSpPr/>
          <p:nvPr/>
        </p:nvSpPr>
        <p:spPr>
          <a:xfrm>
            <a:off x="256032" y="4572000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reads the RTSP video stream from your existing cameras — zero new wiring, zero camera replacement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Compatibility — What We Support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96112"/>
            <a:ext cx="5120640" cy="365760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96112"/>
            <a:ext cx="5120640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69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FULLY SUPPORTED BRANDS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353312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1298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59152" y="1298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· ISAPI SDK · ONVIF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353312"/>
            <a:ext cx="566928" cy="1828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533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1682496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1627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Dahua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59152" y="1627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· DHOP SDK · ONVIF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682496"/>
            <a:ext cx="566928" cy="1828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824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2011680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" y="1956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59152" y="1956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· VAPIX API · ONVIF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011680"/>
            <a:ext cx="566928" cy="1828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011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11480" y="2340864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" y="2286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59152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· ONVIF Profile 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340864"/>
            <a:ext cx="566928" cy="1828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3408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1480" y="2670048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" y="2615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Plus (CPDI)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59152" y="26151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· ONVIF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670048"/>
            <a:ext cx="566928" cy="1828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670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2999232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" y="2944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Hanwha/Samsung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359152" y="29443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· Sunapi · ONVIF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999232"/>
            <a:ext cx="566928" cy="1828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29992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11480" y="3328416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" y="3273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Uniview (UNV)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59152" y="3273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· ONVIF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328416"/>
            <a:ext cx="566928" cy="1828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33284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Tested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1480" y="3657600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0" name="Text 48"/>
          <p:cNvSpPr/>
          <p:nvPr/>
        </p:nvSpPr>
        <p:spPr>
          <a:xfrm>
            <a:off x="585216" y="36027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Reolink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359152" y="36027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(enable in camera settings)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3657600"/>
            <a:ext cx="566928" cy="1828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36576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11480" y="3986784"/>
            <a:ext cx="109728" cy="1097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5" name="Text 53"/>
          <p:cNvSpPr/>
          <p:nvPr/>
        </p:nvSpPr>
        <p:spPr>
          <a:xfrm>
            <a:off x="585216" y="3931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ONVIF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359152" y="3931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ONVIF Profile S / 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3986784"/>
            <a:ext cx="566928" cy="1828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58" name="Text 56"/>
          <p:cNvSpPr/>
          <p:nvPr/>
        </p:nvSpPr>
        <p:spPr>
          <a:xfrm>
            <a:off x="4754880" y="39867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Supported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577840" y="896112"/>
            <a:ext cx="3310128" cy="365760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577840" y="896112"/>
            <a:ext cx="3310128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61" name="Text 59"/>
          <p:cNvSpPr/>
          <p:nvPr/>
        </p:nvSpPr>
        <p:spPr>
          <a:xfrm>
            <a:off x="5742432" y="969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REQUIREMENTS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742432" y="1298448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🎥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108192" y="1316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08192" y="1499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 minimum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(1080p recommended)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742432" y="1792224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108192" y="18105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08192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RTSP, ONVIF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brand SDK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742432" y="2286000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🖧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108192" y="23042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108192" y="2487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on same LAN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SafeG AI server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742432" y="2779776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108192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108192" y="2980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FPS live stream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FPS used by AI)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742432" y="3273552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108192" y="3291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108192" y="3474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login (admin/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password) needed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742432" y="3767328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108192" y="37856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Lighting: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108192" y="3968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200 lux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OK for night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Pre-Integration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everything you need before starting the connection process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PRE-INTEGRATION CHECKLIST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PRE-INTEGRATION CHECKLIST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PRE-INTEGRATION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Collect Before You Begin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96112"/>
            <a:ext cx="2788920" cy="376732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96112"/>
            <a:ext cx="2788920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9875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CAMERA INFORMATION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3350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2984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make and model (for each camera)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17922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firmware version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22494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212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IP address (static or DHCP-reserved)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27066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700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username and password for each camera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1638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272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port (default: 554) — confirm not changed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6210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844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cameras per zone/area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40782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41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location and height notes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896112"/>
            <a:ext cx="2788920" cy="376732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896112"/>
            <a:ext cx="2788920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30" name="Text 28"/>
          <p:cNvSpPr/>
          <p:nvPr/>
        </p:nvSpPr>
        <p:spPr>
          <a:xfrm>
            <a:off x="3264408" y="9875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 INFORMATION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82696" y="13350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2984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range of camera VLAN/subnet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82696" y="17922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type and PoE details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82696" y="22494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212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upload speed (min 10 Mbps)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82696" y="27066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26700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— confirm port 554 open (RTSP)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82696" y="31638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1272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 IP address (if cameras are behind an NVR)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82696" y="36210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3008" y="35844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SSID (if any cameras are wireless)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82696" y="40782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4041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access details (if cameras on separate network)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896112"/>
            <a:ext cx="2788920" cy="376732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35040" y="896112"/>
            <a:ext cx="2788920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47" name="Text 45"/>
          <p:cNvSpPr/>
          <p:nvPr/>
        </p:nvSpPr>
        <p:spPr>
          <a:xfrm>
            <a:off x="6144768" y="9875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PLANT INFORMATION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63056" y="13350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73368" y="12984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name and full address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63056" y="17922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Licence Number (Form 18)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63056" y="22494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2212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zones/areas (Welding, Assembly…)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63056" y="27066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73368" y="26700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requirements per zone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63056" y="31638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3368" y="31272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 name and mobile number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63056" y="36210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73368" y="35844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Manager name and email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63056" y="4078224"/>
            <a:ext cx="164592" cy="164592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73368" y="4041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workers per shift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56032" y="4608576"/>
            <a:ext cx="8631936" cy="109728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63" name="Text 61"/>
          <p:cNvSpPr/>
          <p:nvPr/>
        </p:nvSpPr>
        <p:spPr>
          <a:xfrm>
            <a:off x="256032" y="459028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Download the Camera Inventory Sheet from docs.syyaimsafeg.ai to record all details before Day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Discovery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camera on your network, check compatibility and map them to zones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CAMERA DISCOVERY &amp; AUDIT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CAMERA DISCOVERY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Discover All Cameras on the Network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96112"/>
            <a:ext cx="5029200" cy="192024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96112"/>
            <a:ext cx="5029200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692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 — SafeG AI Auto-Discovery (Recommended)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129844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SafeG onboarding wizard, run the built-in camera scanner: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1572768"/>
            <a:ext cx="438912" cy="438912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wizard → Camera Registration → Click 'Scan Network'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1865376"/>
            <a:ext cx="438912" cy="438912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865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18653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camera subnet: e.g. 192.168.10.0/24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157984"/>
            <a:ext cx="438912" cy="438912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21579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finds all RTSP/ONVIF devices and lists their IPs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450592"/>
            <a:ext cx="438912" cy="438912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2450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each result to auto-fill IP, port and stream path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896112"/>
            <a:ext cx="3310128" cy="192024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896112"/>
            <a:ext cx="3310128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9" name="Text 27"/>
          <p:cNvSpPr/>
          <p:nvPr/>
        </p:nvSpPr>
        <p:spPr>
          <a:xfrm>
            <a:off x="5742432" y="9692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 — Manual Discovery Tools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42432" y="1298448"/>
            <a:ext cx="91440" cy="1645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31" name="Text 29"/>
          <p:cNvSpPr/>
          <p:nvPr/>
        </p:nvSpPr>
        <p:spPr>
          <a:xfrm>
            <a:off x="5888736" y="12984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ONVIF Device Manager: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88736" y="14630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Windows tool. Finds all ONVIF cameras on LAN instantly.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42432" y="1645920"/>
            <a:ext cx="91440" cy="1645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34" name="Text 32"/>
          <p:cNvSpPr/>
          <p:nvPr/>
        </p:nvSpPr>
        <p:spPr>
          <a:xfrm>
            <a:off x="5888736" y="16459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IP Scanner: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88736" y="18105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subnet, look for port 554 open = likely RTSP camera.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42432" y="1993392"/>
            <a:ext cx="91440" cy="1645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37" name="Text 35"/>
          <p:cNvSpPr/>
          <p:nvPr/>
        </p:nvSpPr>
        <p:spPr>
          <a:xfrm>
            <a:off x="5888736" y="19933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 SADP Tool: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88736" y="21579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Hikvision-only. Shows all HIK cameras, lets you reset IPs.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42432" y="2340864"/>
            <a:ext cx="91440" cy="1645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40" name="Text 38"/>
          <p:cNvSpPr/>
          <p:nvPr/>
        </p:nvSpPr>
        <p:spPr>
          <a:xfrm>
            <a:off x="5888736" y="234086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Dahua ConfigTool: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88736" y="25054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Dahua-only. Finds and configures all Dahua cameras on LAN.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6032" y="2926080"/>
            <a:ext cx="8631936" cy="162763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2926080"/>
            <a:ext cx="8631936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Inventory Worksheet — Complete One Row Per Camera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291840"/>
          <a:ext cx="8449056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1371600"/>
                <a:gridCol w="1371600"/>
                <a:gridCol w="822960"/>
                <a:gridCol w="914400"/>
                <a:gridCol w="14081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Brand/Model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RTSP 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CAM-001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Hikvision DS-2CD2143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Welding Bay 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⬜ Pending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CAM-002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Dahua IPC-HDW2831T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⬜ Pending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CAM-003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Plus CP-UNK-1080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 Zone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⬜ Pending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CAMERA DISCOVERY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Camera Health &amp; Compatibility Audit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discovered camera, verify these 5 health checks before connecting to SafeG AI: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078992"/>
            <a:ext cx="402336" cy="402336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10972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RTSP Stream Accessible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13167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VLC → Media → Open Network → Enter rtsp://admin:PASSWORD@CAMERA_IP:554/stream1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video plays → RTSP is working. If not → see Troubleshooting slide.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36208" y="1115568"/>
            <a:ext cx="1243584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1155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Video plays in VLC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571232" y="1115568"/>
            <a:ext cx="1316736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FF3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11556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Connection refused / timeout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1719072"/>
            <a:ext cx="8631936" cy="5486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" y="1773936"/>
            <a:ext cx="402336" cy="402336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17922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Video Resolution &amp; Frame Rate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camera web UI → Video → Encoding: Confirm main stream is ≥ 720p, H.264 or H.265 codec, ≥ 5 FPS.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36208" y="1810512"/>
            <a:ext cx="1243584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81051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720p+ at 5+ FPS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571232" y="1810512"/>
            <a:ext cx="1316736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FF3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18105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Sub-stream only or &lt; 5 FPS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2414016"/>
            <a:ext cx="8631936" cy="5486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30" name="Shape 28"/>
          <p:cNvSpPr/>
          <p:nvPr/>
        </p:nvSpPr>
        <p:spPr>
          <a:xfrm>
            <a:off x="256032" y="2468880"/>
            <a:ext cx="402336" cy="40233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9808" y="24871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ONVIF is Enabled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9808" y="270662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web UI → Network → Advanced → ONVIF: Enable ONVIF service. Set authentication to Digest/WS-Security.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36208" y="2505456"/>
            <a:ext cx="1243584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50545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ONVIF status: Active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571232" y="2505456"/>
            <a:ext cx="1316736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FF3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71232" y="25054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ONVIF disabled (enable it)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6032" y="3108960"/>
            <a:ext cx="8631936" cy="5486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39" name="Shape 37"/>
          <p:cNvSpPr/>
          <p:nvPr/>
        </p:nvSpPr>
        <p:spPr>
          <a:xfrm>
            <a:off x="256032" y="3163824"/>
            <a:ext cx="402336" cy="40233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9808" y="31821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Camera Field of View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49808" y="34015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feed — confirm the camera covers the work area you want to monitor. Entire PPE zone must be visible in frame.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36208" y="3200400"/>
            <a:ext cx="1243584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2004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zone visible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571232" y="3200400"/>
            <a:ext cx="1316736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FF3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1232" y="320040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Partial coverage → remount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6032" y="3803904"/>
            <a:ext cx="8631936" cy="5486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48" name="Shape 46"/>
          <p:cNvSpPr/>
          <p:nvPr/>
        </p:nvSpPr>
        <p:spPr>
          <a:xfrm>
            <a:off x="256032" y="3858768"/>
            <a:ext cx="402336" cy="402336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49" name="Text 47"/>
          <p:cNvSpPr/>
          <p:nvPr/>
        </p:nvSpPr>
        <p:spPr>
          <a:xfrm>
            <a:off x="256032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49808" y="387705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Lighting Conditions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49808" y="4096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feed at shift start (worst light). Min 200 lux. If IR/night-vision active, check AI can see worker features.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36208" y="3895344"/>
            <a:ext cx="1243584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6208" y="38953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Workers clearly visible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571232" y="3895344"/>
            <a:ext cx="1316736" cy="219456"/>
          </a:xfrm>
          <a:prstGeom prst="rect">
            <a:avLst/>
          </a:prstGeom>
          <a:solidFill>
            <a:srgbClr val="122240"/>
          </a:solidFill>
          <a:ln w="12700">
            <a:solidFill>
              <a:srgbClr val="FF3B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71232" y="38953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Too dark → add IR light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56032" y="4498848"/>
            <a:ext cx="8631936" cy="5486"/>
          </a:xfrm>
          <a:prstGeom prst="rect">
            <a:avLst/>
          </a:prstGeom>
          <a:solidFill>
            <a:srgbClr val="1E386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Account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Wizard Setup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SafeG account, register your plant, zones and existing cameras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ACCOUNT &amp; WIZARD SETUP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ACCOUNT &amp; WIZARD SETUP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Your SafeG AI Account &amp; Completing the Wizard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" y="73152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app.syyaimsafeg.ai → Sign Up → Complete 5 wizard steps: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051560"/>
            <a:ext cx="1591056" cy="340156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051560"/>
            <a:ext cx="1591056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143000"/>
            <a:ext cx="457200" cy="457200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" y="168249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2336" y="2103120"/>
            <a:ext cx="91440" cy="9144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066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name, CIN, industry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2414016"/>
            <a:ext cx="91440" cy="9144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GSTIN, registered address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2336" y="2724912"/>
            <a:ext cx="91440" cy="9144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contact + designation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65376" y="2715768"/>
            <a:ext cx="9144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9384" y="2615184"/>
            <a:ext cx="54864" cy="25603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993392" y="1051560"/>
            <a:ext cx="1591056" cy="340156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93392" y="1051560"/>
            <a:ext cx="1591056" cy="45720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0" y="1143000"/>
            <a:ext cx="457200" cy="457200"/>
          </a:xfrm>
          <a:prstGeom prst="ellipse">
            <a:avLst/>
          </a:prstGeom>
          <a:solidFill>
            <a:srgbClr val="FF8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993392" y="168249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/ Factory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39696" y="2103120"/>
            <a:ext cx="91440" cy="91440"/>
          </a:xfrm>
          <a:prstGeom prst="ellipse">
            <a:avLst/>
          </a:prstGeom>
          <a:solidFill>
            <a:srgbClr val="FF8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267712" y="2066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name &amp; address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39696" y="2414016"/>
            <a:ext cx="91440" cy="91440"/>
          </a:xfrm>
          <a:prstGeom prst="ellipse">
            <a:avLst/>
          </a:prstGeom>
          <a:solidFill>
            <a:srgbClr val="FF8000"/>
          </a:solidFill>
          <a:ln/>
        </p:spPr>
      </p:sp>
      <p:sp>
        <p:nvSpPr>
          <p:cNvPr id="33" name="Text 31"/>
          <p:cNvSpPr/>
          <p:nvPr/>
        </p:nvSpPr>
        <p:spPr>
          <a:xfrm>
            <a:off x="2267712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Licence Number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139696" y="2724912"/>
            <a:ext cx="91440" cy="91440"/>
          </a:xfrm>
          <a:prstGeom prst="ellipse">
            <a:avLst/>
          </a:prstGeom>
          <a:solidFill>
            <a:srgbClr val="FF8000"/>
          </a:solidFill>
          <a:ln/>
        </p:spPr>
      </p:sp>
      <p:sp>
        <p:nvSpPr>
          <p:cNvPr id="35" name="Text 33"/>
          <p:cNvSpPr/>
          <p:nvPr/>
        </p:nvSpPr>
        <p:spPr>
          <a:xfrm>
            <a:off x="2267712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co-ordinates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02736" y="2715768"/>
            <a:ext cx="91440" cy="54864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3666744" y="2615184"/>
            <a:ext cx="54864" cy="256032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3730752" y="1051560"/>
            <a:ext cx="1591056" cy="340156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30752" y="1051560"/>
            <a:ext cx="1591056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0" name="Shape 38"/>
          <p:cNvSpPr/>
          <p:nvPr/>
        </p:nvSpPr>
        <p:spPr>
          <a:xfrm>
            <a:off x="4297680" y="1143000"/>
            <a:ext cx="457200" cy="457200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730752" y="168249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/ Areas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877056" y="2103120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4" name="Text 42"/>
          <p:cNvSpPr/>
          <p:nvPr/>
        </p:nvSpPr>
        <p:spPr>
          <a:xfrm>
            <a:off x="4005072" y="2066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zone (Welding, Assembly…)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77056" y="2414016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6" name="Text 44"/>
          <p:cNvSpPr/>
          <p:nvPr/>
        </p:nvSpPr>
        <p:spPr>
          <a:xfrm>
            <a:off x="4005072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PPE rules per zone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77056" y="2724912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8" name="Text 46"/>
          <p:cNvSpPr/>
          <p:nvPr/>
        </p:nvSpPr>
        <p:spPr>
          <a:xfrm>
            <a:off x="4005072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danger zones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40096" y="2715768"/>
            <a:ext cx="9144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0" name="Shape 48"/>
          <p:cNvSpPr/>
          <p:nvPr/>
        </p:nvSpPr>
        <p:spPr>
          <a:xfrm>
            <a:off x="5404104" y="2615184"/>
            <a:ext cx="54864" cy="25603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1" name="Shape 49"/>
          <p:cNvSpPr/>
          <p:nvPr/>
        </p:nvSpPr>
        <p:spPr>
          <a:xfrm>
            <a:off x="5468112" y="1051560"/>
            <a:ext cx="1591056" cy="340156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68112" y="1051560"/>
            <a:ext cx="1591056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3" name="Shape 51"/>
          <p:cNvSpPr/>
          <p:nvPr/>
        </p:nvSpPr>
        <p:spPr>
          <a:xfrm>
            <a:off x="6035040" y="1143000"/>
            <a:ext cx="457200" cy="457200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5468112" y="168249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Cameras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14416" y="2103120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57" name="Text 55"/>
          <p:cNvSpPr/>
          <p:nvPr/>
        </p:nvSpPr>
        <p:spPr>
          <a:xfrm>
            <a:off x="5742432" y="2066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camera details from audit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14416" y="2414016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59" name="Text 57"/>
          <p:cNvSpPr/>
          <p:nvPr/>
        </p:nvSpPr>
        <p:spPr>
          <a:xfrm>
            <a:off x="5742432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URL or IP per camera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614416" y="2724912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1" name="Text 59"/>
          <p:cNvSpPr/>
          <p:nvPr/>
        </p:nvSpPr>
        <p:spPr>
          <a:xfrm>
            <a:off x="5742432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cam to a zone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077456" y="2715768"/>
            <a:ext cx="9144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63" name="Shape 61"/>
          <p:cNvSpPr/>
          <p:nvPr/>
        </p:nvSpPr>
        <p:spPr>
          <a:xfrm>
            <a:off x="7141464" y="2615184"/>
            <a:ext cx="54864" cy="2560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64" name="Shape 62"/>
          <p:cNvSpPr/>
          <p:nvPr/>
        </p:nvSpPr>
        <p:spPr>
          <a:xfrm>
            <a:off x="7205472" y="1051560"/>
            <a:ext cx="1591056" cy="340156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05472" y="1051560"/>
            <a:ext cx="1591056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66" name="Shape 64"/>
          <p:cNvSpPr/>
          <p:nvPr/>
        </p:nvSpPr>
        <p:spPr>
          <a:xfrm>
            <a:off x="7772400" y="1143000"/>
            <a:ext cx="457200" cy="457200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7205472" y="168249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351776" y="2103120"/>
            <a:ext cx="91440" cy="9144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70" name="Text 68"/>
          <p:cNvSpPr/>
          <p:nvPr/>
        </p:nvSpPr>
        <p:spPr>
          <a:xfrm>
            <a:off x="7479792" y="2066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settings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351776" y="2414016"/>
            <a:ext cx="91440" cy="9144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72" name="Text 70"/>
          <p:cNvSpPr/>
          <p:nvPr/>
        </p:nvSpPr>
        <p:spPr>
          <a:xfrm>
            <a:off x="7479792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activation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51776" y="2724912"/>
            <a:ext cx="91440" cy="9144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74" name="Text 72"/>
          <p:cNvSpPr/>
          <p:nvPr/>
        </p:nvSpPr>
        <p:spPr>
          <a:xfrm>
            <a:off x="7479792" y="26883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stream live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56032" y="4572000"/>
            <a:ext cx="8631936" cy="128016"/>
          </a:xfrm>
          <a:prstGeom prst="rect">
            <a:avLst/>
          </a:prstGeom>
          <a:solidFill>
            <a:srgbClr val="12224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6032" y="4572000"/>
            <a:ext cx="8631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Step 4 is where you enter RTSP URLs for your existing cameras. Have the Camera Inventory Sheet from Step 3 ready.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Cameras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SafeG AI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connection methods — step-by-step for every camera brand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CONNECTING CAMERAS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CONNECTING CAMERAS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Connect Your Existing Cameras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96112"/>
            <a:ext cx="2816352" cy="374904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96112"/>
            <a:ext cx="2816352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1426464" y="987552"/>
            <a:ext cx="475488" cy="475488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6464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153619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RTSP URL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" y="184708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All brands when you know the camera IP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" y="2121408"/>
            <a:ext cx="2542032" cy="548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" y="2176272"/>
            <a:ext cx="438912" cy="438912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1762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camera RTSP port (default 554)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" y="2487168"/>
            <a:ext cx="438912" cy="438912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248716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URL: rtsp://USER:PASS@IP:PORT/PATH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0624" y="2798064"/>
            <a:ext cx="438912" cy="438912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798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27980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SafeG wizard → Camera → 'Add Manually'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20624" y="3108960"/>
            <a:ext cx="438912" cy="438912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31089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RTSP URL → Click 'Test Stream'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0624" y="3419856"/>
            <a:ext cx="438912" cy="438912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34198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tick = live stream confirmed → Save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0896" y="4041648"/>
            <a:ext cx="2706624" cy="457200"/>
          </a:xfrm>
          <a:prstGeom prst="rect">
            <a:avLst/>
          </a:prstGeom>
          <a:solidFill>
            <a:srgbClr val="04080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05993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method — works with any RTSP camera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0" y="896112"/>
            <a:ext cx="2816352" cy="374904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896112"/>
            <a:ext cx="2816352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370832" y="987552"/>
            <a:ext cx="475488" cy="475488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00400" y="153619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ONVIF Auto-Connect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00400" y="184708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Any ONVIF-compliant camera on LAN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37560" y="2121408"/>
            <a:ext cx="2542032" cy="5486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42" name="Shape 40"/>
          <p:cNvSpPr/>
          <p:nvPr/>
        </p:nvSpPr>
        <p:spPr>
          <a:xfrm>
            <a:off x="3364992" y="2176272"/>
            <a:ext cx="438912" cy="438912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77056" y="21762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ONVIF is enabled in camera web UI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64992" y="2487168"/>
            <a:ext cx="438912" cy="438912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64992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877056" y="248716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SafeG wizard → Camera → 'Scan ONVIF'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64992" y="2798064"/>
            <a:ext cx="438912" cy="438912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64992" y="2798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877056" y="27980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camera from discovered list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364992" y="3108960"/>
            <a:ext cx="438912" cy="438912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64992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877056" y="31089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admin credentials when prompted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364992" y="3419856"/>
            <a:ext cx="438912" cy="438912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64992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877056" y="34198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pulls stream URL automatically → Save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55264" y="4041648"/>
            <a:ext cx="2706624" cy="457200"/>
          </a:xfrm>
          <a:prstGeom prst="rect">
            <a:avLst/>
          </a:prstGeom>
          <a:solidFill>
            <a:srgbClr val="04080F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0" y="405993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— SafeG auto-discovers compatible cams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44768" y="896112"/>
            <a:ext cx="2816352" cy="374904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44768" y="896112"/>
            <a:ext cx="2816352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1" name="Shape 59"/>
          <p:cNvSpPr/>
          <p:nvPr/>
        </p:nvSpPr>
        <p:spPr>
          <a:xfrm>
            <a:off x="7315200" y="987552"/>
            <a:ext cx="475488" cy="475488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144768" y="153619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SDK / NVR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144768" y="184708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Hikvision / Dahua behind NVR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81928" y="2121408"/>
            <a:ext cx="2542032" cy="548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6" name="Shape 64"/>
          <p:cNvSpPr/>
          <p:nvPr/>
        </p:nvSpPr>
        <p:spPr>
          <a:xfrm>
            <a:off x="6309360" y="2176272"/>
            <a:ext cx="438912" cy="43891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821424" y="21762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NVR: Use NVR IP instead of camera IP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309360" y="2487168"/>
            <a:ext cx="438912" cy="43891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821424" y="248716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path: /Streaming/Channels/101 (cam 1)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309360" y="2798064"/>
            <a:ext cx="438912" cy="43891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2798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821424" y="27980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Hikvision ISAPI: SafeG SDK mode in Settings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309360" y="3108960"/>
            <a:ext cx="438912" cy="43891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09360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6821424" y="31089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NVR IP, port 8000, credentials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309360" y="3419856"/>
            <a:ext cx="438912" cy="438912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821424" y="34198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channels to connect → Activate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199632" y="4041648"/>
            <a:ext cx="2706624" cy="457200"/>
          </a:xfrm>
          <a:prstGeom prst="rect">
            <a:avLst/>
          </a:prstGeom>
          <a:solidFill>
            <a:srgbClr val="04080F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36208" y="405993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cameras are managed through an NVR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CONNECTING CAMERAS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REFERENCE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URL Reference — Brand by Brand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22960"/>
            <a:ext cx="8631936" cy="65836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822960"/>
            <a:ext cx="8631936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877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Structure: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27632" y="896112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rtsp://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896112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USER:PASS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9584" y="896112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12464" y="896112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CAMERA_IP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3168" y="89611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:554/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896112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STREAM_PATH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536192"/>
          <a:ext cx="8631936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743200"/>
                <a:gridCol w="1316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Stream RTSP URL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Sub-Stream URL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Hikvision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rtsp://admin:PASS@IP:554/Streaming/Channels/101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8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rtsp://admin:PASS@IP:554/Streaming/Channels/102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101=main, 102=sub-stream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Dahua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rtsp://admin:PASS@IP:554/cam/realmonitor?channel=1&amp;subtype=0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8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rtsp://admin:PASS@IP:554/cam/realmonitor?channel=1&amp;subtype=1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 0=main, 1=sub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rtsp://root:PASS@IP/axis-media/media.amp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8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rtsp://root:PASS@IP/axis-media/media.amp?resolution=640x480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VAPIX stream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rtsp://IP:554/rtsp_tunnel?h26x=4&amp;line=1&amp;inst=1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8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rtsp://IP:554/rtsp_tunnel?h26x=4&amp;line=1&amp;inst=2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credentials in URL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Plus (CPDI)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rtsp://admin:PASS@IP:554/live/ch00_0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8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rtsp://admin:PASS@IP:554/live/ch00_1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ch00 = channel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Hanwha/Samsung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rtsp://admin:PASS@IP/video1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8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rtsp://admin:PASS@IP/video2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Sunapi also available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Reolink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rtsp://admin:PASS@IP:554/h264Preview_01_main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8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rtsp://admin:PASS@IP:554/h264Preview_01_sub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RTSP in camera settings first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ONVIF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rtsp://admin:PASS@IP:554/onvif1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8C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 ONVIF Device Manager to get exact path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varies by firmware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CONNECTING CAMERAS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 / DVR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Cameras Behind an NVR or DVR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" y="7498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plants have cameras connected to a Network Video Recorder (NVR) — follow these steps: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051560"/>
            <a:ext cx="8631936" cy="128016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051560"/>
            <a:ext cx="8631936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" y="1170432"/>
            <a:ext cx="1481328" cy="603504"/>
          </a:xfrm>
          <a:prstGeom prst="rect">
            <a:avLst/>
          </a:prstGeom>
          <a:solidFill>
            <a:srgbClr val="1222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170432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 ×N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38528" y="1435608"/>
            <a:ext cx="164592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2075688" y="1335024"/>
            <a:ext cx="54864" cy="24688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2130552" y="1170432"/>
            <a:ext cx="1481328" cy="603504"/>
          </a:xfrm>
          <a:prstGeom prst="rect">
            <a:avLst/>
          </a:prstGeom>
          <a:solidFill>
            <a:srgbClr val="12224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0552" y="1170432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 / DVR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30168" y="1435608"/>
            <a:ext cx="16459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9"/>
          <p:cNvSpPr/>
          <p:nvPr/>
        </p:nvSpPr>
        <p:spPr>
          <a:xfrm>
            <a:off x="3767328" y="1335024"/>
            <a:ext cx="54864" cy="2468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3822192" y="1170432"/>
            <a:ext cx="1481328" cy="603504"/>
          </a:xfrm>
          <a:prstGeom prst="rect">
            <a:avLst/>
          </a:prstGeom>
          <a:solidFill>
            <a:srgbClr val="12224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1170432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Switch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21808" y="1435608"/>
            <a:ext cx="16459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58968" y="1335024"/>
            <a:ext cx="54864" cy="24688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6" name="Shape 24"/>
          <p:cNvSpPr/>
          <p:nvPr/>
        </p:nvSpPr>
        <p:spPr>
          <a:xfrm>
            <a:off x="5513832" y="1170432"/>
            <a:ext cx="1481328" cy="603504"/>
          </a:xfrm>
          <a:prstGeom prst="rect">
            <a:avLst/>
          </a:prstGeom>
          <a:solidFill>
            <a:srgbClr val="122240"/>
          </a:solidFill>
          <a:ln w="19050">
            <a:solidFill>
              <a:srgbClr val="FF4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1170432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13448" y="1435608"/>
            <a:ext cx="164592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9" name="Shape 27"/>
          <p:cNvSpPr/>
          <p:nvPr/>
        </p:nvSpPr>
        <p:spPr>
          <a:xfrm>
            <a:off x="7150608" y="1335024"/>
            <a:ext cx="54864" cy="24688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0" name="Shape 28"/>
          <p:cNvSpPr/>
          <p:nvPr/>
        </p:nvSpPr>
        <p:spPr>
          <a:xfrm>
            <a:off x="7205472" y="1170432"/>
            <a:ext cx="1481328" cy="603504"/>
          </a:xfrm>
          <a:prstGeom prst="rect">
            <a:avLst/>
          </a:prstGeom>
          <a:solidFill>
            <a:srgbClr val="1222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1170432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" y="1828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pulled per channel from NVR IP (not individual camera IPs)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2423160"/>
            <a:ext cx="4160520" cy="210312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2423160"/>
            <a:ext cx="41605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 RTSP Channel URL Patterns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2834640"/>
            <a:ext cx="9144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Hikvision NVR: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" y="30175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rtsp://admin:PASS@NVR_IP:554/Streaming/Channels/101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(channel 1 main), /201 (ch2), /301 (ch3)…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3419856"/>
            <a:ext cx="9144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" y="3419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Dahua NVR: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3602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rtsp://admin:PASS@NVR_IP:554/cam/realmonitor?channel=1&amp;subtype=0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channel=2, channel=3… for each cam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4005072"/>
            <a:ext cx="9144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4005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NVR: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6928" y="41879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rtsp://admin:PASS@NVR_IP:554/stream1?channel=1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use ONVIF Device Manager on NVR IP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17720" y="2423160"/>
            <a:ext cx="4270248" cy="210312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2423160"/>
            <a:ext cx="4270248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7" name="Text 45"/>
          <p:cNvSpPr/>
          <p:nvPr/>
        </p:nvSpPr>
        <p:spPr>
          <a:xfrm>
            <a:off x="4773168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 Integration Tips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73168" y="2852928"/>
            <a:ext cx="91440" cy="1645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9" name="Text 47"/>
          <p:cNvSpPr/>
          <p:nvPr/>
        </p:nvSpPr>
        <p:spPr>
          <a:xfrm>
            <a:off x="4919472" y="281635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NVR IP address — not individual camera IPs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73168" y="3127248"/>
            <a:ext cx="91440" cy="1645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1" name="Text 49"/>
          <p:cNvSpPr/>
          <p:nvPr/>
        </p:nvSpPr>
        <p:spPr>
          <a:xfrm>
            <a:off x="4919472" y="309067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= one camera. Channel 1 = first camera in NVR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73168" y="3401568"/>
            <a:ext cx="91440" cy="1645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3" name="Text 51"/>
          <p:cNvSpPr/>
          <p:nvPr/>
        </p:nvSpPr>
        <p:spPr>
          <a:xfrm>
            <a:off x="4919472" y="33649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NVR has RTSP enabled (some older DVRs block it)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3675888"/>
            <a:ext cx="91440" cy="1645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5" name="Text 53"/>
          <p:cNvSpPr/>
          <p:nvPr/>
        </p:nvSpPr>
        <p:spPr>
          <a:xfrm>
            <a:off x="4919472" y="363931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 must be on same network segment as SafeG AI server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73168" y="3950208"/>
            <a:ext cx="91440" cy="1645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7" name="Text 55"/>
          <p:cNvSpPr/>
          <p:nvPr/>
        </p:nvSpPr>
        <p:spPr>
          <a:xfrm>
            <a:off x="4919472" y="391363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554 (RTSP) must be open on NVR firewall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73168" y="4224528"/>
            <a:ext cx="91440" cy="1645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9" name="Text 57"/>
          <p:cNvSpPr/>
          <p:nvPr/>
        </p:nvSpPr>
        <p:spPr>
          <a:xfrm>
            <a:off x="4919472" y="418795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NVR has access control, whitelist SafeG server IP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CONNECTING CAMERAS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SETTINGS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RTSP &amp; ONVIF — Camera Web UI Guide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" y="7498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cameras ship with RTSP disabled. Follow these steps to enable it for each brand: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051560"/>
            <a:ext cx="4224528" cy="148132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051560"/>
            <a:ext cx="4224528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Hikvision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" y="1472184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" y="1472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" y="1472184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 → http://CAMERA_IP → Login as admin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3192" y="1673352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" y="16733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" y="1673352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→ Network → Advanced Settings → Integration Protocol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" y="1874520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18745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" y="187452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Hikvision-CGI → Enable ISAPI → Save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3192" y="2075688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20756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" y="2075688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→ Network → Advanced → RTSP: Enable RTSP auth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3192" y="2276856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22768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" y="227685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port: confirm 554 → Apply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1051560"/>
            <a:ext cx="4224528" cy="148132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051560"/>
            <a:ext cx="4224528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Dahua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1472184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14721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0" y="1472184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 → http://CAMERA_IP → Login as admin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1673352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16733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0" y="1673352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Network → Connection → RTSP: Enable → Port 554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1874520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18745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29200" y="187452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System → General → ONVIF: Enable → Create ONVIF user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2075688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20756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0" y="2075688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ONVIF user same as camera admin credentials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00600" y="2276856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22768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9200" y="227685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reboot camera if prompted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2670048"/>
            <a:ext cx="4224528" cy="148132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6032" y="2670048"/>
            <a:ext cx="4224528" cy="457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50" name="Text 48"/>
          <p:cNvSpPr/>
          <p:nvPr/>
        </p:nvSpPr>
        <p:spPr>
          <a:xfrm>
            <a:off x="393192" y="2761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Axis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93192" y="3090672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52" name="Text 50"/>
          <p:cNvSpPr/>
          <p:nvPr/>
        </p:nvSpPr>
        <p:spPr>
          <a:xfrm>
            <a:off x="393192" y="30906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1792" y="3090672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 → http://CAMERA_IP → Login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93192" y="3291840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55" name="Text 53"/>
          <p:cNvSpPr/>
          <p:nvPr/>
        </p:nvSpPr>
        <p:spPr>
          <a:xfrm>
            <a:off x="393192" y="32918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1792" y="329184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System → Plain Config → Network → RTSP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93192" y="3493008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58" name="Text 56"/>
          <p:cNvSpPr/>
          <p:nvPr/>
        </p:nvSpPr>
        <p:spPr>
          <a:xfrm>
            <a:off x="393192" y="34930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1792" y="3493008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RTSP enabled → Port 554 → Save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93192" y="3694176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61" name="Text 59"/>
          <p:cNvSpPr/>
          <p:nvPr/>
        </p:nvSpPr>
        <p:spPr>
          <a:xfrm>
            <a:off x="393192" y="36941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1792" y="369417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System → ONVIF → Enable ONVIF service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93192" y="3895344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64" name="Text 62"/>
          <p:cNvSpPr/>
          <p:nvPr/>
        </p:nvSpPr>
        <p:spPr>
          <a:xfrm>
            <a:off x="393192" y="38953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1792" y="3895344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ONVIF user under Settings → System → Users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63440" y="2670048"/>
            <a:ext cx="4224528" cy="148132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63440" y="2670048"/>
            <a:ext cx="4224528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68" name="Text 66"/>
          <p:cNvSpPr/>
          <p:nvPr/>
        </p:nvSpPr>
        <p:spPr>
          <a:xfrm>
            <a:off x="4800600" y="2761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CP Plus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800600" y="3090672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70" name="Text 68"/>
          <p:cNvSpPr/>
          <p:nvPr/>
        </p:nvSpPr>
        <p:spPr>
          <a:xfrm>
            <a:off x="4800600" y="30906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029200" y="3090672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 → http://CAMERA_IP → Login as admin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00600" y="3291840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73" name="Text 71"/>
          <p:cNvSpPr/>
          <p:nvPr/>
        </p:nvSpPr>
        <p:spPr>
          <a:xfrm>
            <a:off x="4800600" y="32918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029200" y="329184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→ Network → Port: confirm RTSP 554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800600" y="3493008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76" name="Text 74"/>
          <p:cNvSpPr/>
          <p:nvPr/>
        </p:nvSpPr>
        <p:spPr>
          <a:xfrm>
            <a:off x="4800600" y="34930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029200" y="3493008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→ Network → ONVIF: Enable ONVIF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800600" y="3694176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79" name="Text 77"/>
          <p:cNvSpPr/>
          <p:nvPr/>
        </p:nvSpPr>
        <p:spPr>
          <a:xfrm>
            <a:off x="4800600" y="36941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029200" y="369417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Default stream path: /live/ch00_0 (main)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800600" y="3895344"/>
            <a:ext cx="182880" cy="16459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82" name="Text 80"/>
          <p:cNvSpPr/>
          <p:nvPr/>
        </p:nvSpPr>
        <p:spPr>
          <a:xfrm>
            <a:off x="4800600" y="38953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029200" y="3895344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 after enabling ONVIF for changes to apply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56032" y="4224528"/>
            <a:ext cx="8631936" cy="128016"/>
          </a:xfrm>
          <a:prstGeom prst="rect">
            <a:avLst/>
          </a:prstGeom>
          <a:solidFill>
            <a:srgbClr val="12224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4224528"/>
            <a:ext cx="8631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After enabling RTSP/ONVIF, always test with VLC first before entering URL in SafeG AI wizard.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most common RTSP / ONVIF errors before going live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TROUBLESHOOTING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TROUBLESHOOTING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RTSP Errors &amp; How to Fix Them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41248"/>
            <a:ext cx="8631936" cy="71323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841248"/>
            <a:ext cx="8631936" cy="45720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841248"/>
            <a:ext cx="1828800" cy="713232"/>
          </a:xfrm>
          <a:prstGeom prst="rect">
            <a:avLst/>
          </a:prstGeom>
          <a:solidFill>
            <a:srgbClr val="FF3B6B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877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Connection Refused / Timeout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170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RTSP not enabled or wrong IP/port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21408" y="932688"/>
            <a:ext cx="6401" cy="548640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87782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Ping camera IP — if no reply, check network cable/switch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 RTSP port is 554 (check camera settings)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Ensure port 554 open on any firewall between server and camera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Try: telnet CAMERA_IP 554 — should connect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1600200"/>
            <a:ext cx="8631936" cy="71323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1600200"/>
            <a:ext cx="8631936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032" y="1600200"/>
            <a:ext cx="1828800" cy="713232"/>
          </a:xfrm>
          <a:prstGeom prst="rect">
            <a:avLst/>
          </a:prstGeom>
          <a:solidFill>
            <a:srgbClr val="FF4D00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16367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401 Unauthorized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" y="19293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Wrong username or password in RTSP URL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21408" y="1691640"/>
            <a:ext cx="6401" cy="54864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4" name="Text 22"/>
          <p:cNvSpPr/>
          <p:nvPr/>
        </p:nvSpPr>
        <p:spPr>
          <a:xfrm>
            <a:off x="2176272" y="1636776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camera web UI to confirm login credentials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Some cameras need a separate RTSP user (create one in camera settings)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Avoid special characters in password in URL — use URL encoding if needed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Hikvision: confirm admin account is not locked after failed attempts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2359152"/>
            <a:ext cx="8631936" cy="71323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359152"/>
            <a:ext cx="8631936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" y="2359152"/>
            <a:ext cx="1828800" cy="713232"/>
          </a:xfrm>
          <a:prstGeom prst="rect">
            <a:avLst/>
          </a:prstGeom>
          <a:solidFill>
            <a:srgbClr val="FFB020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2395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Black Screen / No Video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26883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Stream path wrong or codec unsupported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121408" y="2450592"/>
            <a:ext cx="6401" cy="5486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1" name="Text 29"/>
          <p:cNvSpPr/>
          <p:nvPr/>
        </p:nvSpPr>
        <p:spPr>
          <a:xfrm>
            <a:off x="2176272" y="239572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Try sub-stream path (e.g. /102 for Hikvision instead of /101)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camera encoding to H.264 (some older SafeG versions need H.264)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camera main stream is not already maxed out (other NVR consuming it)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 ONVIF Device Manager to get exact working stream URL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3118104"/>
            <a:ext cx="8631936" cy="71323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118104"/>
            <a:ext cx="8631936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56032" y="3118104"/>
            <a:ext cx="1828800" cy="713232"/>
          </a:xfrm>
          <a:prstGeom prst="rect">
            <a:avLst/>
          </a:prstGeom>
          <a:solidFill>
            <a:srgbClr val="2D8EFF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3154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Choppy / Delayed Video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" y="34472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Network congestion or insufficient bandwidth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21408" y="3209544"/>
            <a:ext cx="6401" cy="54864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38" name="Text 36"/>
          <p:cNvSpPr/>
          <p:nvPr/>
        </p:nvSpPr>
        <p:spPr>
          <a:xfrm>
            <a:off x="2176272" y="31546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iperf3 test from SafeG server to camera subnet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Reduce camera bitrate to 2–4 Mbps in camera settings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H.265 codec if supported — 50% less bandwidth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 switch port speed — should be 100 Mbps minimum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6032" y="3877056"/>
            <a:ext cx="8631936" cy="71323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3877056"/>
            <a:ext cx="8631936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Shape 39"/>
          <p:cNvSpPr/>
          <p:nvPr/>
        </p:nvSpPr>
        <p:spPr>
          <a:xfrm>
            <a:off x="256032" y="3877056"/>
            <a:ext cx="1828800" cy="71323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" y="3913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SafeG Shows Camera Offline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7472" y="4206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Camera IP changed (DHCP) or RTSP stream dropped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121408" y="3968496"/>
            <a:ext cx="6401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2176272" y="391363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Assign static IP or DHCP reservation to every camera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camera is powered on (PoE switch LED status)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 SafeG Dashboard → Camera → Re-test Stream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Enable auto-reconnect in SafeG camera settings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TROUBLESHOOTING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 Validation — Before Going Live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4224528" cy="171907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68680"/>
            <a:ext cx="4224528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" y="96012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Quality Checks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" y="1307592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127101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cameras show 'Online' in SafeG dashboard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" y="1554480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15179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visible (no black screen) for every camera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" y="1801368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1764792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≥ 720p confirmed in stream info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" y="2048256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201168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 ≥ 3.5 FPS sustained under all-cameras load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3192" y="2295144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25856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auto-reconnects after 60-second disconnect test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4224528" cy="171907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868680"/>
            <a:ext cx="4224528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96012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Field of View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307592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127101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 zone visible in each camera frame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1554480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15179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Workers' full body visible (not just upper body)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1801368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1764792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blind spots where workers could stand undetected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048256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01168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adequate for AI — no silhouetting or glare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2295144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225856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angle confirmed for PPE detection (not top-down)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2724912"/>
            <a:ext cx="4224528" cy="171907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2724912"/>
            <a:ext cx="4224528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" y="281635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Tests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3192" y="3163824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312724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each zone wearing full PPE — zero false violations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3192" y="3410712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" y="337413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hard hat — violation detected within 3 seconds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3192" y="3657600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" y="36210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safety vest — separate violation triggered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93192" y="3904488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3867912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at danger zone boundary — alert fires immediately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3192" y="4151376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" y="411480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Night/low-light test: detection works in dark shift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2724912"/>
            <a:ext cx="4224528" cy="171907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2724912"/>
            <a:ext cx="4224528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281635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Integration Tests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00600" y="3163824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10912" y="312724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violation triggers WhatsApp to HSE officer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3410712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10912" y="337413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received by all configured recipients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00600" y="3657600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36210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violation counter increments correctly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00600" y="3904488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10912" y="3867912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18 auto-populates from test violation data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00600" y="4151376"/>
            <a:ext cx="155448" cy="155448"/>
          </a:xfrm>
          <a:prstGeom prst="rect">
            <a:avLst/>
          </a:prstGeom>
          <a:solidFill>
            <a:srgbClr val="1E38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10912" y="411480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→ resolve workflow tested end to end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56032" y="4572000"/>
            <a:ext cx="8631936" cy="128016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64" name="Text 62"/>
          <p:cNvSpPr/>
          <p:nvPr/>
        </p:nvSpPr>
        <p:spPr>
          <a:xfrm>
            <a:off x="256032" y="4572000"/>
            <a:ext cx="8631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checks passed → System accepted. SafeG AI team countersigns the Go-Live acceptance form.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FF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Rules, Alerts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Go-Live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AI detection per zone, set up WhatsApp alerts and go live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— AI RULES &amp; GO-LIVE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AI RULES &amp; GO-LIVE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CONFIGURATION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AI Detection Rules Per Zone &amp; Camera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256032" y="841248"/>
            <a:ext cx="5029200" cy="246888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41248"/>
            <a:ext cx="5029200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144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 — WHAT AI MONITORS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2252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" y="1261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Hat / Helmet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" y="14447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detect_helmet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377440" y="1298448"/>
            <a:ext cx="27432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298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0" y="12252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54096" y="1261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54096" y="14447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detect_vest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36592" y="1298448"/>
            <a:ext cx="27432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1298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1682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Boots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" y="1901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detect_boots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377440" y="1755648"/>
            <a:ext cx="274320" cy="201168"/>
          </a:xfrm>
          <a:prstGeom prst="rect">
            <a:avLst/>
          </a:prstGeom>
          <a:solidFill>
            <a:srgbClr val="234272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1755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43200" y="1682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54096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Protection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54096" y="1901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detect_eye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736592" y="1755648"/>
            <a:ext cx="274320" cy="201168"/>
          </a:xfrm>
          <a:prstGeom prst="rect">
            <a:avLst/>
          </a:prstGeom>
          <a:solidFill>
            <a:srgbClr val="234272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1755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048" y="21396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944" y="23591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detect_gloves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377440" y="2212848"/>
            <a:ext cx="274320" cy="201168"/>
          </a:xfrm>
          <a:prstGeom prst="rect">
            <a:avLst/>
          </a:prstGeom>
          <a:solidFill>
            <a:srgbClr val="234272"/>
          </a:solidFill>
          <a:ln/>
        </p:spPr>
      </p:sp>
      <p:sp>
        <p:nvSpPr>
          <p:cNvPr id="38" name="Text 36"/>
          <p:cNvSpPr/>
          <p:nvPr/>
        </p:nvSpPr>
        <p:spPr>
          <a:xfrm>
            <a:off x="2377440" y="22128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743200" y="21396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🚧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054096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 Entry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54096" y="23591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detect_zone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736592" y="2212848"/>
            <a:ext cx="274320" cy="20116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3" name="Text 41"/>
          <p:cNvSpPr/>
          <p:nvPr/>
        </p:nvSpPr>
        <p:spPr>
          <a:xfrm>
            <a:off x="4736592" y="22128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84048" y="25968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🎧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4944" y="2633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Protection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" y="28163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detect_ear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377440" y="2670048"/>
            <a:ext cx="274320" cy="201168"/>
          </a:xfrm>
          <a:prstGeom prst="rect">
            <a:avLst/>
          </a:prstGeom>
          <a:solidFill>
            <a:srgbClr val="234272"/>
          </a:solidFill>
          <a:ln/>
        </p:spPr>
      </p:sp>
      <p:sp>
        <p:nvSpPr>
          <p:cNvPr id="48" name="Text 46"/>
          <p:cNvSpPr/>
          <p:nvPr/>
        </p:nvSpPr>
        <p:spPr>
          <a:xfrm>
            <a:off x="2377440" y="2670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743200" y="25968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📡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054096" y="26334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/ Presence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054096" y="28163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detect_motion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736592" y="2670048"/>
            <a:ext cx="27432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3" name="Text 51"/>
          <p:cNvSpPr/>
          <p:nvPr/>
        </p:nvSpPr>
        <p:spPr>
          <a:xfrm>
            <a:off x="4736592" y="2670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532120" y="841248"/>
            <a:ext cx="3355848" cy="246888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532120" y="841248"/>
            <a:ext cx="3355848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56" name="Text 54"/>
          <p:cNvSpPr/>
          <p:nvPr/>
        </p:nvSpPr>
        <p:spPr>
          <a:xfrm>
            <a:off x="5687568" y="914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ALERT SETUP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87568" y="1207008"/>
            <a:ext cx="658368" cy="274320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58" name="Text 56"/>
          <p:cNvSpPr/>
          <p:nvPr/>
        </p:nvSpPr>
        <p:spPr>
          <a:xfrm>
            <a:off x="5687568" y="12070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19088" y="1207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every detection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Welding, Chemical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687568" y="1664208"/>
            <a:ext cx="658368" cy="2743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1" name="Text 59"/>
          <p:cNvSpPr/>
          <p:nvPr/>
        </p:nvSpPr>
        <p:spPr>
          <a:xfrm>
            <a:off x="5687568" y="1664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19088" y="1664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after 2 detections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Assembly, Machine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87568" y="2121408"/>
            <a:ext cx="658368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64" name="Text 62"/>
          <p:cNvSpPr/>
          <p:nvPr/>
        </p:nvSpPr>
        <p:spPr>
          <a:xfrm>
            <a:off x="5687568" y="2121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19088" y="2121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repeated offence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Entry points, Canteen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687568" y="2432304"/>
            <a:ext cx="3017520" cy="7315"/>
          </a:xfrm>
          <a:prstGeom prst="rect">
            <a:avLst/>
          </a:prstGeom>
          <a:solidFill>
            <a:srgbClr val="1E3860"/>
          </a:solidFill>
          <a:ln/>
        </p:spPr>
      </p:sp>
      <p:sp>
        <p:nvSpPr>
          <p:cNvPr id="67" name="Text 65"/>
          <p:cNvSpPr/>
          <p:nvPr/>
        </p:nvSpPr>
        <p:spPr>
          <a:xfrm>
            <a:off x="5687568" y="2450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CHANNELS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687568" y="27066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WhatsApp: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601968" y="270662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HSE mobile in Settings → Alerts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687568" y="2880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Email: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01968" y="28803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emails in Settings → Email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687568" y="3054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Dashboard: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601968" y="30540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no config needed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687568" y="3227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Form 18: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601968" y="322783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Auto-populates from violations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56032" y="3383280"/>
            <a:ext cx="8631936" cy="117043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256032" y="3383280"/>
            <a:ext cx="8631936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8" name="Text 76"/>
          <p:cNvSpPr/>
          <p:nvPr/>
        </p:nvSpPr>
        <p:spPr>
          <a:xfrm>
            <a:off x="411480" y="34564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Zone AI Rule Configuration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730752"/>
          <a:ext cx="8449056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1371600"/>
                <a:gridCol w="1316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 Required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 Zone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Welding Bay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Helmet, Vest, Gloves, Eye, 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Helmet, Vest, Boots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8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 Booth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Helmet, Vest, Eye, Respirator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C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Shop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B8C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Helmet, Vest, Boots, Eye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8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8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8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4809744"/>
            <a:ext cx="50292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4791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377440" y="4791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AI RULES &amp; GO-LIVE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0" y="4791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56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Day Plan &amp; Form 18 Compliance Workflow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5303520" cy="217627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68680"/>
            <a:ext cx="5303520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41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Go-Live Day Schedule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280160"/>
            <a:ext cx="566928" cy="21031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8016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42416" y="128016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team performs final stream test — all cameras green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17904"/>
            <a:ext cx="566928" cy="210312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517904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42416" y="1517904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rules activated — monitoring begins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755648"/>
            <a:ext cx="566928" cy="21031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1755648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42416" y="1755648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 verifies WhatsApp + Email alerts with test event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993392"/>
            <a:ext cx="566928" cy="21031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1993392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42416" y="199339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shift under live AI monitoring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31136"/>
            <a:ext cx="566928" cy="21031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231136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42416" y="2231136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End-of-shift review: violations, heatmaps, camera uptime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68880"/>
            <a:ext cx="566928" cy="2103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468880"/>
            <a:ext cx="566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42416" y="246888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18 first auto-draft reviewed by HSE Officer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06440" y="868680"/>
            <a:ext cx="3081528" cy="2176272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868680"/>
            <a:ext cx="3081528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4" name="Text 32"/>
          <p:cNvSpPr/>
          <p:nvPr/>
        </p:nvSpPr>
        <p:spPr>
          <a:xfrm>
            <a:off x="5961888" y="941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Form 18 Auto-Workflow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61888" y="1316736"/>
            <a:ext cx="438912" cy="438912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1316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73952" y="1316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auto-populates 94% of Form 18 fields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61888" y="1591056"/>
            <a:ext cx="438912" cy="438912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61888" y="1591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73952" y="15910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 reviews &amp; corrects if needed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61888" y="1865376"/>
            <a:ext cx="438912" cy="438912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1865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73952" y="186537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Manager approves digitally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61888" y="2139696"/>
            <a:ext cx="438912" cy="438912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1888" y="2139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73952" y="21396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generated — inspector-ready format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61888" y="2414016"/>
            <a:ext cx="438912" cy="438912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61888" y="2414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73952" y="241401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in SafeG reports vault (7 years)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6032" y="3154680"/>
            <a:ext cx="8631936" cy="1481328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6032" y="3154680"/>
            <a:ext cx="8631936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" y="3227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Support Contacts During Onboarding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47472" y="3547872"/>
            <a:ext cx="2029968" cy="100584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472" y="3547872"/>
            <a:ext cx="2029968" cy="457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" y="362102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24×7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75488" y="38404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" y="4041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response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523744" y="3547872"/>
            <a:ext cx="2029968" cy="100584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23744" y="3547872"/>
            <a:ext cx="2029968" cy="4572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60" name="Text 58"/>
          <p:cNvSpPr/>
          <p:nvPr/>
        </p:nvSpPr>
        <p:spPr>
          <a:xfrm>
            <a:off x="2651760" y="362102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651760" y="38404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support@syyaimsafeg.ai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651760" y="4041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hr response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00016" y="3547872"/>
            <a:ext cx="2029968" cy="100584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0016" y="3547872"/>
            <a:ext cx="2029968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5" name="Text 63"/>
          <p:cNvSpPr/>
          <p:nvPr/>
        </p:nvSpPr>
        <p:spPr>
          <a:xfrm>
            <a:off x="4828032" y="362102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CSM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828032" y="38404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manager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828032" y="4041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876288" y="3547872"/>
            <a:ext cx="2029968" cy="1005840"/>
          </a:xfrm>
          <a:prstGeom prst="rect">
            <a:avLst/>
          </a:prstGeom>
          <a:solidFill>
            <a:srgbClr val="182C4A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76288" y="3547872"/>
            <a:ext cx="2029968" cy="4572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70" name="Text 68"/>
          <p:cNvSpPr/>
          <p:nvPr/>
        </p:nvSpPr>
        <p:spPr>
          <a:xfrm>
            <a:off x="7004304" y="362102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Hotline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004304" y="38404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+91 98765 43220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004304" y="4041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24×7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7772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" y="11887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Cameras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Now Live.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56032" y="2697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is now protecting your workers 24/7 — using the cameras you already own,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hardware, no downtime, no disruption.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3401568"/>
            <a:ext cx="2029968" cy="621792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456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Dashboard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app.syyaimsafeg.ai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3401568"/>
            <a:ext cx="2029968" cy="621792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456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🛟  Support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support.syyaimsafeg.ai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3401568"/>
            <a:ext cx="2029968" cy="621792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3456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Docs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73168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docs.syyaimsafeg.ai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94576" y="3401568"/>
            <a:ext cx="2029968" cy="621792"/>
          </a:xfrm>
          <a:prstGeom prst="rect">
            <a:avLst/>
          </a:prstGeom>
          <a:solidFill>
            <a:srgbClr val="122240"/>
          </a:solidFill>
          <a:ln w="12700">
            <a:solidFill>
              <a:srgbClr val="1E38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3456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86016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" y="41696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SafeG AI onboarding team is available 24×7 for your first 30 days — call anytime.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" y="4809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Confidential  ·  © 2025 Syyaim SafeG AI Pvt. Ltd.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772400" y="4809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 AI — Existing Camera Integration Guide</dc:title>
  <dc:subject>PptxGenJS Presentation</dc:subject>
  <dc:creator>Syyaim SafeG AI</dc:creator>
  <cp:lastModifiedBy>Syyaim SafeG AI</cp:lastModifiedBy>
  <cp:revision>1</cp:revision>
  <dcterms:created xsi:type="dcterms:W3CDTF">2026-03-09T16:56:15Z</dcterms:created>
  <dcterms:modified xsi:type="dcterms:W3CDTF">2026-03-09T16:56:15Z</dcterms:modified>
</cp:coreProperties>
</file>