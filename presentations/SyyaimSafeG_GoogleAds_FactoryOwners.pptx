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640080"/>
            <a:ext cx="1097280" cy="1280160"/>
          </a:xfrm>
          <a:prstGeom prst="roundRect">
            <a:avLst>
              <a:gd name="adj" fmla="val 12500"/>
            </a:avLst>
          </a:prstGeom>
          <a:solidFill>
            <a:srgbClr val="FF5C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02336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EF2FF"/>
                </a:solidFill>
              </a:rPr>
              <a:t>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Package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&amp; Factory Owners · India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2A345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Search Ad Variants · 45 Headlines · 3 Display Banners · 30+ Keywords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ROI-first messaging built for Indian plant &amp; factory decision-makers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434840"/>
            <a:ext cx="1920240" cy="548640"/>
          </a:xfrm>
          <a:prstGeom prst="rect">
            <a:avLst/>
          </a:prstGeom>
          <a:solidFill>
            <a:srgbClr val="101522"/>
          </a:solidFill>
          <a:ln w="12700">
            <a:solidFill>
              <a:srgbClr val="18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RSA Variants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7000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4434840"/>
            <a:ext cx="1920240" cy="548640"/>
          </a:xfrm>
          <a:prstGeom prst="rect">
            <a:avLst/>
          </a:prstGeom>
          <a:solidFill>
            <a:srgbClr val="101522"/>
          </a:solidFill>
          <a:ln w="12700">
            <a:solidFill>
              <a:srgbClr val="18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34640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Ready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47000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4434840"/>
            <a:ext cx="1920240" cy="548640"/>
          </a:xfrm>
          <a:prstGeom prst="rect">
            <a:avLst/>
          </a:prstGeom>
          <a:solidFill>
            <a:srgbClr val="101522"/>
          </a:solidFill>
          <a:ln w="12700">
            <a:solidFill>
              <a:srgbClr val="18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Sizes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47000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4434840"/>
            <a:ext cx="1920240" cy="548640"/>
          </a:xfrm>
          <a:prstGeom prst="rect">
            <a:avLst/>
          </a:prstGeom>
          <a:solidFill>
            <a:srgbClr val="101522"/>
          </a:solidFill>
          <a:ln w="12700">
            <a:solidFill>
              <a:srgbClr val="18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Grouped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47000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992624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syyaimsafeg.ai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&amp; Factory Owners — Who We're Targeting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101522"/>
          </a:solidFill>
          <a:ln w="15240">
            <a:solidFill>
              <a:srgbClr val="FF5C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🏭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25880" y="11155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a factory owner up at night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408176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think in "PPE compliance rates" — they think in rupees lost, production halted, and licences threatened. Every message targets those 3 fears. The hook is always ROI first, safety second. They trust numbers, not features.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651760" cy="1417320"/>
          </a:xfrm>
          <a:prstGeom prst="rect">
            <a:avLst/>
          </a:prstGeom>
          <a:solidFill>
            <a:srgbClr val="161C2E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265176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23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Rupees Lost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 Lakh+ per accident in ESIC,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&amp; downtime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377440"/>
            <a:ext cx="2651760" cy="1417320"/>
          </a:xfrm>
          <a:prstGeom prst="rect">
            <a:avLst/>
          </a:prstGeom>
          <a:solidFill>
            <a:srgbClr val="161C2E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377440"/>
            <a:ext cx="2651760" cy="54864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423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🛑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91840" y="29260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Halted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violation can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plant for weeks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377440"/>
            <a:ext cx="2651760" cy="1417320"/>
          </a:xfrm>
          <a:prstGeom prst="rect">
            <a:avLst/>
          </a:prstGeom>
          <a:solidFill>
            <a:srgbClr val="161C2E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377440"/>
            <a:ext cx="2651760" cy="54864"/>
          </a:xfrm>
          <a:prstGeom prst="rect">
            <a:avLst/>
          </a:prstGeom>
          <a:solidFill>
            <a:srgbClr val="FFBA0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423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126480" y="29260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at Risk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failures threaten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licence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1362456" cy="256032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77640"/>
            <a:ext cx="1362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11096" y="3977640"/>
            <a:ext cx="1051560" cy="256032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11096" y="39776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ROI-driven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54096" y="3977640"/>
            <a:ext cx="1828800" cy="256032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54096" y="3977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Fears ESIC penalties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74336" y="3977640"/>
            <a:ext cx="2011680" cy="256032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3977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Fears production shutdown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77456" y="3977640"/>
            <a:ext cx="1129284" cy="256032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77456" y="3977640"/>
            <a:ext cx="11292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 data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98180" y="3977640"/>
            <a:ext cx="1595628" cy="256032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98180" y="3977640"/>
            <a:ext cx="15956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Sceptical of SaaS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1517904" cy="256032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7764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free trial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5C1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 — VARIANT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1645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Cost Angle · Highest Intent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Accident Costs ₹11 Lakh — Make That Case First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515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syyaimsafeg.ai › factory-owners › roi-calculator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Accident Costs ₹11 Lakh | AI Safety — ₹2,500/Cam/Month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D51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plants lose ₹40–60 Lakh/yr to preventable accidents. SafeG AI cuts incidents by 40% — ROI in under 6 months. Works with existing cameras. Free 4-week pilot.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542032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My ROI 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2542032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Live Demo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2542032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0" y="2542032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Call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005840"/>
            <a:ext cx="2926080" cy="3840480"/>
          </a:xfrm>
          <a:prstGeom prst="rect">
            <a:avLst/>
          </a:prstGeom>
          <a:solidFill>
            <a:srgbClr val="101522"/>
          </a:solidFill>
          <a:ln w="12700">
            <a:solidFill>
              <a:srgbClr val="181F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051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HEADLINES  (30 chars max)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833872" y="1307592"/>
            <a:ext cx="27432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2A34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30759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08192" y="1307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Accident = ₹11 Lakh Loss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57032" y="1307592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33872" y="1645920"/>
            <a:ext cx="27432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2A34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16459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08192" y="1645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₹2,500/Camera — Try Free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57032" y="1645920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833872" y="1984248"/>
            <a:ext cx="27432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2A34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33872" y="19842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08192" y="198424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Paying for Accidents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57032" y="1984248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25/30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833872" y="2322576"/>
            <a:ext cx="27432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2A34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232257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08192" y="232257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Cuts Factory Accidents 40%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57032" y="2322576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833872" y="2660904"/>
            <a:ext cx="27432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2A34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266090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8192" y="266090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in Under 6 Months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57032" y="2660904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21/30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833872" y="2999232"/>
            <a:ext cx="27432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2A34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33872" y="299923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08192" y="29992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4-Week Pilot — Full Setup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57032" y="2999232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833872" y="3337560"/>
            <a:ext cx="27432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2A34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33375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08192" y="33375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Plant. Safer in 2 Hours.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257032" y="3337560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833872" y="3675888"/>
            <a:ext cx="27432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2A34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367588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08192" y="36758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₹40 Lakh Per Year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57032" y="3675888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22/30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833872" y="4014216"/>
            <a:ext cx="27432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2A34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33872" y="401421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08192" y="401421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Existing Cameras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257032" y="4014216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833872" y="4352544"/>
            <a:ext cx="27432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2A34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33872" y="435254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08192" y="435254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400–800% 3-Year ROI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257032" y="4352544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57200" y="278892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DESCRIPTIONS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3017520"/>
            <a:ext cx="5120640" cy="502920"/>
          </a:xfrm>
          <a:prstGeom prst="rect">
            <a:avLst/>
          </a:prstGeom>
          <a:solidFill>
            <a:srgbClr val="101522"/>
          </a:solidFill>
          <a:ln w="12700">
            <a:solidFill>
              <a:srgbClr val="181F3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" y="303580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Indian plants lose ₹40–60 Lakh/yr to preventable accidents. SafeG AI reduces incidents by 40% — full ROI in under 6 months.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" y="3584448"/>
            <a:ext cx="5120640" cy="502920"/>
          </a:xfrm>
          <a:prstGeom prst="rect">
            <a:avLst/>
          </a:prstGeom>
          <a:solidFill>
            <a:srgbClr val="101522"/>
          </a:solidFill>
          <a:ln w="12700">
            <a:solidFill>
              <a:srgbClr val="181F3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" y="360273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4-week pilot — full setup in 2 hours, works with any existing IP camera. No contract. Cancel any time.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5C1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ADS — VARIANTS B &amp; 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Shutdown  ·  Social Proof &amp; Speed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4023360" cy="292608"/>
          </a:xfrm>
          <a:prstGeom prst="rect">
            <a:avLst/>
          </a:prstGeom>
          <a:solidFill>
            <a:srgbClr val="4080FF"/>
          </a:solidFill>
          <a:ln w="12700">
            <a:solidFill>
              <a:srgbClr val="408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B — Fear of Shutdown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Factory Shutdown Risk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49040" y="1325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459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1645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Licence at Risk?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749040" y="16459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659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1965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Form 18 — Every Incident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49040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860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24/7 — Always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49040" y="22860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25/30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60604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2606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 Lakh Penalty? AI Prevents 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49040" y="26060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31/30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2608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Shutdown. No Penalty. SafeG.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49040" y="2926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461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 — No Commitment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49040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3584448"/>
            <a:ext cx="4023360" cy="502920"/>
          </a:xfrm>
          <a:prstGeom prst="rect">
            <a:avLst/>
          </a:prstGeom>
          <a:solidFill>
            <a:srgbClr val="161C2E"/>
          </a:solidFill>
          <a:ln w="10160">
            <a:solidFill>
              <a:srgbClr val="2A34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60273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description: One Factories Act violation can halt your plant for weeks. SafeG AI monitors 16 cameras 24/7, auto-generates Form 18 &amp; keeps you audit-ready — always.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987552"/>
            <a:ext cx="4023360" cy="292608"/>
          </a:xfrm>
          <a:prstGeom prst="rect">
            <a:avLst/>
          </a:prstGeom>
          <a:solidFill>
            <a:srgbClr val="00CEB0"/>
          </a:solidFill>
          <a:ln w="12700">
            <a:solidFill>
              <a:srgbClr val="00CE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987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 — Social Proof &amp; Speed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132588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37760" y="1325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Plant, Safer in 2 Hours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955280" y="13258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663440" y="164592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16459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37760" y="1645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Fewer Accidents — Verified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955280" y="16459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663440" y="196596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19659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37760" y="1965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&amp; Chemical Plants Use SafeG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955280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32/30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663440" y="228600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22860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3776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PPE Compliance — Sustained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955280" y="22860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663440" y="260604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260604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37760" y="2606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 30 Seconds — Every Time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955280" y="26060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32/30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663440" y="292608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292608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3776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₹2,500/Cam — Cheaper Than 1 Guard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955280" y="2926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33/30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663440" y="3246120"/>
            <a:ext cx="4023360" cy="27432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0" y="32461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93776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— Zero Commitment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955280" y="32461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28/30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663440" y="3584448"/>
            <a:ext cx="4023360" cy="502920"/>
          </a:xfrm>
          <a:prstGeom prst="rect">
            <a:avLst/>
          </a:prstGeom>
          <a:solidFill>
            <a:srgbClr val="161C2E"/>
          </a:solidFill>
          <a:ln w="10160">
            <a:solidFill>
              <a:srgbClr val="2A34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00600" y="360273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description: Auto &amp; chemical plants across India use SafeG AI to cut accidents by 40%. Start free — full setup in 2 hours, no hardware swap, no commitment.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57200" y="4224528"/>
            <a:ext cx="8229600" cy="640080"/>
          </a:xfrm>
          <a:prstGeom prst="rect">
            <a:avLst/>
          </a:prstGeom>
          <a:solidFill>
            <a:srgbClr val="1A3A1A"/>
          </a:solidFill>
          <a:ln w="12700">
            <a:solidFill>
              <a:srgbClr val="22D46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" y="42519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TIP: Run all 3 variants simultaneously in separate ad groups. Google will auto-rotate and surface the best-performing headline combinations. Review after 500+ impressions to identify top performers per audience segment.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5C1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Owner Intent — 5 Ad Group Clusters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828800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292608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Loss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53312"/>
            <a:ext cx="201168" cy="274320"/>
          </a:xfrm>
          <a:prstGeom prst="rect">
            <a:avLst/>
          </a:prstGeom>
          <a:solidFill>
            <a:srgbClr val="22D46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533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" y="13533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accident cost India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700784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700784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70078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85800" y="1700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ESIC penalty factory India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048256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48256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482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85800" y="20482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shutdown Factories Act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395728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3957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5800" y="23957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workplace accidents India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54680" y="1005840"/>
            <a:ext cx="2651760" cy="1828800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1005840"/>
            <a:ext cx="2651760" cy="292608"/>
          </a:xfrm>
          <a:prstGeom prst="rect">
            <a:avLst/>
          </a:prstGeom>
          <a:solidFill>
            <a:srgbClr val="00CEB0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Systems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1353312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1353312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13533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74720" y="13533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safety monitoring system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46120" y="1700784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1700784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170078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474720" y="1700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CCTV safety monitoring India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46120" y="2048256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2048256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37" name="Text 35"/>
          <p:cNvSpPr/>
          <p:nvPr/>
        </p:nvSpPr>
        <p:spPr>
          <a:xfrm>
            <a:off x="3246120" y="20482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474720" y="20482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factory hazard detection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46120" y="2395728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6120" y="2395728"/>
            <a:ext cx="201168" cy="274320"/>
          </a:xfrm>
          <a:prstGeom prst="rect">
            <a:avLst/>
          </a:prstGeom>
          <a:solidFill>
            <a:srgbClr val="FFBA00"/>
          </a:solidFill>
          <a:ln/>
        </p:spPr>
      </p:sp>
      <p:sp>
        <p:nvSpPr>
          <p:cNvPr id="41" name="Text 39"/>
          <p:cNvSpPr/>
          <p:nvPr/>
        </p:nvSpPr>
        <p:spPr>
          <a:xfrm>
            <a:off x="3246120" y="23957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474720" y="23957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PPE detection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43600" y="1005840"/>
            <a:ext cx="2651760" cy="1828800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43600" y="1005840"/>
            <a:ext cx="2651760" cy="292608"/>
          </a:xfrm>
          <a:prstGeom prst="rect">
            <a:avLst/>
          </a:prstGeom>
          <a:solidFill>
            <a:srgbClr val="FFBA00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0" y="1005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35040" y="1353312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1353312"/>
            <a:ext cx="201168" cy="274320"/>
          </a:xfrm>
          <a:prstGeom prst="rect">
            <a:avLst/>
          </a:prstGeom>
          <a:solidFill>
            <a:srgbClr val="22D46A"/>
          </a:solidFill>
          <a:ln/>
        </p:spPr>
      </p:sp>
      <p:sp>
        <p:nvSpPr>
          <p:cNvPr id="48" name="Text 46"/>
          <p:cNvSpPr/>
          <p:nvPr/>
        </p:nvSpPr>
        <p:spPr>
          <a:xfrm>
            <a:off x="6035040" y="13533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263640" y="13533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Act compliance software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35040" y="1700784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35040" y="1700784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52" name="Text 50"/>
          <p:cNvSpPr/>
          <p:nvPr/>
        </p:nvSpPr>
        <p:spPr>
          <a:xfrm>
            <a:off x="6035040" y="170078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263640" y="1700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18 accident register automation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035040" y="2048256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35040" y="2048256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56" name="Text 54"/>
          <p:cNvSpPr/>
          <p:nvPr/>
        </p:nvSpPr>
        <p:spPr>
          <a:xfrm>
            <a:off x="6035040" y="20482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263640" y="20482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 documentation software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35040" y="2395728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35040" y="2395728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60" name="Text 58"/>
          <p:cNvSpPr/>
          <p:nvPr/>
        </p:nvSpPr>
        <p:spPr>
          <a:xfrm>
            <a:off x="6035040" y="23957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263640" y="23957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safety audit software India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5760" y="3063240"/>
            <a:ext cx="2651760" cy="1828800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65760" y="3063240"/>
            <a:ext cx="2651760" cy="292608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0632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/ Switch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3410712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3410712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34107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85800" y="3410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Wobot AI alternative India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" y="3758184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7200" y="3758184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71" name="Text 69"/>
          <p:cNvSpPr/>
          <p:nvPr/>
        </p:nvSpPr>
        <p:spPr>
          <a:xfrm>
            <a:off x="457200" y="375818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85800" y="37581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Intenseye India alternative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57200" y="4105656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7200" y="4105656"/>
            <a:ext cx="201168" cy="274320"/>
          </a:xfrm>
          <a:prstGeom prst="rect">
            <a:avLst/>
          </a:prstGeom>
          <a:solidFill>
            <a:srgbClr val="FFBA00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41056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85800" y="41056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camera system vs CCTV guard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57200" y="4453128"/>
            <a:ext cx="246888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00" y="4453128"/>
            <a:ext cx="201168" cy="274320"/>
          </a:xfrm>
          <a:prstGeom prst="rect">
            <a:avLst/>
          </a:prstGeom>
          <a:solidFill>
            <a:srgbClr val="FFBA00"/>
          </a:solidFill>
          <a:ln/>
        </p:spPr>
      </p:sp>
      <p:sp>
        <p:nvSpPr>
          <p:cNvPr id="79" name="Text 77"/>
          <p:cNvSpPr/>
          <p:nvPr/>
        </p:nvSpPr>
        <p:spPr>
          <a:xfrm>
            <a:off x="457200" y="44531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85800" y="4453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factory safety system India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154680" y="3063240"/>
            <a:ext cx="3383280" cy="1828800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3154680" y="3063240"/>
            <a:ext cx="3383280" cy="292608"/>
          </a:xfrm>
          <a:prstGeom prst="rect">
            <a:avLst/>
          </a:prstGeom>
          <a:solidFill>
            <a:srgbClr val="22D46A"/>
          </a:solidFill>
          <a:ln/>
        </p:spPr>
      </p:sp>
      <p:sp>
        <p:nvSpPr>
          <p:cNvPr id="83" name="Text 81"/>
          <p:cNvSpPr/>
          <p:nvPr/>
        </p:nvSpPr>
        <p:spPr>
          <a:xfrm>
            <a:off x="3154680" y="3063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Intent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246120" y="3410712"/>
            <a:ext cx="32004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46120" y="3410712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86" name="Text 84"/>
          <p:cNvSpPr/>
          <p:nvPr/>
        </p:nvSpPr>
        <p:spPr>
          <a:xfrm>
            <a:off x="3246120" y="34107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3474720" y="34107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parts factory safety system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246120" y="3758184"/>
            <a:ext cx="32004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46120" y="3758184"/>
            <a:ext cx="201168" cy="274320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90" name="Text 88"/>
          <p:cNvSpPr/>
          <p:nvPr/>
        </p:nvSpPr>
        <p:spPr>
          <a:xfrm>
            <a:off x="3246120" y="375818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474720" y="37581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plant safety monitoring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246120" y="4105656"/>
            <a:ext cx="32004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46120" y="4105656"/>
            <a:ext cx="201168" cy="274320"/>
          </a:xfrm>
          <a:prstGeom prst="rect">
            <a:avLst/>
          </a:prstGeom>
          <a:solidFill>
            <a:srgbClr val="FFBA00"/>
          </a:solidFill>
          <a:ln/>
        </p:spPr>
      </p:sp>
      <p:sp>
        <p:nvSpPr>
          <p:cNvPr id="94" name="Text 92"/>
          <p:cNvSpPr/>
          <p:nvPr/>
        </p:nvSpPr>
        <p:spPr>
          <a:xfrm>
            <a:off x="3246120" y="41056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3474720" y="41056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factory compliance software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246120" y="4453128"/>
            <a:ext cx="3200400" cy="274320"/>
          </a:xfrm>
          <a:prstGeom prst="rect">
            <a:avLst/>
          </a:prstGeom>
          <a:solidFill>
            <a:srgbClr val="161C2E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46120" y="4453128"/>
            <a:ext cx="201168" cy="274320"/>
          </a:xfrm>
          <a:prstGeom prst="rect">
            <a:avLst/>
          </a:prstGeom>
          <a:solidFill>
            <a:srgbClr val="FFBA00"/>
          </a:solidFill>
          <a:ln/>
        </p:spPr>
      </p:sp>
      <p:sp>
        <p:nvSpPr>
          <p:cNvPr id="98" name="Text 96"/>
          <p:cNvSpPr/>
          <p:nvPr/>
        </p:nvSpPr>
        <p:spPr>
          <a:xfrm>
            <a:off x="3246120" y="445312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3474720" y="4453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warehouse safety AI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1A0A0A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02920" y="4270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NEGATIVES (add immediately):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course · training · jobs · salary · definition · pdf · ppt · template · download · wikipedia · certification exam · DIY · what is · how to · news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5C1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AD BANNERS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Production-Ready Sizes · Copy &amp; Messaging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 × 90 — Leaderboard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07091A"/>
          </a:solidFill>
          <a:ln w="15240">
            <a:solidFill>
              <a:srgbClr val="FF5C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73152" cy="777240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6187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2984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accident costs ₹11 Lakh. SafeG AI costs ₹2,500/cam/mo.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59105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shopfloor monitoring · Factories Act compliant · Free 4-week pilot · India-first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94960" y="12984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5727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Accidents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00800" y="12984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5727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Time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406640" y="12984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6640" y="15727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Payback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589520" y="1371600"/>
            <a:ext cx="960120" cy="502920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137160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Demo →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1488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× 250 — Medium Rectangle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3931920" cy="2514600"/>
          </a:xfrm>
          <a:prstGeom prst="rect">
            <a:avLst/>
          </a:prstGeom>
          <a:solidFill>
            <a:srgbClr val="07091A"/>
          </a:solidFill>
          <a:ln w="12700">
            <a:solidFill>
              <a:srgbClr val="FF5C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77440"/>
            <a:ext cx="3931920" cy="45720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450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AI MONITORING ACTIVE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" y="265176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paying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accidents.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them.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watches your shopfloor 24/7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hazards before they become ₹11 Lakh problems.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3822192"/>
            <a:ext cx="1188720" cy="45720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40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40507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Incidents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874520" y="3822192"/>
            <a:ext cx="1188720" cy="45720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74520" y="3840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74520" y="40507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Payback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54680" y="3822192"/>
            <a:ext cx="1188720" cy="457200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840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54680" y="40507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Cam/Month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4360" y="4343400"/>
            <a:ext cx="3657600" cy="384048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3434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4-Week Pilot 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21488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× 600 — Half Page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377440"/>
            <a:ext cx="3931920" cy="2514600"/>
          </a:xfrm>
          <a:prstGeom prst="rect">
            <a:avLst/>
          </a:prstGeom>
          <a:solidFill>
            <a:srgbClr val="07091A"/>
          </a:solidFill>
          <a:ln w="12700">
            <a:solidFill>
              <a:srgbClr val="FF5C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377440"/>
            <a:ext cx="3931920" cy="45720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2468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Syyaim SafeG AI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2743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plant loses ₹40 Lakh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accidents.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anymore.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892040" y="3429000"/>
            <a:ext cx="3611880" cy="292608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4290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16-Camera 24/7 AI Watch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92040" y="3767328"/>
            <a:ext cx="3611880" cy="292608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767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Alert in Under 30 Seconds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92040" y="4105656"/>
            <a:ext cx="3611880" cy="292608"/>
          </a:xfrm>
          <a:prstGeom prst="rect">
            <a:avLst/>
          </a:prstGeom>
          <a:solidFill>
            <a:srgbClr val="101522"/>
          </a:solidFill>
          <a:ln w="6350">
            <a:solidFill>
              <a:srgbClr val="181F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410565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Factories Act Auto-Reports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92040" y="4480560"/>
            <a:ext cx="3611880" cy="384048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44805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Demo Today →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5C1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SETUP &amp; BIDDING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Checklist for Maximum ROI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1828800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 Strategy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1847088"/>
            <a:ext cx="1280160" cy="36576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385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1: Maximize Clicks · ₹600–1,000/day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2+: Switch to Target CPA (30+ conversions)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CPC: ₹120–220 for safety keywords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1828800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Priority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1847088"/>
            <a:ext cx="1280160" cy="36576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9385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Pune · Chennai · Ahmedabad · Gurugram · Bengaluru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(+20% bid modifier)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Surat · Ludhiana · Coimbatore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1828800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Schedule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847088"/>
            <a:ext cx="1280160" cy="36576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9385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Mon–Fri 9am–7pm IST at full bid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7pm–10pm IST: +10% bid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Weekends: -30% · Desktop: +25% modifier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743200" cy="1828800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Layering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97280" y="3813048"/>
            <a:ext cx="1280160" cy="36576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044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Business Owners in-market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Manufacturing Equipment segment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MD · CEO · Plant Head job titles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971800"/>
            <a:ext cx="2743200" cy="1828800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4612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4612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77640" y="3813048"/>
            <a:ext cx="1280160" cy="36576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9044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Demo form submit (value ₹60,000)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ROI calculator · Pricing page 30s+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enhanced conversions for smart bidding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743200" cy="1828800"/>
          </a:xfrm>
          <a:prstGeom prst="rect">
            <a:avLst/>
          </a:prstGeom>
          <a:solidFill>
            <a:srgbClr val="101522"/>
          </a:solidFill>
          <a:ln w="12700">
            <a:solidFill>
              <a:srgbClr val="2A3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264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3813048"/>
            <a:ext cx="1280160" cy="36576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9044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page visitors: 14-day list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 users: 30-day list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page bounced: 7-day list → Variant 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5C1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MATCH + 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Quality Score — Match Headline to Hero Text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2286000"/>
          </a:xfrm>
          <a:prstGeom prst="rect">
            <a:avLst/>
          </a:prstGeom>
          <a:solidFill>
            <a:srgbClr val="101522"/>
          </a:solidFill>
          <a:ln w="15240">
            <a:solidFill>
              <a:srgbClr val="FF5C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347472"/>
          </a:xfrm>
          <a:prstGeom prst="rect">
            <a:avLst/>
          </a:prstGeom>
          <a:solidFill>
            <a:srgbClr val="FF5C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ROI Calculator Page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682496"/>
            <a:ext cx="1828800" cy="27432"/>
          </a:xfrm>
          <a:prstGeom prst="rect">
            <a:avLst/>
          </a:prstGeom>
          <a:solidFill>
            <a:srgbClr val="2A345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55648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Hero: "Enter your incident count → see ₹ saving"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Calculate + Book Pilot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exact: "1 accident = ₹11 Lakh"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743200" cy="2286000"/>
          </a:xfrm>
          <a:prstGeom prst="rect">
            <a:avLst/>
          </a:prstGeom>
          <a:solidFill>
            <a:srgbClr val="101522"/>
          </a:solidFill>
          <a:ln w="15240">
            <a:solidFill>
              <a:srgbClr val="408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2743200" cy="347472"/>
          </a:xfrm>
          <a:prstGeom prst="rect">
            <a:avLst/>
          </a:prstGeom>
          <a:solidFill>
            <a:srgbClr val="4080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05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389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Compliance Page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1682496"/>
            <a:ext cx="1828800" cy="27432"/>
          </a:xfrm>
          <a:prstGeom prst="rect">
            <a:avLst/>
          </a:prstGeom>
          <a:solidFill>
            <a:srgbClr val="2A3455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755648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Factories Act risk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Form 18 auto-generation demo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CERT-In badge · AWS Mumbai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743200" cy="2286000"/>
          </a:xfrm>
          <a:prstGeom prst="rect">
            <a:avLst/>
          </a:prstGeom>
          <a:solidFill>
            <a:srgbClr val="101522"/>
          </a:solidFill>
          <a:ln w="15240">
            <a:solidFill>
              <a:srgbClr val="00CE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05840"/>
            <a:ext cx="2743200" cy="347472"/>
          </a:xfrm>
          <a:prstGeom prst="rect">
            <a:avLst/>
          </a:prstGeom>
          <a:solidFill>
            <a:srgbClr val="00CEB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005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389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Results / Social Proof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1682496"/>
            <a:ext cx="1828800" cy="27432"/>
          </a:xfrm>
          <a:prstGeom prst="rect">
            <a:avLst/>
          </a:prstGeom>
          <a:solidFill>
            <a:srgbClr val="2A3455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755648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"40% fewer incidents — measured"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dashboards · Customer logos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 CTA prominent above fold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456432"/>
            <a:ext cx="8412480" cy="1143000"/>
          </a:xfrm>
          <a:prstGeom prst="rect">
            <a:avLst/>
          </a:prstGeom>
          <a:solidFill>
            <a:srgbClr val="161C2E"/>
          </a:solidFill>
          <a:ln w="12700">
            <a:solidFill>
              <a:srgbClr val="2A34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02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PERFORMANCE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₹120–220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Safety Keywords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0" y="3749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743200" y="4114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CTR (B2B)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3749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₹25–40K/mo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846320" y="4114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Budget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0" y="3749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49440" y="4114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Bookings/Month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0" y="4617720"/>
            <a:ext cx="4572000" cy="475488"/>
          </a:xfrm>
          <a:prstGeom prst="rect">
            <a:avLst/>
          </a:prstGeom>
          <a:solidFill>
            <a:srgbClr val="FF5C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286000" y="461772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Launch → syyaimsafeg.ai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F5C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Syyaim SafeG AI — Google Ads · Factory Owners</dc:title>
  <dc:subject>PptxGenJS Presentation</dc:subject>
  <dc:creator>PptxGenJS</dc:creator>
  <cp:lastModifiedBy>PptxGenJS</cp:lastModifiedBy>
  <cp:revision>1</cp:revision>
  <dcterms:created xsi:type="dcterms:W3CDTF">2026-03-08T05:43:18Z</dcterms:created>
  <dcterms:modified xsi:type="dcterms:W3CDTF">2026-03-08T05:43:18Z</dcterms:modified>
</cp:coreProperties>
</file>