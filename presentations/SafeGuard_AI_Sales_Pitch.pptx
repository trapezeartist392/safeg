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2468880" cy="11887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15544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SAFEGUARD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01168" y="2377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Accidents Before They Happen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01168" y="2944368"/>
            <a:ext cx="5943600" cy="45720"/>
          </a:xfrm>
          <a:prstGeom prst="rect">
            <a:avLst/>
          </a:prstGeom>
          <a:solidFill>
            <a:srgbClr val="334D6E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Manufacturing Safety Monitoring for India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01168" y="3858768"/>
            <a:ext cx="1828800" cy="914400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6888" y="3931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3/day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46888" y="4297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deaths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(DGFASLI data)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67128" y="3858768"/>
            <a:ext cx="1828800" cy="914400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3931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363K+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212848" y="4297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33088" y="3858768"/>
            <a:ext cx="1828800" cy="914400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78808" y="3931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Rs.1,500Cr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78808" y="4297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99048" y="3858768"/>
            <a:ext cx="1828800" cy="914400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44768" y="3931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144768" y="4297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target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Sales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Manufacturing Safety Crisis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697480" cy="3429000"/>
          </a:xfrm>
          <a:prstGeom prst="rect">
            <a:avLst/>
          </a:prstGeom>
          <a:solidFill>
            <a:srgbClr val="0F1A3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Die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registered factories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(DGFASLI official data)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298448"/>
            <a:ext cx="2697480" cy="3429000"/>
          </a:xfrm>
          <a:prstGeom prst="rect">
            <a:avLst/>
          </a:prstGeom>
          <a:solidFill>
            <a:srgbClr val="0F1A3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9844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17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3319272" y="25786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3273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figure — actual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10–20× higher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1298448"/>
            <a:ext cx="2697480" cy="3429000"/>
          </a:xfrm>
          <a:prstGeom prst="rect">
            <a:avLst/>
          </a:prstGeom>
          <a:solidFill>
            <a:srgbClr val="0F1A30"/>
          </a:solidFill>
          <a:ln w="12700">
            <a:solidFill>
              <a:srgbClr val="E862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298448"/>
            <a:ext cx="2697480" cy="6400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417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6%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6227064" y="25786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27064" y="3273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Safe In India Foundation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94% go undocumented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A1025"/>
          </a:solidFill>
          <a:ln w="12700">
            <a:solidFill>
              <a:srgbClr val="3D1A0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45736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8096" y="4736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 people were imprisoned for 3,331 factory deaths (2018–2020). Enforcement alone will never solve this.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APPROACHES FAIL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Fatal Flaws in Traditional Safety Monitoring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397764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4D151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3350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2801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audits miss daily hazards — accidents happen every hour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79392" y="1426464"/>
            <a:ext cx="365760" cy="16459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45152" y="1380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1A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07008"/>
            <a:ext cx="3977640" cy="594360"/>
          </a:xfrm>
          <a:prstGeom prst="rect">
            <a:avLst/>
          </a:prstGeom>
          <a:solidFill>
            <a:srgbClr val="081A12"/>
          </a:solidFill>
          <a:ln w="12700">
            <a:solidFill>
              <a:srgbClr val="145C3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3533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2984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AI monitors 24/7, every 15 seconds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1920240"/>
            <a:ext cx="397764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4D151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4825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19933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records incidents but never prevents them — footage reviewed after injury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279392" y="2139696"/>
            <a:ext cx="365760" cy="16459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45152" y="20939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1A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1920240"/>
            <a:ext cx="3977640" cy="594360"/>
          </a:xfrm>
          <a:prstGeom prst="rect">
            <a:avLst/>
          </a:prstGeom>
          <a:solidFill>
            <a:srgbClr val="081A12"/>
          </a:solidFill>
          <a:ln w="12700">
            <a:solidFill>
              <a:srgbClr val="145C3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06654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201168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alerts supervisors BEFORE injury occurs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2633472"/>
            <a:ext cx="397764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4D151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76148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270662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supervisor per 50+ workers — physically impossible to watch all zones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279392" y="2852928"/>
            <a:ext cx="365760" cy="16459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645152" y="28072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1A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846320" y="2633472"/>
            <a:ext cx="3977640" cy="594360"/>
          </a:xfrm>
          <a:prstGeom prst="rect">
            <a:avLst/>
          </a:prstGeom>
          <a:solidFill>
            <a:srgbClr val="081A12"/>
          </a:solidFill>
          <a:ln w="12700">
            <a:solidFill>
              <a:srgbClr val="145C3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2779776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49240" y="272491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zones monitored simultaneously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274320" y="3346704"/>
            <a:ext cx="397764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4D1515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3474720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04672" y="341985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checklists give no analytics, no trends, no proof for auditors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279392" y="3566160"/>
            <a:ext cx="365760" cy="16459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645152" y="3520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1A"/>
                </a:solidFill>
              </a:rPr>
              <a:t>▶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846320" y="3346704"/>
            <a:ext cx="3977640" cy="594360"/>
          </a:xfrm>
          <a:prstGeom prst="rect">
            <a:avLst/>
          </a:prstGeom>
          <a:solidFill>
            <a:srgbClr val="081A12"/>
          </a:solidFill>
          <a:ln w="12700">
            <a:solidFill>
              <a:srgbClr val="145C3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336" y="3493008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49240" y="34381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trail + Factories Act-ready reports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274320" y="4059936"/>
            <a:ext cx="397764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4D1515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4187952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04672" y="413308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accident costs Rs. 10L–25L in claims, penalties, and downtime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4279392" y="4279392"/>
            <a:ext cx="365760" cy="16459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645152" y="42336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1A"/>
                </a:solidFill>
              </a:rPr>
              <a:t>▶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4846320" y="4059936"/>
            <a:ext cx="3977640" cy="594360"/>
          </a:xfrm>
          <a:prstGeom prst="rect">
            <a:avLst/>
          </a:prstGeom>
          <a:solidFill>
            <a:srgbClr val="081A12"/>
          </a:solidFill>
          <a:ln w="12700">
            <a:solidFill>
              <a:srgbClr val="145C30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336" y="4206240"/>
            <a:ext cx="292608" cy="29260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349240" y="41513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costs Rs. 2,500/camera/month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400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" y="12984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SAFEGUARD AI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56032" y="1792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" y="2267712"/>
            <a:ext cx="292608" cy="292608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212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cameras stream via RTSP — zero hardware replacement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" y="2798064"/>
            <a:ext cx="292608" cy="292608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 captures a frame every 15 seconds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" y="3328416"/>
            <a:ext cx="292608" cy="292608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2735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AI analyses across 8 hazard categories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032" y="3858768"/>
            <a:ext cx="292608" cy="292608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8039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alerts fire instantly via SMS + dashboard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6032" y="4389120"/>
            <a:ext cx="292608" cy="292608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43342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Factories Act Form 18 reports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77640" y="2011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Safety Categories — Detected in Real-Time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977640" y="621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Vision AI — most capable vision model available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105156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77640" y="1051560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🪖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544568" y="11064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44568" y="139903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vest, gloves, goggles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446520" y="105156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46520" y="1051560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56248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013448" y="11064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013448" y="139903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flame/smoke detection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977640" y="2039112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977640" y="2039112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87368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4544568" y="20939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44568" y="2386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breach detection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446520" y="2039112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2039112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56248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013448" y="20939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at Height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013448" y="2386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&amp; guardrail safety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977640" y="3026664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977640" y="3026664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87368" y="30723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4544568" y="30815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Hazards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544568" y="33741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Spillage &amp; improper handling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46520" y="3026664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446520" y="3026664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56248" y="30723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7013448" y="30815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Safety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7013448" y="33741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&amp; lockout/tagout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3977640" y="4014216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3977640" y="4014216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087368" y="4059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🚧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4544568" y="40690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4544568" y="4361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exits &amp; trip hazards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446520" y="4014216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446520" y="4014216"/>
            <a:ext cx="64008" cy="84124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556248" y="4059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7013448" y="40690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Safety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7013448" y="4361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Forklift/pedestrian conflicts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3977640" y="4828032"/>
            <a:ext cx="4937760" cy="21945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977640" y="48280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existing IP camera  •  No hardware replacement  •  Setup in &lt; 2 hours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Prevented Accident Pays for 3 Years of SafeGuard AI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7043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Accident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682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ESIC / Compensation claim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33472" y="1682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5,00,000 – 15,00,000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legal penalty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33472" y="2176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2,00,000 per incident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267004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downtime (2–5 days)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33472" y="2670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1,50,000 – 5,00,000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31638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&amp; replacement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633472" y="31638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50,000 – 1,50,000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65760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/ audit risk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633472" y="3657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2,00,000+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078224"/>
            <a:ext cx="3749040" cy="438912"/>
          </a:xfrm>
          <a:prstGeom prst="rect">
            <a:avLst/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1513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(conservative)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3347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10L – 25L per accident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1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46320" y="109728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F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097280"/>
            <a:ext cx="39319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6128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03520" y="1170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AI — 32 Cameras, Full Year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029200" y="1682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(cameras + server + install)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114032" y="1682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8,53,000 (one-time)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029200" y="217627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SaaS subscription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114032" y="2176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3,84,000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029200" y="267004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cloud storage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114032" y="2670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72,000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5029200" y="31638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 1 investment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7114032" y="31638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13,09,000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029200" y="365760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prevented (40% reduction)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7114032" y="3657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 year prevented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937760" y="4078224"/>
            <a:ext cx="374904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29200" y="41513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Year 1 savings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114032" y="41513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40L – 1Cr savings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365760" y="4709160"/>
            <a:ext cx="8412480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45736"/>
            <a:ext cx="237744" cy="23774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2296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6 months  •  3-Year ROI: 400–800%  •  Insurance premium reduction: 15–25%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SAFEGUARD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Win on Every Dimension That Matters for India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468880" cy="420624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20700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170432"/>
            <a:ext cx="1508760" cy="420624"/>
          </a:xfrm>
          <a:prstGeom prst="rect">
            <a:avLst/>
          </a:prstGeom>
          <a:solidFill>
            <a:srgbClr val="E862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20700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170432"/>
            <a:ext cx="1508760" cy="420624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120700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Intenseye (US)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170432"/>
            <a:ext cx="1508760" cy="420624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1304" y="120700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Wobot.ai (India)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170432"/>
            <a:ext cx="1508760" cy="420624"/>
          </a:xfrm>
          <a:prstGeom prst="rect">
            <a:avLst/>
          </a:prstGeom>
          <a:solidFill>
            <a:srgbClr val="162B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120700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+ Guard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591056"/>
            <a:ext cx="246888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618488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1591056"/>
            <a:ext cx="1508760" cy="393192"/>
          </a:xfrm>
          <a:prstGeom prst="rect">
            <a:avLst/>
          </a:prstGeom>
          <a:solidFill>
            <a:srgbClr val="1C2F0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61848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1591056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61848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1591056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61304" y="161848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0" y="1591056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61848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011680"/>
            <a:ext cx="246888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2039112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Claude Vision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2011680"/>
            <a:ext cx="1508760" cy="393192"/>
          </a:xfrm>
          <a:prstGeom prst="rect">
            <a:avLst/>
          </a:prstGeom>
          <a:solidFill>
            <a:srgbClr val="14220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20391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2011680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20391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06440" y="2011680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61304" y="20391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0" y="2011680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20391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2432304"/>
            <a:ext cx="246888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2459736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pricing for India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88920" y="2432304"/>
            <a:ext cx="1508760" cy="393192"/>
          </a:xfrm>
          <a:prstGeom prst="rect">
            <a:avLst/>
          </a:prstGeom>
          <a:solidFill>
            <a:srgbClr val="1C2F0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43784" y="245973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2432304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245973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806440" y="2432304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61304" y="245973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315200" y="2432304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245973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0040" y="2852928"/>
            <a:ext cx="246888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2880360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existing cameras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88920" y="2852928"/>
            <a:ext cx="1508760" cy="393192"/>
          </a:xfrm>
          <a:prstGeom prst="rect">
            <a:avLst/>
          </a:prstGeom>
          <a:solidFill>
            <a:srgbClr val="14220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43784" y="288036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297680" y="2852928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288036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806440" y="2852928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61304" y="288036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315200" y="2852928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288036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20040" y="3273552"/>
            <a:ext cx="246888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" y="3300984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reports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88920" y="3273552"/>
            <a:ext cx="1508760" cy="393192"/>
          </a:xfrm>
          <a:prstGeom prst="rect">
            <a:avLst/>
          </a:prstGeom>
          <a:solidFill>
            <a:srgbClr val="1C2F0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33009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297680" y="3273552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52544" y="33009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806440" y="3273552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61304" y="33009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0" y="3273552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0064" y="33009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20040" y="3694176"/>
            <a:ext cx="246888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4904" y="3721608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hazard categories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88920" y="3694176"/>
            <a:ext cx="1508760" cy="393192"/>
          </a:xfrm>
          <a:prstGeom prst="rect">
            <a:avLst/>
          </a:prstGeom>
          <a:solidFill>
            <a:srgbClr val="14220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43784" y="372160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297680" y="3694176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52544" y="372160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806440" y="3694176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61304" y="372160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315200" y="3694176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70064" y="3721608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040" y="4114800"/>
            <a:ext cx="246888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4904" y="4142232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camera / month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88920" y="4114800"/>
            <a:ext cx="1508760" cy="393192"/>
          </a:xfrm>
          <a:prstGeom prst="rect">
            <a:avLst/>
          </a:prstGeom>
          <a:solidFill>
            <a:srgbClr val="1C2F0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43784" y="414223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2,500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297680" y="4114800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52544" y="414223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16,700+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806440" y="4114800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61304" y="414223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3,000+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315200" y="4114800"/>
            <a:ext cx="1508760" cy="39319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70064" y="414223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8,000+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20040" y="4535424"/>
            <a:ext cx="246888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4904" y="4562856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language support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788920" y="4535424"/>
            <a:ext cx="1508760" cy="393192"/>
          </a:xfrm>
          <a:prstGeom prst="rect">
            <a:avLst/>
          </a:prstGeom>
          <a:solidFill>
            <a:srgbClr val="14220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843784" y="456285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4297680" y="4535424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52544" y="456285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806440" y="4535424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61304" y="456285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7315200" y="4535424"/>
            <a:ext cx="1508760" cy="393192"/>
          </a:xfrm>
          <a:prstGeom prst="rect">
            <a:avLst/>
          </a:prstGeom>
          <a:solidFill>
            <a:srgbClr val="0A152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70064" y="4562856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788920" y="5001768"/>
            <a:ext cx="1508760" cy="25603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88920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Transparent — All Prices in INR, No Surprises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5420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542032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78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cameras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8105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4632" y="23957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 / month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" y="2724912"/>
            <a:ext cx="202996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incident log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safety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36392" y="941832"/>
            <a:ext cx="2670048" cy="4059936"/>
          </a:xfrm>
          <a:prstGeom prst="rect">
            <a:avLst/>
          </a:prstGeom>
          <a:solidFill>
            <a:srgbClr val="FF8040"/>
          </a:solidFill>
          <a:ln w="12700">
            <a:solidFill>
              <a:srgbClr val="E862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941832"/>
            <a:ext cx="1920240" cy="25603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941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542032" cy="3931920"/>
          </a:xfrm>
          <a:prstGeom prst="rect">
            <a:avLst/>
          </a:prstGeom>
          <a:solidFill>
            <a:srgbClr val="0F1F3D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05840"/>
            <a:ext cx="2542032" cy="43891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078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73552" y="1536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5–16 cameras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18105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2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₹2,000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73552" y="23957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 / month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56432" y="2724912"/>
            <a:ext cx="202996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46704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 (MSG91)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archive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46704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Form 18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005840"/>
            <a:ext cx="25420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005840"/>
            <a:ext cx="254203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1078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62472" y="1536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17–32 cameras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62472" y="18105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₹1,600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062472" y="23957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 / month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5352" y="2724912"/>
            <a:ext cx="202996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35624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35624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SLA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35624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35624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saves 15%  •  Free 4-week pilot available  •  All prices excl. GST  •  Custom pricing for 33+ cameras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Indian Regulations — Not an Afterthought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3624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1948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" y="16367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19842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Form 18 accident register. Audit-ready export with photos, timestamps, and corrective actions.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17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13624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/ OHSAS 18001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30752" y="16367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OHS Standard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37560" y="19842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safety checks logged with evidence. Analytics support clause 9.1 performance monitoring directly.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0760" y="1234440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2344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13624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BRSR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11112" y="16367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Reporting Mandate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17920" y="19842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data feeds into BRSR OHS disclosures for listed companies — cuts manual reporting time by 80%.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20040" y="3035808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3580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1868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0392" y="31638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Protection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50392" y="34381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PDPB 2023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378561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no facial recognition by default. 90-day retention policy. Worker notice boards included.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00400" y="3035808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303580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18688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30752" y="31638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Code 2020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730752" y="34381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implementation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337560" y="378561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Future-proofed for expanded contract worker coverage. Reports adapt automatically when enacted.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0760" y="3035808"/>
            <a:ext cx="2697480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80760" y="303580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18688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11112" y="31638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/ Cybersecurity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611112" y="34381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ICS/SCADA Guidelines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217920" y="378561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rest, TLS 1.3 in transit. AWS Mumbai (ap-south-1). Incident response SLA included.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Every Manufacturing Segment in India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691640"/>
          </a:xfrm>
          <a:prstGeom prst="rect">
            <a:avLst/>
          </a:prstGeom>
          <a:solidFill>
            <a:srgbClr val="0D1829"/>
          </a:solidFill>
          <a:ln w="12700">
            <a:solidFill>
              <a:srgbClr val="E862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69164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Components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70992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/ Tier-3 Plants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21671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press, stamping, CNC. Highest injury rate in India. OEM audit-ready safety reports included.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234440"/>
            <a:ext cx="4114800" cy="1691640"/>
          </a:xfrm>
          <a:prstGeom prst="rect">
            <a:avLst/>
          </a:prstGeom>
          <a:solidFill>
            <a:srgbClr val="0D1829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23444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9047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7160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Chemical &amp; Pharma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70992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/ Pune Corridor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73752" y="21671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explosion, chemical PPE. PESO documentation. 220+ deaths in sector in 2024.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3154680"/>
            <a:ext cx="4114800" cy="1691640"/>
          </a:xfrm>
          <a:prstGeom prst="rect">
            <a:avLst/>
          </a:prstGeom>
          <a:solidFill>
            <a:srgbClr val="0D182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15468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410712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&amp; Warehousing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97280" y="363016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3PL Hubs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4632" y="4087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Forklift/pedestrian separation, racking safety, loading bay. Scales with existing CCTV.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09160" y="3154680"/>
            <a:ext cx="4114800" cy="1691640"/>
          </a:xfrm>
          <a:prstGeom prst="rect">
            <a:avLst/>
          </a:prstGeom>
          <a:solidFill>
            <a:srgbClr val="0D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15468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410712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Steel &amp; Heavy Industry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63016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/ JSW / Tata Supply Chain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73752" y="4087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Molten metal, crane zones, heat stress PPE. Always-on for 3-shift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94960" cy="64008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Plant Could Be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Safer in 2 Hours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free 4-week pilot.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purchase required.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998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3580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00200" y="30358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existing cameras — we handle the rest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753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51129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600200" y="35112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begins analysis, live dashboard is ready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507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398678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600200" y="39867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safety alerts and compliance insights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262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446227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600200" y="44622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report — then you decide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5720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13898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4-Week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</a:t>
            </a:r>
            <a:endParaRPr lang="en-US" sz="2600" dirty="0"/>
          </a:p>
        </p:txBody>
      </p:sp>
      <p:sp>
        <p:nvSpPr>
          <p:cNvPr id="21" name="Text 14"/>
          <p:cNvSpPr/>
          <p:nvPr/>
        </p:nvSpPr>
        <p:spPr>
          <a:xfrm>
            <a:off x="5577840" y="230428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cost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needed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760720" y="3246120"/>
            <a:ext cx="283464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760720" y="32461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 a Demo Today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577840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sales@safeguard.ai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57784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  |  safeguard.ai/demo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0" y="4974336"/>
            <a:ext cx="5394960" cy="169164"/>
          </a:xfrm>
          <a:prstGeom prst="rect">
            <a:avLst/>
          </a:prstGeom>
          <a:solidFill>
            <a:srgbClr val="0D1A30"/>
          </a:solidFill>
          <a:ln w="12700">
            <a:solidFill>
              <a:srgbClr val="0D1A3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4320" y="4992624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prevented accident pays for 3 years of SafeGuard AI"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SafeGuard AI — Sales Pitch</dc:title>
  <dc:subject>PptxGenJS Presentation</dc:subject>
  <dc:creator>PptxGenJS</dc:creator>
  <cp:lastModifiedBy>PptxGenJS</cp:lastModifiedBy>
  <cp:revision>1</cp:revision>
  <dcterms:created xsi:type="dcterms:W3CDTF">2026-03-06T10:00:20Z</dcterms:created>
  <dcterms:modified xsi:type="dcterms:W3CDTF">2026-03-06T10:00:20Z</dcterms:modified>
</cp:coreProperties>
</file>