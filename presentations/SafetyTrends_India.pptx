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47548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Roboto, Arial" pitchFamily="34" charset="0"/>
                <a:ea typeface="Roboto, Arial" pitchFamily="34" charset="-122"/>
                <a:cs typeface="Roboto, Arial" pitchFamily="34" charset="-120"/>
              </a:rPr>
              <a:t>Search Interest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868680"/>
            <a:ext cx="9144000" cy="2377440"/>
          </a:xfrm>
          <a:prstGeom prst="rect">
            <a:avLst/>
          </a:prstGeom>
          <a:solidFill>
            <a:srgbClr val="042A6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01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Software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Trends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2020 – 2026 · Indexed 0–100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1188720" cy="320040"/>
          </a:xfrm>
          <a:prstGeom prst="roundRect">
            <a:avLst>
              <a:gd name="adj" fmla="val 48571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44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2944368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F8F9FA"/>
          </a:solidFill>
          <a:ln w="1016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944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– Mar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29000"/>
            <a:ext cx="201168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478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₹6,750 Cr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Market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342900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06040" y="3429000"/>
            <a:ext cx="2011680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35478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60604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to 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42900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429000"/>
            <a:ext cx="2011680" cy="54864"/>
          </a:xfrm>
          <a:prstGeom prst="rect">
            <a:avLst/>
          </a:prstGeom>
          <a:solidFill>
            <a:srgbClr val="9334E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5478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₹21,575 Cr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5488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2030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342900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3429000"/>
            <a:ext cx="2011680" cy="54864"/>
          </a:xfrm>
          <a:prstGeom prst="rect">
            <a:avLst/>
          </a:prstGeom>
          <a:solidFill>
            <a:srgbClr val="E8453C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35478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0372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CAGR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Grand View Research · MarketsandMarkets · DGFASLI · Google Trends (indexed)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A73E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OVER TIME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Jan 2020 – Mar 2026 · Search Interest Index (0–100)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Safety Software Keywords — All Rising Sharply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32688"/>
            <a:ext cx="7863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841248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723644"/>
            <a:ext cx="7863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1632204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7863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3305556"/>
            <a:ext cx="7863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57200" y="321411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4096512"/>
            <a:ext cx="7863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4005072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2960" y="914400"/>
            <a:ext cx="0" cy="3200400"/>
          </a:xfrm>
          <a:prstGeom prst="line">
            <a:avLst/>
          </a:prstGeom>
          <a:noFill/>
          <a:ln w="10160">
            <a:solidFill>
              <a:srgbClr val="E0E0E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8640" y="41605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0" y="914400"/>
            <a:ext cx="0" cy="3200400"/>
          </a:xfrm>
          <a:prstGeom prst="line">
            <a:avLst/>
          </a:prstGeom>
          <a:noFill/>
          <a:ln w="10160">
            <a:solidFill>
              <a:srgbClr val="E0E0E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103120" y="41605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31920" y="914400"/>
            <a:ext cx="0" cy="3200400"/>
          </a:xfrm>
          <a:prstGeom prst="line">
            <a:avLst/>
          </a:prstGeom>
          <a:noFill/>
          <a:ln w="10160">
            <a:solidFill>
              <a:srgbClr val="E0E0E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657600" y="41605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914400"/>
            <a:ext cx="0" cy="3200400"/>
          </a:xfrm>
          <a:prstGeom prst="line">
            <a:avLst/>
          </a:prstGeom>
          <a:noFill/>
          <a:ln w="10160">
            <a:solidFill>
              <a:srgbClr val="E0E0E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212080" y="41605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40880" y="914400"/>
            <a:ext cx="0" cy="3200400"/>
          </a:xfrm>
          <a:prstGeom prst="line">
            <a:avLst/>
          </a:prstGeom>
          <a:noFill/>
          <a:ln w="10160">
            <a:solidFill>
              <a:srgbClr val="E0E0E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766560" y="41605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95360" y="914400"/>
            <a:ext cx="0" cy="3200400"/>
          </a:xfrm>
          <a:prstGeom prst="line">
            <a:avLst/>
          </a:prstGeom>
          <a:noFill/>
          <a:ln w="10160">
            <a:solidFill>
              <a:srgbClr val="E0E0E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8321040" y="41605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rot="-1145137">
            <a:off x="822960" y="3147365"/>
            <a:ext cx="1644898" cy="0"/>
          </a:xfrm>
          <a:prstGeom prst="line">
            <a:avLst/>
          </a:prstGeom>
          <a:noFill/>
          <a:ln w="31750">
            <a:solidFill>
              <a:srgbClr val="1A73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3092501"/>
            <a:ext cx="109728" cy="10972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1" name="Shape 29"/>
          <p:cNvSpPr/>
          <p:nvPr/>
        </p:nvSpPr>
        <p:spPr>
          <a:xfrm rot="-954266">
            <a:off x="2377440" y="2609515"/>
            <a:ext cx="1616354" cy="0"/>
          </a:xfrm>
          <a:prstGeom prst="line">
            <a:avLst/>
          </a:prstGeom>
          <a:noFill/>
          <a:ln w="31750">
            <a:solidFill>
              <a:srgbClr val="1A73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22576" y="2554651"/>
            <a:ext cx="109728" cy="10972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3" name="Shape 31"/>
          <p:cNvSpPr/>
          <p:nvPr/>
        </p:nvSpPr>
        <p:spPr>
          <a:xfrm rot="-690255">
            <a:off x="3931920" y="2166579"/>
            <a:ext cx="1586350" cy="0"/>
          </a:xfrm>
          <a:prstGeom prst="line">
            <a:avLst/>
          </a:prstGeom>
          <a:noFill/>
          <a:ln w="31750">
            <a:solidFill>
              <a:srgbClr val="1A73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77056" y="2111715"/>
            <a:ext cx="109728" cy="10972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5" name="Shape 33"/>
          <p:cNvSpPr/>
          <p:nvPr/>
        </p:nvSpPr>
        <p:spPr>
          <a:xfrm rot="-954266">
            <a:off x="5486400" y="1850197"/>
            <a:ext cx="1616354" cy="0"/>
          </a:xfrm>
          <a:prstGeom prst="line">
            <a:avLst/>
          </a:prstGeom>
          <a:noFill/>
          <a:ln w="31750">
            <a:solidFill>
              <a:srgbClr val="1A73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31536" y="1795333"/>
            <a:ext cx="109728" cy="10972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7" name="Shape 35"/>
          <p:cNvSpPr/>
          <p:nvPr/>
        </p:nvSpPr>
        <p:spPr>
          <a:xfrm rot="-823498">
            <a:off x="7040880" y="1407262"/>
            <a:ext cx="1600172" cy="0"/>
          </a:xfrm>
          <a:prstGeom prst="line">
            <a:avLst/>
          </a:prstGeom>
          <a:noFill/>
          <a:ln w="31750">
            <a:solidFill>
              <a:srgbClr val="1A73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86016" y="1352398"/>
            <a:ext cx="109728" cy="10972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9" name="Shape 37"/>
          <p:cNvSpPr/>
          <p:nvPr/>
        </p:nvSpPr>
        <p:spPr>
          <a:xfrm>
            <a:off x="8540496" y="972739"/>
            <a:ext cx="109728" cy="10972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40" name="Shape 38"/>
          <p:cNvSpPr/>
          <p:nvPr/>
        </p:nvSpPr>
        <p:spPr>
          <a:xfrm rot="-757165">
            <a:off x="822960" y="3685215"/>
            <a:ext cx="1592962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" y="3630351"/>
            <a:ext cx="109728" cy="109728"/>
          </a:xfrm>
          <a:prstGeom prst="ellipse">
            <a:avLst/>
          </a:prstGeom>
          <a:solidFill>
            <a:srgbClr val="E8453C"/>
          </a:solidFill>
          <a:ln/>
        </p:spPr>
      </p:sp>
      <p:sp>
        <p:nvSpPr>
          <p:cNvPr id="42" name="Shape 40"/>
          <p:cNvSpPr/>
          <p:nvPr/>
        </p:nvSpPr>
        <p:spPr>
          <a:xfrm rot="-1082261">
            <a:off x="2377440" y="3337194"/>
            <a:ext cx="1634827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22576" y="3282330"/>
            <a:ext cx="109728" cy="109728"/>
          </a:xfrm>
          <a:prstGeom prst="ellipse">
            <a:avLst/>
          </a:prstGeom>
          <a:solidFill>
            <a:srgbClr val="E8453C"/>
          </a:solidFill>
          <a:ln/>
        </p:spPr>
      </p:sp>
      <p:sp>
        <p:nvSpPr>
          <p:cNvPr id="44" name="Shape 42"/>
          <p:cNvSpPr/>
          <p:nvPr/>
        </p:nvSpPr>
        <p:spPr>
          <a:xfrm rot="-1145137">
            <a:off x="3931920" y="2830982"/>
            <a:ext cx="1644898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77056" y="2776118"/>
            <a:ext cx="109728" cy="109728"/>
          </a:xfrm>
          <a:prstGeom prst="ellipse">
            <a:avLst/>
          </a:prstGeom>
          <a:solidFill>
            <a:srgbClr val="E8453C"/>
          </a:solidFill>
          <a:ln/>
        </p:spPr>
      </p:sp>
      <p:sp>
        <p:nvSpPr>
          <p:cNvPr id="46" name="Shape 44"/>
          <p:cNvSpPr/>
          <p:nvPr/>
        </p:nvSpPr>
        <p:spPr>
          <a:xfrm rot="-1505107">
            <a:off x="5486400" y="2293132"/>
            <a:ext cx="1716370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31536" y="2238268"/>
            <a:ext cx="109728" cy="109728"/>
          </a:xfrm>
          <a:prstGeom prst="ellipse">
            <a:avLst/>
          </a:prstGeom>
          <a:solidFill>
            <a:srgbClr val="E8453C"/>
          </a:solidFill>
          <a:ln/>
        </p:spPr>
      </p:sp>
      <p:sp>
        <p:nvSpPr>
          <p:cNvPr id="48" name="Shape 46"/>
          <p:cNvSpPr/>
          <p:nvPr/>
        </p:nvSpPr>
        <p:spPr>
          <a:xfrm rot="-1207227">
            <a:off x="7040880" y="1565453"/>
            <a:ext cx="1655514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86016" y="1510589"/>
            <a:ext cx="109728" cy="109728"/>
          </a:xfrm>
          <a:prstGeom prst="ellipse">
            <a:avLst/>
          </a:prstGeom>
          <a:solidFill>
            <a:srgbClr val="E8453C"/>
          </a:solidFill>
          <a:ln/>
        </p:spPr>
      </p:sp>
      <p:sp>
        <p:nvSpPr>
          <p:cNvPr id="50" name="Shape 48"/>
          <p:cNvSpPr/>
          <p:nvPr/>
        </p:nvSpPr>
        <p:spPr>
          <a:xfrm>
            <a:off x="8540496" y="941100"/>
            <a:ext cx="109728" cy="109728"/>
          </a:xfrm>
          <a:prstGeom prst="ellipse">
            <a:avLst/>
          </a:prstGeom>
          <a:solidFill>
            <a:srgbClr val="E8453C"/>
          </a:solidFill>
          <a:ln/>
        </p:spPr>
      </p:sp>
      <p:sp>
        <p:nvSpPr>
          <p:cNvPr id="51" name="Shape 49"/>
          <p:cNvSpPr/>
          <p:nvPr/>
        </p:nvSpPr>
        <p:spPr>
          <a:xfrm rot="-554877">
            <a:off x="822960" y="3875044"/>
            <a:ext cx="1574951" cy="0"/>
          </a:xfrm>
          <a:prstGeom prst="line">
            <a:avLst/>
          </a:prstGeom>
          <a:noFill/>
          <a:ln w="31750">
            <a:solidFill>
              <a:srgbClr val="34A85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8096" y="3820180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3" name="Shape 51"/>
          <p:cNvSpPr/>
          <p:nvPr/>
        </p:nvSpPr>
        <p:spPr>
          <a:xfrm rot="-1145137">
            <a:off x="2377440" y="3621938"/>
            <a:ext cx="1644898" cy="0"/>
          </a:xfrm>
          <a:prstGeom prst="line">
            <a:avLst/>
          </a:prstGeom>
          <a:noFill/>
          <a:ln w="31750">
            <a:solidFill>
              <a:srgbClr val="34A85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22576" y="3567074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5" name="Shape 53"/>
          <p:cNvSpPr/>
          <p:nvPr/>
        </p:nvSpPr>
        <p:spPr>
          <a:xfrm rot="-1328953">
            <a:off x="3931920" y="3084088"/>
            <a:ext cx="1678332" cy="0"/>
          </a:xfrm>
          <a:prstGeom prst="line">
            <a:avLst/>
          </a:prstGeom>
          <a:noFill/>
          <a:ln w="31750">
            <a:solidFill>
              <a:srgbClr val="34A85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77056" y="3029224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 rot="-1780683">
            <a:off x="5486400" y="2451324"/>
            <a:ext cx="1789183" cy="0"/>
          </a:xfrm>
          <a:prstGeom prst="line">
            <a:avLst/>
          </a:prstGeom>
          <a:noFill/>
          <a:ln w="31750">
            <a:solidFill>
              <a:srgbClr val="34A85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31536" y="2396460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9" name="Shape 57"/>
          <p:cNvSpPr/>
          <p:nvPr/>
        </p:nvSpPr>
        <p:spPr>
          <a:xfrm rot="-1145137">
            <a:off x="7040880" y="1565453"/>
            <a:ext cx="1644898" cy="0"/>
          </a:xfrm>
          <a:prstGeom prst="line">
            <a:avLst/>
          </a:prstGeom>
          <a:noFill/>
          <a:ln w="31750">
            <a:solidFill>
              <a:srgbClr val="34A85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86016" y="1510589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1" name="Shape 59"/>
          <p:cNvSpPr/>
          <p:nvPr/>
        </p:nvSpPr>
        <p:spPr>
          <a:xfrm>
            <a:off x="8540496" y="972739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2" name="Shape 60"/>
          <p:cNvSpPr/>
          <p:nvPr/>
        </p:nvSpPr>
        <p:spPr>
          <a:xfrm rot="-209645">
            <a:off x="822960" y="4001597"/>
            <a:ext cx="1557375" cy="0"/>
          </a:xfrm>
          <a:prstGeom prst="line">
            <a:avLst/>
          </a:prstGeom>
          <a:noFill/>
          <a:ln w="31750">
            <a:solidFill>
              <a:srgbClr val="9334E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8096" y="3946733"/>
            <a:ext cx="109728" cy="109728"/>
          </a:xfrm>
          <a:prstGeom prst="ellipse">
            <a:avLst/>
          </a:prstGeom>
          <a:solidFill>
            <a:srgbClr val="9334E6"/>
          </a:solidFill>
          <a:ln/>
        </p:spPr>
      </p:sp>
      <p:sp>
        <p:nvSpPr>
          <p:cNvPr id="64" name="Shape 62"/>
          <p:cNvSpPr/>
          <p:nvPr/>
        </p:nvSpPr>
        <p:spPr>
          <a:xfrm rot="-1082261">
            <a:off x="2377440" y="3906683"/>
            <a:ext cx="1634827" cy="0"/>
          </a:xfrm>
          <a:prstGeom prst="line">
            <a:avLst/>
          </a:prstGeom>
          <a:noFill/>
          <a:ln w="31750">
            <a:solidFill>
              <a:srgbClr val="9334E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22576" y="3851819"/>
            <a:ext cx="109728" cy="109728"/>
          </a:xfrm>
          <a:prstGeom prst="ellipse">
            <a:avLst/>
          </a:prstGeom>
          <a:solidFill>
            <a:srgbClr val="9334E6"/>
          </a:solidFill>
          <a:ln/>
        </p:spPr>
      </p:sp>
      <p:sp>
        <p:nvSpPr>
          <p:cNvPr id="66" name="Shape 64"/>
          <p:cNvSpPr/>
          <p:nvPr/>
        </p:nvSpPr>
        <p:spPr>
          <a:xfrm rot="-1618084">
            <a:off x="3931920" y="3400471"/>
            <a:ext cx="1744139" cy="0"/>
          </a:xfrm>
          <a:prstGeom prst="line">
            <a:avLst/>
          </a:prstGeom>
          <a:noFill/>
          <a:ln w="31750">
            <a:solidFill>
              <a:srgbClr val="9334E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877056" y="3345607"/>
            <a:ext cx="109728" cy="109728"/>
          </a:xfrm>
          <a:prstGeom prst="ellipse">
            <a:avLst/>
          </a:prstGeom>
          <a:solidFill>
            <a:srgbClr val="9334E6"/>
          </a:solidFill>
          <a:ln/>
        </p:spPr>
      </p:sp>
      <p:sp>
        <p:nvSpPr>
          <p:cNvPr id="68" name="Shape 66"/>
          <p:cNvSpPr/>
          <p:nvPr/>
        </p:nvSpPr>
        <p:spPr>
          <a:xfrm rot="-2263127">
            <a:off x="5486400" y="2609515"/>
            <a:ext cx="1965152" cy="0"/>
          </a:xfrm>
          <a:prstGeom prst="line">
            <a:avLst/>
          </a:prstGeom>
          <a:noFill/>
          <a:ln w="31750">
            <a:solidFill>
              <a:srgbClr val="9334E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31536" y="2554651"/>
            <a:ext cx="109728" cy="109728"/>
          </a:xfrm>
          <a:prstGeom prst="ellipse">
            <a:avLst/>
          </a:prstGeom>
          <a:solidFill>
            <a:srgbClr val="9334E6"/>
          </a:solidFill>
          <a:ln/>
        </p:spPr>
      </p:sp>
      <p:sp>
        <p:nvSpPr>
          <p:cNvPr id="70" name="Shape 68"/>
          <p:cNvSpPr/>
          <p:nvPr/>
        </p:nvSpPr>
        <p:spPr>
          <a:xfrm rot="-954266">
            <a:off x="7040880" y="1407262"/>
            <a:ext cx="1616354" cy="0"/>
          </a:xfrm>
          <a:prstGeom prst="line">
            <a:avLst/>
          </a:prstGeom>
          <a:noFill/>
          <a:ln w="31750">
            <a:solidFill>
              <a:srgbClr val="9334E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86016" y="1352398"/>
            <a:ext cx="109728" cy="109728"/>
          </a:xfrm>
          <a:prstGeom prst="ellipse">
            <a:avLst/>
          </a:prstGeom>
          <a:solidFill>
            <a:srgbClr val="9334E6"/>
          </a:solidFill>
          <a:ln/>
        </p:spPr>
      </p:sp>
      <p:sp>
        <p:nvSpPr>
          <p:cNvPr id="72" name="Shape 70"/>
          <p:cNvSpPr/>
          <p:nvPr/>
        </p:nvSpPr>
        <p:spPr>
          <a:xfrm>
            <a:off x="8540496" y="909462"/>
            <a:ext cx="109728" cy="109728"/>
          </a:xfrm>
          <a:prstGeom prst="ellipse">
            <a:avLst/>
          </a:prstGeom>
          <a:solidFill>
            <a:srgbClr val="9334E6"/>
          </a:solidFill>
          <a:ln/>
        </p:spPr>
      </p:sp>
      <p:sp>
        <p:nvSpPr>
          <p:cNvPr id="73" name="Shape 71"/>
          <p:cNvSpPr/>
          <p:nvPr/>
        </p:nvSpPr>
        <p:spPr>
          <a:xfrm>
            <a:off x="960120" y="914400"/>
            <a:ext cx="0" cy="3200400"/>
          </a:xfrm>
          <a:prstGeom prst="line">
            <a:avLst/>
          </a:prstGeom>
          <a:noFill/>
          <a:ln w="19050">
            <a:solidFill>
              <a:srgbClr val="E8453C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996696" y="960120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996696" y="1106424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377440" y="914400"/>
            <a:ext cx="0" cy="3200400"/>
          </a:xfrm>
          <a:prstGeom prst="line">
            <a:avLst/>
          </a:prstGeom>
          <a:noFill/>
          <a:ln w="19050">
            <a:solidFill>
              <a:srgbClr val="FBBC04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2414016" y="960120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 Code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2414016" y="1106424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749040" y="914400"/>
            <a:ext cx="0" cy="3200400"/>
          </a:xfrm>
          <a:prstGeom prst="line">
            <a:avLst/>
          </a:prstGeom>
          <a:noFill/>
          <a:ln w="19050">
            <a:solidFill>
              <a:srgbClr val="34A853"/>
            </a:solidFill>
            <a:prstDash val="dash"/>
          </a:ln>
        </p:spPr>
      </p:sp>
      <p:sp>
        <p:nvSpPr>
          <p:cNvPr id="80" name="Text 78"/>
          <p:cNvSpPr/>
          <p:nvPr/>
        </p:nvSpPr>
        <p:spPr>
          <a:xfrm>
            <a:off x="3785616" y="960120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BRSR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785616" y="1106424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303520" y="914400"/>
            <a:ext cx="0" cy="3200400"/>
          </a:xfrm>
          <a:prstGeom prst="line">
            <a:avLst/>
          </a:prstGeom>
          <a:noFill/>
          <a:ln w="19050">
            <a:solidFill>
              <a:srgbClr val="9334E6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5340096" y="960120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3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340096" y="1106424"/>
            <a:ext cx="1005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3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22960" y="4434840"/>
            <a:ext cx="36576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6" name="Text 84"/>
          <p:cNvSpPr/>
          <p:nvPr/>
        </p:nvSpPr>
        <p:spPr>
          <a:xfrm>
            <a:off x="1234440" y="43708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software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926080" y="4434840"/>
            <a:ext cx="365760" cy="54864"/>
          </a:xfrm>
          <a:prstGeom prst="rect">
            <a:avLst/>
          </a:prstGeom>
          <a:solidFill>
            <a:srgbClr val="E8453C"/>
          </a:solidFill>
          <a:ln/>
        </p:spPr>
      </p:sp>
      <p:sp>
        <p:nvSpPr>
          <p:cNvPr id="88" name="Text 86"/>
          <p:cNvSpPr/>
          <p:nvPr/>
        </p:nvSpPr>
        <p:spPr>
          <a:xfrm>
            <a:off x="3337560" y="43708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safety software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029200" y="4434840"/>
            <a:ext cx="365760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90" name="Text 88"/>
          <p:cNvSpPr/>
          <p:nvPr/>
        </p:nvSpPr>
        <p:spPr>
          <a:xfrm>
            <a:off x="5440680" y="43708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safety system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132320" y="4434840"/>
            <a:ext cx="365760" cy="54864"/>
          </a:xfrm>
          <a:prstGeom prst="rect">
            <a:avLst/>
          </a:prstGeom>
          <a:solidFill>
            <a:srgbClr val="9334E6"/>
          </a:solidFill>
          <a:ln/>
        </p:spPr>
      </p:sp>
      <p:sp>
        <p:nvSpPr>
          <p:cNvPr id="92" name="Text 90"/>
          <p:cNvSpPr/>
          <p:nvPr/>
        </p:nvSpPr>
        <p:spPr>
          <a:xfrm>
            <a:off x="7543800" y="43708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 AI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A73E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GROWTH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Interest Index — India · Average per Year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4078224"/>
            <a:ext cx="7863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86784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3287268"/>
            <a:ext cx="7863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95828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2496312"/>
            <a:ext cx="7863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04872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77240" y="1705356"/>
            <a:ext cx="7863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1391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77240" y="914400"/>
            <a:ext cx="7863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8229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3129077"/>
            <a:ext cx="227990" cy="949147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2040" y="3666927"/>
            <a:ext cx="227990" cy="411297"/>
          </a:xfrm>
          <a:prstGeom prst="rect">
            <a:avLst/>
          </a:prstGeom>
          <a:solidFill>
            <a:srgbClr val="E8453C"/>
          </a:solidFill>
          <a:ln/>
        </p:spPr>
      </p:sp>
      <p:sp>
        <p:nvSpPr>
          <p:cNvPr id="18" name="Shape 16"/>
          <p:cNvSpPr/>
          <p:nvPr/>
        </p:nvSpPr>
        <p:spPr>
          <a:xfrm>
            <a:off x="1341120" y="3856756"/>
            <a:ext cx="227990" cy="22146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0200" y="3983309"/>
            <a:ext cx="227990" cy="94915"/>
          </a:xfrm>
          <a:prstGeom prst="rect">
            <a:avLst/>
          </a:prstGeom>
          <a:solidFill>
            <a:srgbClr val="9334E6"/>
          </a:solidFill>
          <a:ln/>
        </p:spPr>
      </p:sp>
      <p:sp>
        <p:nvSpPr>
          <p:cNvPr id="20" name="Text 18"/>
          <p:cNvSpPr/>
          <p:nvPr/>
        </p:nvSpPr>
        <p:spPr>
          <a:xfrm>
            <a:off x="693420" y="4160520"/>
            <a:ext cx="14249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18360" y="2591227"/>
            <a:ext cx="227990" cy="1486997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318906"/>
            <a:ext cx="227990" cy="759318"/>
          </a:xfrm>
          <a:prstGeom prst="rect">
            <a:avLst/>
          </a:prstGeom>
          <a:solidFill>
            <a:srgbClr val="E8453C"/>
          </a:solidFill>
          <a:ln/>
        </p:spPr>
      </p:sp>
      <p:sp>
        <p:nvSpPr>
          <p:cNvPr id="23" name="Shape 21"/>
          <p:cNvSpPr/>
          <p:nvPr/>
        </p:nvSpPr>
        <p:spPr>
          <a:xfrm>
            <a:off x="2636520" y="3603650"/>
            <a:ext cx="227990" cy="47457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5600" y="3888395"/>
            <a:ext cx="227990" cy="189829"/>
          </a:xfrm>
          <a:prstGeom prst="rect">
            <a:avLst/>
          </a:prstGeom>
          <a:solidFill>
            <a:srgbClr val="9334E6"/>
          </a:solidFill>
          <a:ln/>
        </p:spPr>
      </p:sp>
      <p:sp>
        <p:nvSpPr>
          <p:cNvPr id="25" name="Text 23"/>
          <p:cNvSpPr/>
          <p:nvPr/>
        </p:nvSpPr>
        <p:spPr>
          <a:xfrm>
            <a:off x="1988820" y="4160520"/>
            <a:ext cx="14249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18360" y="3076224"/>
            <a:ext cx="1295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+74%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3760" y="2148291"/>
            <a:ext cx="227990" cy="1929933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8" name="Shape 26"/>
          <p:cNvSpPr/>
          <p:nvPr/>
        </p:nvSpPr>
        <p:spPr>
          <a:xfrm>
            <a:off x="3672840" y="2812694"/>
            <a:ext cx="227990" cy="1265530"/>
          </a:xfrm>
          <a:prstGeom prst="rect">
            <a:avLst/>
          </a:prstGeom>
          <a:solidFill>
            <a:srgbClr val="E8453C"/>
          </a:solidFill>
          <a:ln/>
        </p:spPr>
      </p:sp>
      <p:sp>
        <p:nvSpPr>
          <p:cNvPr id="29" name="Shape 27"/>
          <p:cNvSpPr/>
          <p:nvPr/>
        </p:nvSpPr>
        <p:spPr>
          <a:xfrm>
            <a:off x="3931920" y="3065800"/>
            <a:ext cx="227990" cy="101242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0" name="Shape 28"/>
          <p:cNvSpPr/>
          <p:nvPr/>
        </p:nvSpPr>
        <p:spPr>
          <a:xfrm>
            <a:off x="4191000" y="3382183"/>
            <a:ext cx="227990" cy="696041"/>
          </a:xfrm>
          <a:prstGeom prst="rect">
            <a:avLst/>
          </a:prstGeom>
          <a:solidFill>
            <a:srgbClr val="9334E6"/>
          </a:solidFill>
          <a:ln/>
        </p:spPr>
      </p:sp>
      <p:sp>
        <p:nvSpPr>
          <p:cNvPr id="31" name="Text 29"/>
          <p:cNvSpPr/>
          <p:nvPr/>
        </p:nvSpPr>
        <p:spPr>
          <a:xfrm>
            <a:off x="3284220" y="4160520"/>
            <a:ext cx="14249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13760" y="2577922"/>
            <a:ext cx="1295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831909"/>
            <a:ext cx="227990" cy="2246315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4" name="Shape 32"/>
          <p:cNvSpPr/>
          <p:nvPr/>
        </p:nvSpPr>
        <p:spPr>
          <a:xfrm>
            <a:off x="4968240" y="2274844"/>
            <a:ext cx="227990" cy="1803380"/>
          </a:xfrm>
          <a:prstGeom prst="rect">
            <a:avLst/>
          </a:prstGeom>
          <a:solidFill>
            <a:srgbClr val="E8453C"/>
          </a:solidFill>
          <a:ln/>
        </p:spPr>
      </p:sp>
      <p:sp>
        <p:nvSpPr>
          <p:cNvPr id="35" name="Shape 33"/>
          <p:cNvSpPr/>
          <p:nvPr/>
        </p:nvSpPr>
        <p:spPr>
          <a:xfrm>
            <a:off x="5227320" y="2433036"/>
            <a:ext cx="227990" cy="164518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0" y="2591227"/>
            <a:ext cx="227990" cy="1486997"/>
          </a:xfrm>
          <a:prstGeom prst="rect">
            <a:avLst/>
          </a:prstGeom>
          <a:solidFill>
            <a:srgbClr val="9334E6"/>
          </a:solidFill>
          <a:ln/>
        </p:spPr>
      </p:sp>
      <p:sp>
        <p:nvSpPr>
          <p:cNvPr id="37" name="Text 35"/>
          <p:cNvSpPr/>
          <p:nvPr/>
        </p:nvSpPr>
        <p:spPr>
          <a:xfrm>
            <a:off x="4579620" y="4160520"/>
            <a:ext cx="14249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2008434"/>
            <a:ext cx="1295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04560" y="1388974"/>
            <a:ext cx="227990" cy="268925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0" name="Shape 38"/>
          <p:cNvSpPr/>
          <p:nvPr/>
        </p:nvSpPr>
        <p:spPr>
          <a:xfrm>
            <a:off x="6263640" y="1547165"/>
            <a:ext cx="227990" cy="2531059"/>
          </a:xfrm>
          <a:prstGeom prst="rect">
            <a:avLst/>
          </a:prstGeom>
          <a:solidFill>
            <a:srgbClr val="E8453C"/>
          </a:solidFill>
          <a:ln/>
        </p:spPr>
      </p:sp>
      <p:sp>
        <p:nvSpPr>
          <p:cNvPr id="41" name="Shape 39"/>
          <p:cNvSpPr/>
          <p:nvPr/>
        </p:nvSpPr>
        <p:spPr>
          <a:xfrm>
            <a:off x="6522720" y="1547165"/>
            <a:ext cx="227990" cy="2531059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2" name="Shape 40"/>
          <p:cNvSpPr/>
          <p:nvPr/>
        </p:nvSpPr>
        <p:spPr>
          <a:xfrm>
            <a:off x="6781800" y="1388974"/>
            <a:ext cx="227990" cy="2689250"/>
          </a:xfrm>
          <a:prstGeom prst="rect">
            <a:avLst/>
          </a:prstGeom>
          <a:solidFill>
            <a:srgbClr val="9334E6"/>
          </a:solidFill>
          <a:ln/>
        </p:spPr>
      </p:sp>
      <p:sp>
        <p:nvSpPr>
          <p:cNvPr id="43" name="Text 41"/>
          <p:cNvSpPr/>
          <p:nvPr/>
        </p:nvSpPr>
        <p:spPr>
          <a:xfrm>
            <a:off x="5875020" y="4160520"/>
            <a:ext cx="14249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04560" y="1193749"/>
            <a:ext cx="1295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99960" y="1009315"/>
            <a:ext cx="227990" cy="3068909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6" name="Shape 44"/>
          <p:cNvSpPr/>
          <p:nvPr/>
        </p:nvSpPr>
        <p:spPr>
          <a:xfrm>
            <a:off x="7559040" y="977676"/>
            <a:ext cx="227990" cy="3100548"/>
          </a:xfrm>
          <a:prstGeom prst="rect">
            <a:avLst/>
          </a:prstGeom>
          <a:solidFill>
            <a:srgbClr val="E8453C"/>
          </a:solidFill>
          <a:ln/>
        </p:spPr>
      </p:sp>
      <p:sp>
        <p:nvSpPr>
          <p:cNvPr id="47" name="Shape 45"/>
          <p:cNvSpPr/>
          <p:nvPr/>
        </p:nvSpPr>
        <p:spPr>
          <a:xfrm>
            <a:off x="7818120" y="1009315"/>
            <a:ext cx="227990" cy="3068909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8" name="Shape 46"/>
          <p:cNvSpPr/>
          <p:nvPr/>
        </p:nvSpPr>
        <p:spPr>
          <a:xfrm>
            <a:off x="8077200" y="946038"/>
            <a:ext cx="227990" cy="3132186"/>
          </a:xfrm>
          <a:prstGeom prst="rect">
            <a:avLst/>
          </a:prstGeom>
          <a:solidFill>
            <a:srgbClr val="9334E6"/>
          </a:solidFill>
          <a:ln/>
        </p:spPr>
      </p:sp>
      <p:sp>
        <p:nvSpPr>
          <p:cNvPr id="49" name="Text 47"/>
          <p:cNvSpPr/>
          <p:nvPr/>
        </p:nvSpPr>
        <p:spPr>
          <a:xfrm>
            <a:off x="7170420" y="4160520"/>
            <a:ext cx="14249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99960" y="711266"/>
            <a:ext cx="1295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" y="4462272"/>
            <a:ext cx="292608" cy="10972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2" name="Text 50"/>
          <p:cNvSpPr/>
          <p:nvPr/>
        </p:nvSpPr>
        <p:spPr>
          <a:xfrm>
            <a:off x="987552" y="441655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software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0" y="4462272"/>
            <a:ext cx="292608" cy="109728"/>
          </a:xfrm>
          <a:prstGeom prst="rect">
            <a:avLst/>
          </a:prstGeom>
          <a:solidFill>
            <a:srgbClr val="E8453C"/>
          </a:solidFill>
          <a:ln/>
        </p:spPr>
      </p:sp>
      <p:sp>
        <p:nvSpPr>
          <p:cNvPr id="54" name="Text 52"/>
          <p:cNvSpPr/>
          <p:nvPr/>
        </p:nvSpPr>
        <p:spPr>
          <a:xfrm>
            <a:off x="3090672" y="441655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safety software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46320" y="4462272"/>
            <a:ext cx="292608" cy="10972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6" name="Text 54"/>
          <p:cNvSpPr/>
          <p:nvPr/>
        </p:nvSpPr>
        <p:spPr>
          <a:xfrm>
            <a:off x="5193792" y="441655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safety system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949440" y="4462272"/>
            <a:ext cx="292608" cy="109728"/>
          </a:xfrm>
          <a:prstGeom prst="rect">
            <a:avLst/>
          </a:prstGeom>
          <a:solidFill>
            <a:srgbClr val="9334E6"/>
          </a:solidFill>
          <a:ln/>
        </p:spPr>
      </p:sp>
      <p:sp>
        <p:nvSpPr>
          <p:cNvPr id="58" name="Text 56"/>
          <p:cNvSpPr/>
          <p:nvPr/>
        </p:nvSpPr>
        <p:spPr>
          <a:xfrm>
            <a:off x="7296912" y="441655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 AI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A73E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INTEREST &amp; RELATED QUERIES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Indian State · Top Queries · Rising Breakout Terms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92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BY REGION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353312"/>
            <a:ext cx="2103120" cy="10972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1353312"/>
            <a:ext cx="2103120" cy="10972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126187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160934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1700784"/>
            <a:ext cx="2103120" cy="10972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1700784"/>
            <a:ext cx="1850746" cy="10972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60934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195681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0" y="2048256"/>
            <a:ext cx="2103120" cy="10972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2011680" y="2048256"/>
            <a:ext cx="1724558" cy="10972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416052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30428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0" y="2395728"/>
            <a:ext cx="2103120" cy="10972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395728"/>
            <a:ext cx="1598371" cy="10972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23042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26517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0" y="2743200"/>
            <a:ext cx="2103120" cy="10972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2743200"/>
            <a:ext cx="1514246" cy="10972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26517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299923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0" y="3090672"/>
            <a:ext cx="2103120" cy="10972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Shape 27"/>
          <p:cNvSpPr/>
          <p:nvPr/>
        </p:nvSpPr>
        <p:spPr>
          <a:xfrm>
            <a:off x="2011680" y="3090672"/>
            <a:ext cx="1345997" cy="10972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0" name="Text 28"/>
          <p:cNvSpPr/>
          <p:nvPr/>
        </p:nvSpPr>
        <p:spPr>
          <a:xfrm>
            <a:off x="4160520" y="29992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33467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0" y="3438144"/>
            <a:ext cx="2103120" cy="10972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1"/>
          <p:cNvSpPr/>
          <p:nvPr/>
        </p:nvSpPr>
        <p:spPr>
          <a:xfrm>
            <a:off x="2011680" y="3438144"/>
            <a:ext cx="1219810" cy="10972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4" name="Text 32"/>
          <p:cNvSpPr/>
          <p:nvPr/>
        </p:nvSpPr>
        <p:spPr>
          <a:xfrm>
            <a:off x="4160520" y="334670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369417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0" y="3785616"/>
            <a:ext cx="2103120" cy="10972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3785616"/>
            <a:ext cx="1093622" cy="10972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Text 36"/>
          <p:cNvSpPr/>
          <p:nvPr/>
        </p:nvSpPr>
        <p:spPr>
          <a:xfrm>
            <a:off x="4160520" y="36941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404164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011680" y="4133088"/>
            <a:ext cx="2103120" cy="10972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Shape 39"/>
          <p:cNvSpPr/>
          <p:nvPr/>
        </p:nvSpPr>
        <p:spPr>
          <a:xfrm>
            <a:off x="2011680" y="4133088"/>
            <a:ext cx="1009498" cy="10972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2" name="Text 40"/>
          <p:cNvSpPr/>
          <p:nvPr/>
        </p:nvSpPr>
        <p:spPr>
          <a:xfrm>
            <a:off x="4160520" y="404164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8640" y="43891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11680" y="4480560"/>
            <a:ext cx="2103120" cy="10972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43"/>
          <p:cNvSpPr/>
          <p:nvPr/>
        </p:nvSpPr>
        <p:spPr>
          <a:xfrm>
            <a:off x="2011680" y="4480560"/>
            <a:ext cx="883310" cy="10972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6" name="Text 44"/>
          <p:cNvSpPr/>
          <p:nvPr/>
        </p:nvSpPr>
        <p:spPr>
          <a:xfrm>
            <a:off x="4160520" y="43891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54880" y="9692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QUERIES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0" y="12618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54880" y="1481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management software India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06640" y="1481328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1755648"/>
            <a:ext cx="2926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18196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software India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06640" y="181965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2093976"/>
            <a:ext cx="2926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21579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safety monitoring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06640" y="215798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54880" y="2432304"/>
            <a:ext cx="2926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24963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software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406640" y="2496312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54880" y="2770632"/>
            <a:ext cx="2926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28346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 software India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406640" y="2834640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54880" y="3108960"/>
            <a:ext cx="2926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32461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754880" y="34564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monitoring system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315200" y="3474720"/>
            <a:ext cx="822960" cy="201168"/>
          </a:xfrm>
          <a:prstGeom prst="rect">
            <a:avLst/>
          </a:prstGeom>
          <a:solidFill>
            <a:srgbClr val="E6F4EA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0" y="34747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754880" y="37307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 AI camera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315200" y="3749040"/>
            <a:ext cx="822960" cy="201168"/>
          </a:xfrm>
          <a:prstGeom prst="rect">
            <a:avLst/>
          </a:prstGeom>
          <a:solidFill>
            <a:srgbClr val="E6F4EA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0" y="3749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754880" y="40050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workplace safety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315200" y="40050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+2,400%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754880" y="427939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compliance AI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315200" y="4279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+1,850%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754880" y="45537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safety monitoring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315200" y="455371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+650%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A73E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OPPORTUNITY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2025 · For Syyaim SafeG AI Campaign Planning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91840" y="9144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69080" y="914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120640" y="914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CPC (₹)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63640" y="914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252728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527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software India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125272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69080" y="12527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2527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₹95–140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1307592"/>
            <a:ext cx="1005840" cy="182880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075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1563624"/>
            <a:ext cx="82296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5636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safety software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156362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9080" y="156362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156362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₹110–180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1618488"/>
            <a:ext cx="1005840" cy="182880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61848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1874520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18745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safety system India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0" y="18745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69080" y="18745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₹130–200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1929384"/>
            <a:ext cx="1005840" cy="182880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9293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2185416"/>
            <a:ext cx="82296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1854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software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91840" y="21854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69080" y="218541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21854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₹85–140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2240280"/>
            <a:ext cx="1005840" cy="182880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2402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2496312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4963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monitoring India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91840" y="24963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69080" y="24963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24963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₹60–100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2551176"/>
            <a:ext cx="1005840" cy="182880"/>
          </a:xfrm>
          <a:prstGeom prst="rect">
            <a:avLst/>
          </a:prstGeom>
          <a:solidFill>
            <a:srgbClr val="9334E6"/>
          </a:solidFill>
          <a:ln w="10160">
            <a:solidFill>
              <a:srgbClr val="9334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55117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NOW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2807208"/>
            <a:ext cx="82296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28072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software India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91840" y="280720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069080" y="28072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20640" y="2807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₹150–240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63640" y="2862072"/>
            <a:ext cx="1005840" cy="182880"/>
          </a:xfrm>
          <a:prstGeom prst="rect">
            <a:avLst/>
          </a:prstGeom>
          <a:solidFill>
            <a:srgbClr val="FBBC04"/>
          </a:solidFill>
          <a:ln w="10160">
            <a:solidFill>
              <a:srgbClr val="FBBC0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28620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7200" y="3118104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11810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compliance AI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291840" y="311810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069080" y="31181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+480%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120640" y="31181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₹45–80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63640" y="3172968"/>
            <a:ext cx="1005840" cy="182880"/>
          </a:xfrm>
          <a:prstGeom prst="rect">
            <a:avLst/>
          </a:prstGeom>
          <a:solidFill>
            <a:srgbClr val="9334E6"/>
          </a:solidFill>
          <a:ln w="10160">
            <a:solidFill>
              <a:srgbClr val="9334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63640" y="317296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NOW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7200" y="3429000"/>
            <a:ext cx="82296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34290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 AI camera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291840" y="34290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069080" y="34290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&gt;+500%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120640" y="34290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₹40–70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63640" y="3483864"/>
            <a:ext cx="1005840" cy="182880"/>
          </a:xfrm>
          <a:prstGeom prst="rect">
            <a:avLst/>
          </a:prstGeom>
          <a:solidFill>
            <a:srgbClr val="9334E6"/>
          </a:solidFill>
          <a:ln w="10160">
            <a:solidFill>
              <a:srgbClr val="9334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63640" y="348386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NOW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57200" y="3739896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37398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safety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291840" y="373989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069080" y="37398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+390%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120640" y="3739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₹55–90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263640" y="3794760"/>
            <a:ext cx="1005840" cy="182880"/>
          </a:xfrm>
          <a:prstGeom prst="rect">
            <a:avLst/>
          </a:prstGeom>
          <a:solidFill>
            <a:srgbClr val="9334E6"/>
          </a:solidFill>
          <a:ln w="10160">
            <a:solidFill>
              <a:srgbClr val="9334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63640" y="3794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NOW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7200" y="4050792"/>
            <a:ext cx="82296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40507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accident prevention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291840" y="405079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069080" y="4050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+65%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120640" y="40507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₹75–120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263640" y="4105656"/>
            <a:ext cx="1005840" cy="182880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63640" y="41056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57200" y="4361688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" y="43616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safety monitoring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3291840" y="43616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069080" y="43616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+44%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5120640" y="4361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₹120–185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263640" y="4416552"/>
            <a:ext cx="1005840" cy="182880"/>
          </a:xfrm>
          <a:prstGeom prst="rect">
            <a:avLst/>
          </a:prstGeom>
          <a:solidFill>
            <a:srgbClr val="FBBC04"/>
          </a:solidFill>
          <a:ln w="10160">
            <a:solidFill>
              <a:srgbClr val="FBBC0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63640" y="44165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57200" y="4672584"/>
            <a:ext cx="82296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2920" y="46725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audit software India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3291840" y="46725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4069080" y="46725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5120640" y="46725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₹90–145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263640" y="4727448"/>
            <a:ext cx="1005840" cy="182880"/>
          </a:xfrm>
          <a:prstGeom prst="rect">
            <a:avLst/>
          </a:prstGeom>
          <a:solidFill>
            <a:srgbClr val="FBBC04"/>
          </a:solidFill>
          <a:ln w="10160">
            <a:solidFill>
              <a:srgbClr val="FBBC0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263640" y="472744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A73E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Syyaim SafeG AI's Google Campaign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4160520" cy="192024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4241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Demand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37360" y="1847088"/>
            <a:ext cx="141732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3852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interest for "factory safety system" grew +340% from 2020–2025 in India. The curve is steepening — best time to capture market share is NOW.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9264"/>
            <a:ext cx="4160520" cy="1920240"/>
          </a:xfrm>
          <a:prstGeom prst="rect">
            <a:avLst/>
          </a:prstGeom>
          <a:solidFill>
            <a:srgbClr val="E6F4EA"/>
          </a:solidFill>
          <a:ln w="12700">
            <a:solidFill>
              <a:srgbClr val="34A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4241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15361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#1 State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847088"/>
            <a:ext cx="1417320" cy="365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3852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Maharashtra, Gujarat &amp; Haryana account for 58% of all safety software search interest in India. These 3 states should be your Phase 1 geo targets.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4160520" cy="1920240"/>
          </a:xfrm>
          <a:prstGeom prst="rect">
            <a:avLst/>
          </a:prstGeom>
          <a:solidFill>
            <a:srgbClr val="FCE8E6"/>
          </a:solidFill>
          <a:ln w="12700">
            <a:solidFill>
              <a:srgbClr val="E845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07238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" y="35661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'AI Safety' = Breakout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37360" y="3877056"/>
            <a:ext cx="1417320" cy="36576"/>
          </a:xfrm>
          <a:prstGeom prst="rect">
            <a:avLst/>
          </a:prstGeom>
          <a:solidFill>
            <a:srgbClr val="E8453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68496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safety monitoring" and "PPE detection AI" are Breakout queries (&gt;5,000% growth). Near-zero competition, high intent — target now before CPCs rise.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99232"/>
            <a:ext cx="4160520" cy="1920240"/>
          </a:xfrm>
          <a:prstGeom prst="rect">
            <a:avLst/>
          </a:prstGeom>
          <a:solidFill>
            <a:srgbClr val="FEF7E0"/>
          </a:solidFill>
          <a:ln w="12700">
            <a:solidFill>
              <a:srgbClr val="FBBC0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307238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92040" y="35661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 Code Drove Spike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3877056"/>
            <a:ext cx="1417320" cy="365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968496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 Code 2020 notification in Jan 2021 caused +62% single-quarter jump in compliance searches. Upcoming enforcement rounds will repeat this effect.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9103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Google Trends (relative index · India) · Grand View Research · MarketsandMarkets · DGFASLI Annual Reports · Horizon Databook 2024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A73E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Software Search Trends — India 2020–2026</dc:title>
  <dc:subject>PptxGenJS Presentation</dc:subject>
  <dc:creator>PptxGenJS</dc:creator>
  <cp:lastModifiedBy>PptxGenJS</cp:lastModifiedBy>
  <cp:revision>1</cp:revision>
  <dcterms:created xsi:type="dcterms:W3CDTF">2026-03-08T05:48:37Z</dcterms:created>
  <dcterms:modified xsi:type="dcterms:W3CDTF">2026-03-08T05:48:37Z</dcterms:modified>
</cp:coreProperties>
</file>