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3" name="Shape 1"/>
          <p:cNvSpPr/>
          <p:nvPr/>
        </p:nvSpPr>
        <p:spPr>
          <a:xfrm>
            <a:off x="-457200" y="457200"/>
            <a:ext cx="640080" cy="5029200"/>
          </a:xfrm>
          <a:prstGeom prst="rect">
            <a:avLst/>
          </a:prstGeom>
          <a:solidFill>
            <a:srgbClr val="FF2D2D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88720" y="457200"/>
            <a:ext cx="640080" cy="5029200"/>
          </a:xfrm>
          <a:prstGeom prst="rect">
            <a:avLst/>
          </a:prstGeom>
          <a:solidFill>
            <a:srgbClr val="FF2D2D">
              <a:alpha val="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834640" y="457200"/>
            <a:ext cx="640080" cy="5029200"/>
          </a:xfrm>
          <a:prstGeom prst="rect">
            <a:avLst/>
          </a:prstGeom>
          <a:solidFill>
            <a:srgbClr val="FF2D2D">
              <a:alpha val="4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480560" y="457200"/>
            <a:ext cx="640080" cy="5029200"/>
          </a:xfrm>
          <a:prstGeom prst="rect">
            <a:avLst/>
          </a:prstGeom>
          <a:solidFill>
            <a:srgbClr val="FF2D2D">
              <a:alpha val="4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126480" y="457200"/>
            <a:ext cx="640080" cy="5029200"/>
          </a:xfrm>
          <a:prstGeom prst="rect">
            <a:avLst/>
          </a:prstGeom>
          <a:solidFill>
            <a:srgbClr val="FF2D2D">
              <a:alpha val="4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457200"/>
            <a:ext cx="640080" cy="5029200"/>
          </a:xfrm>
          <a:prstGeom prst="rect">
            <a:avLst/>
          </a:prstGeom>
          <a:solidFill>
            <a:srgbClr val="FF2D2D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572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🔥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800" kern="0" dirty="0">
                <a:solidFill>
                  <a:srgbClr val="687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MAKE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892808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SafeG AI</a:t>
            </a:r>
            <a:endParaRPr lang="en-US" sz="7000" dirty="0"/>
          </a:p>
        </p:txBody>
      </p:sp>
      <p:sp>
        <p:nvSpPr>
          <p:cNvPr id="12" name="Text 10"/>
          <p:cNvSpPr/>
          <p:nvPr/>
        </p:nvSpPr>
        <p:spPr>
          <a:xfrm>
            <a:off x="457200" y="281635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 VIRAL</a:t>
            </a:r>
            <a:endParaRPr lang="en-US" sz="6800" dirty="0"/>
          </a:p>
        </p:txBody>
      </p:sp>
      <p:sp>
        <p:nvSpPr>
          <p:cNvPr id="13" name="Shape 11"/>
          <p:cNvSpPr/>
          <p:nvPr/>
        </p:nvSpPr>
        <p:spPr>
          <a:xfrm>
            <a:off x="411480" y="3730752"/>
            <a:ext cx="1572768" cy="475488"/>
          </a:xfrm>
          <a:prstGeom prst="rect">
            <a:avLst/>
          </a:prstGeom>
          <a:solidFill>
            <a:srgbClr val="191C2A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" y="373075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Content Virality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03120" y="3730752"/>
            <a:ext cx="1572768" cy="475488"/>
          </a:xfrm>
          <a:prstGeom prst="rect">
            <a:avLst/>
          </a:prstGeom>
          <a:solidFill>
            <a:srgbClr val="191C2A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103120" y="373075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Influencer Engine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94760" y="3730752"/>
            <a:ext cx="1572768" cy="475488"/>
          </a:xfrm>
          <a:prstGeom prst="rect">
            <a:avLst/>
          </a:prstGeom>
          <a:solidFill>
            <a:srgbClr val="191C2A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94760" y="373075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💥 PR Bombs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0" y="3730752"/>
            <a:ext cx="1572768" cy="475488"/>
          </a:xfrm>
          <a:prstGeom prst="rect">
            <a:avLst/>
          </a:prstGeom>
          <a:solidFill>
            <a:srgbClr val="191C2A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0" y="373075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🏭 Community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178040" y="3730752"/>
            <a:ext cx="1572768" cy="475488"/>
          </a:xfrm>
          <a:prstGeom prst="rect">
            <a:avLst/>
          </a:prstGeom>
          <a:solidFill>
            <a:srgbClr val="191C2A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78040" y="3730752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Referral Loops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2D2D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solidFill>
            <a:srgbClr val="FF2D2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FORMULA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Safety Content Goes Viral — The Emotion Engine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713232"/>
          </a:xfrm>
          <a:prstGeom prst="rect">
            <a:avLst/>
          </a:prstGeom>
          <a:solidFill>
            <a:srgbClr val="191C2A"/>
          </a:solidFill>
          <a:ln w="19050">
            <a:solidFill>
              <a:srgbClr val="FF2D2D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9728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  +  PROOF  +  HERO STORY  =  SHARES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1938528"/>
            <a:ext cx="2743200" cy="2377440"/>
          </a:xfrm>
          <a:prstGeom prst="rect">
            <a:avLst/>
          </a:prstGeom>
          <a:solidFill>
            <a:srgbClr val="13151F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938528"/>
            <a:ext cx="2743200" cy="54864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9933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😱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914400" y="2514600"/>
            <a:ext cx="1645920" cy="292608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146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" y="285292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workers die daily in Indian factories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" y="321868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factory owner's nightmare. Lead every piece of content with this number — it stops the scroll instantly. This is your hook.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1938528"/>
            <a:ext cx="2743200" cy="2377440"/>
          </a:xfrm>
          <a:prstGeom prst="rect">
            <a:avLst/>
          </a:prstGeom>
          <a:solidFill>
            <a:srgbClr val="13151F"/>
          </a:solidFill>
          <a:ln w="12700">
            <a:solidFill>
              <a:srgbClr val="FFD6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938528"/>
            <a:ext cx="2743200" cy="54864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7" name="Text 15"/>
          <p:cNvSpPr/>
          <p:nvPr/>
        </p:nvSpPr>
        <p:spPr>
          <a:xfrm>
            <a:off x="3246120" y="19933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3794760" y="2514600"/>
            <a:ext cx="1645920" cy="292608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25146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PROOF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55848" y="285292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97% PPE compliance. 40% fewer incidents.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74136" y="321868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 numbers erase skepticism. Show a real before/after dashboard screenshot. Concrete data beats marketing claims every time.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126480" y="1938528"/>
            <a:ext cx="2743200" cy="2377440"/>
          </a:xfrm>
          <a:prstGeom prst="rect">
            <a:avLst/>
          </a:prstGeom>
          <a:solidFill>
            <a:srgbClr val="13151F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938528"/>
            <a:ext cx="274320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99339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</a:t>
            </a:r>
            <a:endParaRPr lang="en-US" sz="2600" dirty="0"/>
          </a:p>
        </p:txBody>
      </p:sp>
      <p:sp>
        <p:nvSpPr>
          <p:cNvPr id="25" name="Shape 23"/>
          <p:cNvSpPr/>
          <p:nvPr/>
        </p:nvSpPr>
        <p:spPr>
          <a:xfrm>
            <a:off x="6675120" y="2514600"/>
            <a:ext cx="1645920" cy="29260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25146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36208" y="2852928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plant manager who saved his team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54496" y="3218688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story: 'SafeG AI flagged a gas leak at 2am — no one was in the plant. It saved 3 lives.' One story like this = 10,000 organic shares.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Syyaim SafeG AI  ·  Viral Growth Playbook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solidFill>
            <a:srgbClr val="FF6B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VIRALITY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Platform-by-Platform Content Playbook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115568"/>
            <a:ext cx="2743200" cy="3767328"/>
          </a:xfrm>
          <a:prstGeom prst="rect">
            <a:avLst/>
          </a:prstGeom>
          <a:solidFill>
            <a:srgbClr val="13151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115568"/>
            <a:ext cx="2743200" cy="34747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115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💼  LinkedIn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4996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HSE managers · Plant Heads · MDs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" y="1755648"/>
            <a:ext cx="2560320" cy="475488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830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Post: 'AI caught a helmet violation 1.2 seconds before an accident at [Factory]'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11480" y="2286000"/>
            <a:ext cx="2560320" cy="475488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3134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Carousel: '10 most common factory violations — which one kills most workers?'</a:t>
            </a:r>
            <a:endParaRPr lang="en-US" sz="780" dirty="0"/>
          </a:p>
        </p:txBody>
      </p:sp>
      <p:sp>
        <p:nvSpPr>
          <p:cNvPr id="14" name="Shape 12"/>
          <p:cNvSpPr/>
          <p:nvPr/>
        </p:nvSpPr>
        <p:spPr>
          <a:xfrm>
            <a:off x="411480" y="2816352"/>
            <a:ext cx="2560320" cy="475488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437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Video: Live dashboard demo — 60 seconds, no voiceover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411480" y="3346704"/>
            <a:ext cx="2560320" cy="475488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37413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Poll: 'What is the true cost of 1 factory accident in India?' (reveal ₹11L)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411480" y="3895344"/>
            <a:ext cx="2560320" cy="868680"/>
          </a:xfrm>
          <a:prstGeom prst="rect">
            <a:avLst/>
          </a:prstGeom>
          <a:solidFill>
            <a:srgbClr val="252C42"/>
          </a:solidFill>
          <a:ln w="1016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9319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PRO TIP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Hook on line 1. Post at 8am Tue/Wed/Thu. Tag DGFASLI &amp; NSC India.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200400" y="1115568"/>
            <a:ext cx="2743200" cy="3767328"/>
          </a:xfrm>
          <a:prstGeom prst="rect">
            <a:avLst/>
          </a:prstGeom>
          <a:solidFill>
            <a:srgbClr val="13151F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115568"/>
            <a:ext cx="2743200" cy="347472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3" name="Text 21"/>
          <p:cNvSpPr/>
          <p:nvPr/>
        </p:nvSpPr>
        <p:spPr>
          <a:xfrm>
            <a:off x="3291840" y="1115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▶️  YouTube Shorts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14996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Factory workers · Supervisors · Engineers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91840" y="1755648"/>
            <a:ext cx="2560320" cy="475488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17830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'AI catches 5 safety violations in 30 seconds' — timelapse montage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291840" y="2286000"/>
            <a:ext cx="2560320" cy="475488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23134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'What ₹11 Lakh looks like when a factory accident happens' — cost breakdown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3291840" y="2816352"/>
            <a:ext cx="2560320" cy="475488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8437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'How SafeG AI set up in 2 hours at a Pune auto plant' — install timelapse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3291840" y="3346704"/>
            <a:ext cx="2560320" cy="475488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37413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'Before vs After: PPE compliance 47% → 97% in 30 days'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291840" y="3895344"/>
            <a:ext cx="2560320" cy="868680"/>
          </a:xfrm>
          <a:prstGeom prst="rect">
            <a:avLst/>
          </a:prstGeom>
          <a:solidFill>
            <a:srgbClr val="252C42"/>
          </a:solidFill>
          <a:ln w="10160">
            <a:solidFill>
              <a:srgbClr val="FF2D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39319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PRO TIP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83280" y="41148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talking for first 5s. Show the detection happening. Add red alert overlay.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080760" y="1115568"/>
            <a:ext cx="2743200" cy="3767328"/>
          </a:xfrm>
          <a:prstGeom prst="rect">
            <a:avLst/>
          </a:prstGeom>
          <a:solidFill>
            <a:srgbClr val="13151F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80760" y="1115568"/>
            <a:ext cx="2743200" cy="34747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8" name="Text 36"/>
          <p:cNvSpPr/>
          <p:nvPr/>
        </p:nvSpPr>
        <p:spPr>
          <a:xfrm>
            <a:off x="6172200" y="111556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  WhatsApp / Telegram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72200" y="1499616"/>
            <a:ext cx="2560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Factory owners · Safety officers (direct)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172200" y="1755648"/>
            <a:ext cx="2560320" cy="475488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63640" y="1783080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Forwarded card: '3 workers die every day in Indian factories. 1 AI camera fixes this.'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6172200" y="2286000"/>
            <a:ext cx="2560320" cy="475488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231343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Infographic: 'Factories Act violations — fines you didn't know about'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6172200" y="2816352"/>
            <a:ext cx="2560320" cy="475488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2843784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30-second voice note from a 'factory safety expert' (your CEO)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6172200" y="3346704"/>
            <a:ext cx="2560320" cy="475488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63640" y="3374136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'Safety Stat of the Week' shared in industry groups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6172200" y="3895344"/>
            <a:ext cx="2560320" cy="868680"/>
          </a:xfrm>
          <a:prstGeom prst="rect">
            <a:avLst/>
          </a:prstGeom>
          <a:solidFill>
            <a:srgbClr val="252C42"/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263640" y="393192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PRO TIP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263640" y="41148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under 50 words. Use urgency. One shareable image per message.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52" name="Text 50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Syyaim SafeG AI  ·  Viral Growth Playbook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solidFill>
            <a:srgbClr val="FFD600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VIRAL HOOKS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Copy-Paste These Headlines — Tested to Stop the Scroll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297680" cy="713232"/>
          </a:xfrm>
          <a:prstGeom prst="rect">
            <a:avLst/>
          </a:prstGeom>
          <a:solidFill>
            <a:srgbClr val="13151F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78992"/>
            <a:ext cx="402336" cy="713232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078992"/>
            <a:ext cx="4023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24528" y="1216152"/>
            <a:ext cx="420624" cy="22860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0" name="Text 8"/>
          <p:cNvSpPr/>
          <p:nvPr/>
        </p:nvSpPr>
        <p:spPr>
          <a:xfrm>
            <a:off x="4224528" y="1216152"/>
            <a:ext cx="420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STORY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841248" y="1133856"/>
            <a:ext cx="33101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'AI caught a gas leak at 2am. No humans in plant. 3 lives saved.' — Real story from Pune auto plant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800600" y="1078992"/>
            <a:ext cx="4297680" cy="713232"/>
          </a:xfrm>
          <a:prstGeom prst="rect">
            <a:avLst/>
          </a:prstGeom>
          <a:solidFill>
            <a:srgbClr val="13151F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078992"/>
            <a:ext cx="402336" cy="713232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1078992"/>
            <a:ext cx="4023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59368" y="1216152"/>
            <a:ext cx="420624" cy="228600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16" name="Text 14"/>
          <p:cNvSpPr/>
          <p:nvPr/>
        </p:nvSpPr>
        <p:spPr>
          <a:xfrm>
            <a:off x="8659368" y="1216152"/>
            <a:ext cx="420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ROI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276088" y="1133856"/>
            <a:ext cx="33101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 spent ₹2,500 on AI monitoring and saved ₹40 Lakh in accident costs. Here's the maths.'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865376"/>
            <a:ext cx="4297680" cy="713232"/>
          </a:xfrm>
          <a:prstGeom prst="rect">
            <a:avLst/>
          </a:prstGeom>
          <a:solidFill>
            <a:srgbClr val="13151F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865376"/>
            <a:ext cx="402336" cy="713232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1865376"/>
            <a:ext cx="4023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24528" y="2002536"/>
            <a:ext cx="420624" cy="22860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2" name="Text 20"/>
          <p:cNvSpPr/>
          <p:nvPr/>
        </p:nvSpPr>
        <p:spPr>
          <a:xfrm>
            <a:off x="4224528" y="2002536"/>
            <a:ext cx="420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841248" y="1920240"/>
            <a:ext cx="33101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'Video: I pointed SafeG AI at our shopfloor for the first time. It found 7 violations in 60 seconds.'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800600" y="1865376"/>
            <a:ext cx="4297680" cy="713232"/>
          </a:xfrm>
          <a:prstGeom prst="rect">
            <a:avLst/>
          </a:prstGeom>
          <a:solidFill>
            <a:srgbClr val="13151F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1865376"/>
            <a:ext cx="402336" cy="713232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1865376"/>
            <a:ext cx="4023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659368" y="2002536"/>
            <a:ext cx="420624" cy="22860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8" name="Text 26"/>
          <p:cNvSpPr/>
          <p:nvPr/>
        </p:nvSpPr>
        <p:spPr>
          <a:xfrm>
            <a:off x="8659368" y="2002536"/>
            <a:ext cx="420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SHOCK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276088" y="1920240"/>
            <a:ext cx="33101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'3 workers die every day in Indian factories. Almost none of these deaths were unavoidable.'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65760" y="2651760"/>
            <a:ext cx="4297680" cy="713232"/>
          </a:xfrm>
          <a:prstGeom prst="rect">
            <a:avLst/>
          </a:prstGeom>
          <a:solidFill>
            <a:srgbClr val="13151F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651760"/>
            <a:ext cx="402336" cy="7132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2651760"/>
            <a:ext cx="4023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224528" y="2788920"/>
            <a:ext cx="420624" cy="228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4" name="Text 32"/>
          <p:cNvSpPr/>
          <p:nvPr/>
        </p:nvSpPr>
        <p:spPr>
          <a:xfrm>
            <a:off x="4224528" y="2788920"/>
            <a:ext cx="420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841248" y="2706624"/>
            <a:ext cx="33101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'The Factories Act violation nobody talks about — and the ₹2 Lakh fine hiding in plain sight.'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2651760"/>
            <a:ext cx="4297680" cy="713232"/>
          </a:xfrm>
          <a:prstGeom prst="rect">
            <a:avLst/>
          </a:prstGeom>
          <a:solidFill>
            <a:srgbClr val="13151F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651760"/>
            <a:ext cx="402336" cy="71323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8" name="Text 36"/>
          <p:cNvSpPr/>
          <p:nvPr/>
        </p:nvSpPr>
        <p:spPr>
          <a:xfrm>
            <a:off x="4800600" y="2651760"/>
            <a:ext cx="4023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659368" y="2788920"/>
            <a:ext cx="420624" cy="2286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40" name="Text 38"/>
          <p:cNvSpPr/>
          <p:nvPr/>
        </p:nvSpPr>
        <p:spPr>
          <a:xfrm>
            <a:off x="8659368" y="2788920"/>
            <a:ext cx="420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BEFORE/AFTER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5276088" y="2706624"/>
            <a:ext cx="33101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'PPE compliance at our plant went from 47% to 97% in 30 days. Here's exactly how.'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65760" y="3438144"/>
            <a:ext cx="4297680" cy="713232"/>
          </a:xfrm>
          <a:prstGeom prst="rect">
            <a:avLst/>
          </a:prstGeom>
          <a:solidFill>
            <a:srgbClr val="13151F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3438144"/>
            <a:ext cx="402336" cy="713232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3438144"/>
            <a:ext cx="4023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224528" y="3575304"/>
            <a:ext cx="420624" cy="22860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224528" y="3575304"/>
            <a:ext cx="420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841248" y="3493008"/>
            <a:ext cx="33101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 challenged SafeG AI to find every safety violation on our floor. Results were embarrassing.'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800600" y="3438144"/>
            <a:ext cx="4297680" cy="713232"/>
          </a:xfrm>
          <a:prstGeom prst="rect">
            <a:avLst/>
          </a:prstGeom>
          <a:solidFill>
            <a:srgbClr val="13151F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00600" y="3438144"/>
            <a:ext cx="402336" cy="713232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50" name="Text 48"/>
          <p:cNvSpPr/>
          <p:nvPr/>
        </p:nvSpPr>
        <p:spPr>
          <a:xfrm>
            <a:off x="4800600" y="3438144"/>
            <a:ext cx="4023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8659368" y="3575304"/>
            <a:ext cx="420624" cy="228600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52" name="Text 50"/>
          <p:cNvSpPr/>
          <p:nvPr/>
        </p:nvSpPr>
        <p:spPr>
          <a:xfrm>
            <a:off x="8659368" y="3575304"/>
            <a:ext cx="420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5276088" y="3493008"/>
            <a:ext cx="33101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'Most factory owners don't know their true accident cost. Use this calculator. The answer will shock you.'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65760" y="4224528"/>
            <a:ext cx="4297680" cy="713232"/>
          </a:xfrm>
          <a:prstGeom prst="rect">
            <a:avLst/>
          </a:prstGeom>
          <a:solidFill>
            <a:srgbClr val="13151F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4224528"/>
            <a:ext cx="402336" cy="713232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6" name="Text 54"/>
          <p:cNvSpPr/>
          <p:nvPr/>
        </p:nvSpPr>
        <p:spPr>
          <a:xfrm>
            <a:off x="365760" y="4224528"/>
            <a:ext cx="4023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224528" y="4361688"/>
            <a:ext cx="420624" cy="2286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8" name="Text 56"/>
          <p:cNvSpPr/>
          <p:nvPr/>
        </p:nvSpPr>
        <p:spPr>
          <a:xfrm>
            <a:off x="4224528" y="4361688"/>
            <a:ext cx="420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SURVEY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841248" y="4279392"/>
            <a:ext cx="33101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'We asked 200 Indian plant managers: What's your biggest safety fear? The answers are sobering.'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4800600" y="4224528"/>
            <a:ext cx="4297680" cy="713232"/>
          </a:xfrm>
          <a:prstGeom prst="rect">
            <a:avLst/>
          </a:prstGeom>
          <a:solidFill>
            <a:srgbClr val="13151F"/>
          </a:solidFill>
          <a:ln w="12700">
            <a:solidFill>
              <a:srgbClr val="1E2235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800600" y="4224528"/>
            <a:ext cx="402336" cy="71323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62" name="Text 60"/>
          <p:cNvSpPr/>
          <p:nvPr/>
        </p:nvSpPr>
        <p:spPr>
          <a:xfrm>
            <a:off x="4800600" y="4224528"/>
            <a:ext cx="40233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8659368" y="4361688"/>
            <a:ext cx="420624" cy="2286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64" name="Text 62"/>
          <p:cNvSpPr/>
          <p:nvPr/>
        </p:nvSpPr>
        <p:spPr>
          <a:xfrm>
            <a:off x="8659368" y="4361688"/>
            <a:ext cx="420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276088" y="4279392"/>
            <a:ext cx="33101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'SafeG AI vs. 2 human safety guards: Who caught more violations? Not even close.'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Syyaim SafeG AI  ·  Viral Growth Playbook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solidFill>
            <a:srgbClr val="B44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INFLUENCER ENGINE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to Partner With — India Safety's Hidden Amplifiers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8412480" cy="1143000"/>
          </a:xfrm>
          <a:prstGeom prst="rect">
            <a:avLst/>
          </a:prstGeom>
          <a:solidFill>
            <a:srgbClr val="13151F"/>
          </a:solidFill>
          <a:ln w="15240">
            <a:solidFill>
              <a:srgbClr val="B44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1572768" cy="114300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7043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20624" y="1609344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 — Macro Influencers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0624" y="1865376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100K–2M followers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029968" y="117043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44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WHO: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029968" y="1371600"/>
            <a:ext cx="91440" cy="91440"/>
          </a:xfrm>
          <a:prstGeom prst="ellipse">
            <a:avLst/>
          </a:prstGeom>
          <a:solidFill>
            <a:srgbClr val="B44FFF"/>
          </a:solidFill>
          <a:ln/>
        </p:spPr>
      </p:sp>
      <p:sp>
        <p:nvSpPr>
          <p:cNvPr id="13" name="Text 11"/>
          <p:cNvSpPr/>
          <p:nvPr/>
        </p:nvSpPr>
        <p:spPr>
          <a:xfrm>
            <a:off x="2176272" y="130759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Manufacturing &amp; Industry LinkedIn creators (Harsh Mariwala, FICCI accounts)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29968" y="1609344"/>
            <a:ext cx="91440" cy="91440"/>
          </a:xfrm>
          <a:prstGeom prst="ellipse">
            <a:avLst/>
          </a:prstGeom>
          <a:solidFill>
            <a:srgbClr val="B44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176272" y="154533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Occupational Safety Twitter/X accounts followed by EHS professionals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029968" y="1847088"/>
            <a:ext cx="91440" cy="91440"/>
          </a:xfrm>
          <a:prstGeom prst="ellipse">
            <a:avLst/>
          </a:prstGeom>
          <a:solidFill>
            <a:srgbClr val="B44FFF"/>
          </a:solidFill>
          <a:ln/>
        </p:spPr>
      </p:sp>
      <p:sp>
        <p:nvSpPr>
          <p:cNvPr id="17" name="Text 15"/>
          <p:cNvSpPr/>
          <p:nvPr/>
        </p:nvSpPr>
        <p:spPr>
          <a:xfrm>
            <a:off x="2176272" y="178308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YouTube channels: 'Factory Life India', 'Industrial Safety Hindi'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870448" y="1188720"/>
            <a:ext cx="2834640" cy="420624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61888" y="120700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ASK: Sponsored post: ₹25,000–₹1,00,000. Must include live product demo.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870448" y="1664208"/>
            <a:ext cx="2834640" cy="41148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961888" y="166420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1 post from right account = 50,000 reach + 200 direct demo inquiries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65760" y="2359152"/>
            <a:ext cx="8412480" cy="1143000"/>
          </a:xfrm>
          <a:prstGeom prst="rect">
            <a:avLst/>
          </a:prstGeom>
          <a:solidFill>
            <a:srgbClr val="13151F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359152"/>
            <a:ext cx="1572768" cy="114300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432304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20624" y="2871216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2 — Micro Influencers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20624" y="312724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5K–100K followers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029968" y="243230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WHO: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029968" y="2633472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9" name="Text 27"/>
          <p:cNvSpPr/>
          <p:nvPr/>
        </p:nvSpPr>
        <p:spPr>
          <a:xfrm>
            <a:off x="2176272" y="256946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HSE managers &amp; safety officers with active LinkedIn (easiest to reach)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029968" y="2871216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2176272" y="2807208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supervisors who post about 'factory life' on Instagram/YouTube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029968" y="3108960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33" name="Text 31"/>
          <p:cNvSpPr/>
          <p:nvPr/>
        </p:nvSpPr>
        <p:spPr>
          <a:xfrm>
            <a:off x="2176272" y="3044952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State-level Industrial Safety Officers — give them free access + attribution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870448" y="2450592"/>
            <a:ext cx="2834640" cy="420624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61888" y="246888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ASK: Free 6-month license in exchange for honest video review + 3 posts.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870448" y="2926080"/>
            <a:ext cx="2834640" cy="4114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7" name="Text 35"/>
          <p:cNvSpPr/>
          <p:nvPr/>
        </p:nvSpPr>
        <p:spPr>
          <a:xfrm>
            <a:off x="5961888" y="292608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10 micro-influencers = 300,000 targeted reach at near-zero cost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365760" y="3621024"/>
            <a:ext cx="8412480" cy="1143000"/>
          </a:xfrm>
          <a:prstGeom prst="rect">
            <a:avLst/>
          </a:prstGeom>
          <a:solidFill>
            <a:srgbClr val="13151F"/>
          </a:solidFill>
          <a:ln w="15240">
            <a:solidFill>
              <a:srgbClr val="00E6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65760" y="3621024"/>
            <a:ext cx="1572768" cy="114300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40" name="Text 38"/>
          <p:cNvSpPr/>
          <p:nvPr/>
        </p:nvSpPr>
        <p:spPr>
          <a:xfrm>
            <a:off x="365760" y="3694176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420624" y="4133088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3 — Industry Partners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0624" y="438912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Captive audiences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029968" y="369417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WHO: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029968" y="3895344"/>
            <a:ext cx="91440" cy="9144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45" name="Text 43"/>
          <p:cNvSpPr/>
          <p:nvPr/>
        </p:nvSpPr>
        <p:spPr>
          <a:xfrm>
            <a:off x="2176272" y="3831336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Associations: CII, FICCI, ASSOCHAM — request safety webinar slots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029968" y="4133088"/>
            <a:ext cx="91440" cy="9144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47" name="Text 45"/>
          <p:cNvSpPr/>
          <p:nvPr/>
        </p:nvSpPr>
        <p:spPr>
          <a:xfrm>
            <a:off x="2176272" y="4069080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Insurance companies: Refer SafeG AI to their factory clients for premium discounts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029968" y="4370832"/>
            <a:ext cx="91440" cy="9144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49" name="Text 47"/>
          <p:cNvSpPr/>
          <p:nvPr/>
        </p:nvSpPr>
        <p:spPr>
          <a:xfrm>
            <a:off x="2176272" y="4306824"/>
            <a:ext cx="3520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Equipment suppliers: Bundle SafeG AI with IP camera hardware sales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870448" y="3712464"/>
            <a:ext cx="2834640" cy="420624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961888" y="373075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ASK: Revenue share (10–15%) or co-branded safety certification program.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870448" y="4187952"/>
            <a:ext cx="2834640" cy="4114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3" name="Text 51"/>
          <p:cNvSpPr/>
          <p:nvPr/>
        </p:nvSpPr>
        <p:spPr>
          <a:xfrm>
            <a:off x="5961888" y="418795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CII membership = 9,000+ factories. One endorsed email = 500+ leads</a:t>
            </a:r>
            <a:endParaRPr lang="en-US" sz="780" dirty="0"/>
          </a:p>
        </p:txBody>
      </p:sp>
      <p:sp>
        <p:nvSpPr>
          <p:cNvPr id="54" name="Shape 5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Syyaim SafeG AI  ·  Viral Growth Playbook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solidFill>
            <a:srgbClr val="FF2D2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 BOMBS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Explode Into the News Cycle — Every Single Time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NEWSJACKING TRIGGERS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a factory accident makes the news — you have 4 hours to respond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64208"/>
            <a:ext cx="4114800" cy="749808"/>
          </a:xfrm>
          <a:prstGeom prst="rect">
            <a:avLst/>
          </a:prstGeom>
          <a:solidFill>
            <a:srgbClr val="13151F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64208"/>
            <a:ext cx="4114800" cy="54864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1773936"/>
            <a:ext cx="182880" cy="182880"/>
          </a:xfrm>
          <a:prstGeom prst="ellipse">
            <a:avLst/>
          </a:prstGeom>
          <a:solidFill>
            <a:srgbClr val="FF2D2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75564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Major factory accident reported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30352" y="198424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Within 2 hrs: Tweet/post 'This is preventable. Here's how AI detects the exact violation that caused this.' + video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4114800" cy="749808"/>
          </a:xfrm>
          <a:prstGeom prst="rect">
            <a:avLst/>
          </a:prstGeom>
          <a:solidFill>
            <a:srgbClr val="13151F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87168"/>
            <a:ext cx="4114800" cy="54864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15" name="Shape 13"/>
          <p:cNvSpPr/>
          <p:nvPr/>
        </p:nvSpPr>
        <p:spPr>
          <a:xfrm>
            <a:off x="530352" y="2596896"/>
            <a:ext cx="182880" cy="18288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5786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DGFASLI releases accident statistics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30352" y="28072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post: 'New govt data: X workers died this year. We've already prevented Y violations at our pilot plants.'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7200" y="3310128"/>
            <a:ext cx="4114800" cy="749808"/>
          </a:xfrm>
          <a:prstGeom prst="rect">
            <a:avLst/>
          </a:prstGeom>
          <a:solidFill>
            <a:srgbClr val="13151F"/>
          </a:solidFill>
          <a:ln w="12700">
            <a:solidFill>
              <a:srgbClr val="FFD6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310128"/>
            <a:ext cx="4114800" cy="54864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" y="3419856"/>
            <a:ext cx="182880" cy="18288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015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Factories Act amendment / OSH Code update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0352" y="36301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Explainer thread: '5 things every plant manager must do in next 30 days to stay compliant — with AI automation'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57200" y="4133088"/>
            <a:ext cx="4114800" cy="749808"/>
          </a:xfrm>
          <a:prstGeom prst="rect">
            <a:avLst/>
          </a:prstGeom>
          <a:solidFill>
            <a:srgbClr val="13151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133088"/>
            <a:ext cx="41148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5" name="Shape 23"/>
          <p:cNvSpPr/>
          <p:nvPr/>
        </p:nvSpPr>
        <p:spPr>
          <a:xfrm>
            <a:off x="530352" y="4242816"/>
            <a:ext cx="182880" cy="18288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2245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industrial fire or chemical incident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0352" y="445312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Educational content only: 'How AI monitoring detects these 3 early warning signs before an incident escalates'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0" y="10789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6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PROACTIVE PR PLAYS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298448"/>
            <a:ext cx="3931920" cy="841248"/>
          </a:xfrm>
          <a:prstGeom prst="rect">
            <a:avLst/>
          </a:prstGeom>
          <a:solidFill>
            <a:srgbClr val="13151F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1371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📰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285232" y="1371600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India Factory Safety Report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85232" y="1627632"/>
            <a:ext cx="3310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Publish your own annual report using data from SafeG AI deployments. '200,000 violations detected. 47 potential fatalities prevented.' Pitch to ET, TOI, Business Standard.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54880" y="1298448"/>
            <a:ext cx="3931920" cy="54864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34" name="Shape 32"/>
          <p:cNvSpPr/>
          <p:nvPr/>
        </p:nvSpPr>
        <p:spPr>
          <a:xfrm>
            <a:off x="4754880" y="2249424"/>
            <a:ext cx="3931920" cy="841248"/>
          </a:xfrm>
          <a:prstGeom prst="rect">
            <a:avLst/>
          </a:prstGeom>
          <a:solidFill>
            <a:srgbClr val="13151F"/>
          </a:solidFill>
          <a:ln w="12700">
            <a:solidFill>
              <a:srgbClr val="FFD6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754880" y="232257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285232" y="2322576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'Safest Factory in India' Award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85232" y="2578608"/>
            <a:ext cx="3310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and sponsor a 'Safest Shopfloor' award at CII/FICCI events. Winners get free SafeG license. Media coverage guaranteed. Cost: ₹2–5L for 50L+ rupees in earned media.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2249424"/>
            <a:ext cx="3931920" cy="54864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3200400"/>
            <a:ext cx="3931920" cy="841248"/>
          </a:xfrm>
          <a:prstGeom prst="rect">
            <a:avLst/>
          </a:prstGeom>
          <a:solidFill>
            <a:srgbClr val="13151F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327355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285232" y="3273552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Source Safety Benchmark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285232" y="3529584"/>
            <a:ext cx="3310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Release a free 'India Factory Safety Index' — rate industries by PPE compliance. Make it controversial. Invite criticism. Journalists will cover it regardless of angle.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754880" y="3200400"/>
            <a:ext cx="393192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44" name="Shape 42"/>
          <p:cNvSpPr/>
          <p:nvPr/>
        </p:nvSpPr>
        <p:spPr>
          <a:xfrm>
            <a:off x="4754880" y="4151376"/>
            <a:ext cx="3931920" cy="841248"/>
          </a:xfrm>
          <a:prstGeom prst="rect">
            <a:avLst/>
          </a:prstGeom>
          <a:solidFill>
            <a:srgbClr val="13151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754880" y="422452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🎤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5285232" y="42245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CEO Safety Challenge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285232" y="4480560"/>
            <a:ext cx="331012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 10 CEOs on LinkedIn: 'Let SafeG AI audit your shopfloor for 24 hours. We'll donate ₹1L to NSC for every participant.' Viral format. Undeniable PR.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54880" y="4151376"/>
            <a:ext cx="393192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9" name="Shape 4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Syyaim SafeG AI  ·  Viral Growth Playbook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REFERRAL LOOPS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Self-Sustaining Growth Machine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4160520" cy="3794760"/>
          </a:xfrm>
          <a:prstGeom prst="rect">
            <a:avLst/>
          </a:prstGeom>
          <a:solidFill>
            <a:srgbClr val="13151F"/>
          </a:solidFill>
          <a:ln w="15240">
            <a:solidFill>
              <a:srgbClr val="00E676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78992"/>
            <a:ext cx="4160520" cy="32918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78992"/>
            <a:ext cx="39776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REFERRAL PROGRAM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3840480" cy="713232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508760"/>
            <a:ext cx="54864" cy="71323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45336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HSE Manager refers a plant owner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18013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Reward: ₹10,000 cash + 3-month free upgrade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2002536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Paid: On paid contract sign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313432"/>
            <a:ext cx="3840480" cy="713232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13432"/>
            <a:ext cx="54864" cy="71323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350008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owner refers another plant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0080" y="26060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Reward: 1 free camera license (₹30,000 value)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0080" y="2807208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Paid: On partner's first payment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2920" y="3118104"/>
            <a:ext cx="3840480" cy="713232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118104"/>
            <a:ext cx="54864" cy="71323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154680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consultant refers client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341071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Reward: 15% recurring revenue share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40080" y="36118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Paid: Monthly, for 24 months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02920" y="3922776"/>
            <a:ext cx="3840480" cy="713232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922776"/>
            <a:ext cx="54864" cy="71323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59352"/>
            <a:ext cx="3566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Equipment dealer bundles SafeG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0080" y="4215384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Reward: 25% margin + co-brand rights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" y="4416552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878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Paid: Per unit sold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1078992"/>
            <a:ext cx="4069080" cy="3794760"/>
          </a:xfrm>
          <a:prstGeom prst="rect">
            <a:avLst/>
          </a:prstGeom>
          <a:solidFill>
            <a:srgbClr val="13151F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1078992"/>
            <a:ext cx="4069080" cy="32918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1078992"/>
            <a:ext cx="3886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COMMUNITY GROWTH LOOPS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1508760"/>
            <a:ext cx="3794760" cy="1005840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58191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📱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5376672" y="1581912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 Officers WhatsApp Network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76672" y="1837944"/>
            <a:ext cx="31821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Create 'India Factory Safety Network' WhatsApp group. Invite HSE managers free. Share weekly safety tips, regulatory updates, near-miss case studies. Position SafeG as admin/moderator. Target: 500 members in 60 days.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846320" y="2606040"/>
            <a:ext cx="3794760" cy="1005840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267919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🥇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376672" y="2679192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'Plant Certified' Badge Program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376672" y="2935224"/>
            <a:ext cx="31821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Plants using SafeG get a 'AI-Safety Certified' digital badge + physical plaque for their gate. They display it proudly. Their suppliers and competitors ask 'what's that?' Instant word-of-mouth engine.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846320" y="3703320"/>
            <a:ext cx="3794760" cy="1005840"/>
          </a:xfrm>
          <a:prstGeom prst="rect">
            <a:avLst/>
          </a:prstGeom>
          <a:solidFill>
            <a:srgbClr val="0F1018"/>
          </a:solidFill>
          <a:ln w="10160">
            <a:solidFill>
              <a:srgbClr val="1E22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46320" y="3776472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5376672" y="3776472"/>
            <a:ext cx="31821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Safety Leaderboard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76672" y="4032504"/>
            <a:ext cx="318211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leaderboard: 'Most Improved PPE Compliance — India Factories This Month.' Feature top 10 plants (with permission). Plants compete to appear on it. CEOs share it on LinkedIn.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45" name="Text 43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Syyaim SafeG AI  ·  Viral Growth Playbook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solidFill>
            <a:srgbClr val="FF6B1A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CALENDAR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90-Day Viral Launch Plan — Week by Week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743200" cy="1792224"/>
          </a:xfrm>
          <a:prstGeom prst="rect">
            <a:avLst/>
          </a:prstGeom>
          <a:solidFill>
            <a:srgbClr val="13151F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2743200" cy="32004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0789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1–2  ·  SHOCK &amp; AWARENESS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8056" y="1545336"/>
            <a:ext cx="91440" cy="91440"/>
          </a:xfrm>
          <a:prstGeom prst="ellipse">
            <a:avLst/>
          </a:prstGeom>
          <a:solidFill>
            <a:srgbClr val="FF2D2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4630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LinkedIn: '3 workers die daily' stat post + infographic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448056" y="1883664"/>
            <a:ext cx="91440" cy="91440"/>
          </a:xfrm>
          <a:prstGeom prst="ellipse">
            <a:avLst/>
          </a:prstGeom>
          <a:solidFill>
            <a:srgbClr val="FF2D2D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18013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YouTube Short: AI detection timelapse — no commentary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448056" y="2221992"/>
            <a:ext cx="91440" cy="91440"/>
          </a:xfrm>
          <a:prstGeom prst="ellipse">
            <a:avLst/>
          </a:prstGeom>
          <a:solidFill>
            <a:srgbClr val="FF2D2D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1396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WhatsApp: Factories Act fine list viral card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448056" y="2560320"/>
            <a:ext cx="91440" cy="91440"/>
          </a:xfrm>
          <a:prstGeom prst="ellipse">
            <a:avLst/>
          </a:prstGeom>
          <a:solidFill>
            <a:srgbClr val="FF2D2D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247802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Twitter/X thread: 'India's hidden factory safety crisis'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3200400" y="1078992"/>
            <a:ext cx="2743200" cy="1792224"/>
          </a:xfrm>
          <a:prstGeom prst="rect">
            <a:avLst/>
          </a:prstGeom>
          <a:solidFill>
            <a:srgbClr val="13151F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078992"/>
            <a:ext cx="2743200" cy="320040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10789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3–4  ·  PROOF &amp; DEMO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328416" y="1545336"/>
            <a:ext cx="91440" cy="9144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14630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LinkedIn: Live dashboard screenshot tour (carousel)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328416" y="1883664"/>
            <a:ext cx="91440" cy="9144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18013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YouTube: '7 violations caught in 60 seconds' demo reel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3328416" y="2221992"/>
            <a:ext cx="91440" cy="9144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21396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Case study post: Pilot plant before/after (PPE %)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328416" y="2560320"/>
            <a:ext cx="91440" cy="9144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47802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ROI Calculator — promote on all channels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6080760" y="1078992"/>
            <a:ext cx="2743200" cy="1792224"/>
          </a:xfrm>
          <a:prstGeom prst="rect">
            <a:avLst/>
          </a:prstGeom>
          <a:solidFill>
            <a:srgbClr val="13151F"/>
          </a:solidFill>
          <a:ln w="12700">
            <a:solidFill>
              <a:srgbClr val="FFD6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1078992"/>
            <a:ext cx="2743200" cy="32004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107899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5–6  ·  HERO STORIES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08776" y="1545336"/>
            <a:ext cx="91440" cy="9144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1463040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story: Plant manager testimonial (video)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208776" y="1883664"/>
            <a:ext cx="91440" cy="9144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34" name="Text 32"/>
          <p:cNvSpPr/>
          <p:nvPr/>
        </p:nvSpPr>
        <p:spPr>
          <a:xfrm>
            <a:off x="6355080" y="18013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'Safest plant in [City]' announcement post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208776" y="2221992"/>
            <a:ext cx="91440" cy="9144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21396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 release: 'SafeG AI prevents X accidents in Month 1'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6208776" y="2560320"/>
            <a:ext cx="91440" cy="91440"/>
          </a:xfrm>
          <a:prstGeom prst="ellipse">
            <a:avLst/>
          </a:prstGeom>
          <a:solidFill>
            <a:srgbClr val="FFD600"/>
          </a:solidFill>
          <a:ln/>
        </p:spPr>
      </p:sp>
      <p:sp>
        <p:nvSpPr>
          <p:cNvPr id="38" name="Text 36"/>
          <p:cNvSpPr/>
          <p:nvPr/>
        </p:nvSpPr>
        <p:spPr>
          <a:xfrm>
            <a:off x="6355080" y="247802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in ET Manufacturing / Business Standard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320040" y="3017520"/>
            <a:ext cx="2743200" cy="1792224"/>
          </a:xfrm>
          <a:prstGeom prst="rect">
            <a:avLst/>
          </a:prstGeom>
          <a:solidFill>
            <a:srgbClr val="13151F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040" y="3017520"/>
            <a:ext cx="2743200" cy="32004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41" name="Text 39"/>
          <p:cNvSpPr/>
          <p:nvPr/>
        </p:nvSpPr>
        <p:spPr>
          <a:xfrm>
            <a:off x="41148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7–8  ·  COMMUNITY &amp; FOMO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8056" y="3483864"/>
            <a:ext cx="91440" cy="9144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34015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'India Factory Safety Network' WhatsApp group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448056" y="3822192"/>
            <a:ext cx="91440" cy="9144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" y="3739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LinkedIn: '10 plants now certified — is yours next?'</a:t>
            </a:r>
            <a:endParaRPr lang="en-US" sz="780" dirty="0"/>
          </a:p>
        </p:txBody>
      </p:sp>
      <p:sp>
        <p:nvSpPr>
          <p:cNvPr id="46" name="Shape 44"/>
          <p:cNvSpPr/>
          <p:nvPr/>
        </p:nvSpPr>
        <p:spPr>
          <a:xfrm>
            <a:off x="448056" y="4160520"/>
            <a:ext cx="91440" cy="9144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407822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leaderboard: Top 5 most improved plants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48056" y="4498848"/>
            <a:ext cx="91440" cy="9144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49" name="Text 47"/>
          <p:cNvSpPr/>
          <p:nvPr/>
        </p:nvSpPr>
        <p:spPr>
          <a:xfrm>
            <a:off x="594360" y="44165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CEO Safety Challenge — tag 10 factory leaders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3200400" y="3017520"/>
            <a:ext cx="2743200" cy="1792224"/>
          </a:xfrm>
          <a:prstGeom prst="rect">
            <a:avLst/>
          </a:prstGeom>
          <a:solidFill>
            <a:srgbClr val="13151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200400" y="3017520"/>
            <a:ext cx="2743200" cy="3200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2" name="Text 50"/>
          <p:cNvSpPr/>
          <p:nvPr/>
        </p:nvSpPr>
        <p:spPr>
          <a:xfrm>
            <a:off x="329184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9–10  ·  SCALE &amp; REFERRALS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328416" y="3483864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4" name="Text 52"/>
          <p:cNvSpPr/>
          <p:nvPr/>
        </p:nvSpPr>
        <p:spPr>
          <a:xfrm>
            <a:off x="3474720" y="34015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Referral program launch announcement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3328416" y="3822192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6" name="Text 54"/>
          <p:cNvSpPr/>
          <p:nvPr/>
        </p:nvSpPr>
        <p:spPr>
          <a:xfrm>
            <a:off x="3474720" y="3739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Partner post with CII/FICCI safety committee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3328416" y="4160520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58" name="Text 56"/>
          <p:cNvSpPr/>
          <p:nvPr/>
        </p:nvSpPr>
        <p:spPr>
          <a:xfrm>
            <a:off x="3474720" y="407822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'₹1 Crore in accidents prevented' milestone post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3328416" y="4498848"/>
            <a:ext cx="91440" cy="91440"/>
          </a:xfrm>
          <a:prstGeom prst="ellipse">
            <a:avLst/>
          </a:prstGeom>
          <a:solidFill>
            <a:srgbClr val="00D4FF"/>
          </a:solidFill>
          <a:ln/>
        </p:spPr>
      </p:sp>
      <p:sp>
        <p:nvSpPr>
          <p:cNvPr id="60" name="Text 58"/>
          <p:cNvSpPr/>
          <p:nvPr/>
        </p:nvSpPr>
        <p:spPr>
          <a:xfrm>
            <a:off x="3474720" y="44165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Influencer collab: HSE LinkedIn creator feature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6080760" y="3017520"/>
            <a:ext cx="2743200" cy="1792224"/>
          </a:xfrm>
          <a:prstGeom prst="rect">
            <a:avLst/>
          </a:prstGeom>
          <a:solidFill>
            <a:srgbClr val="13151F"/>
          </a:solidFill>
          <a:ln w="12700">
            <a:solidFill>
              <a:srgbClr val="B44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080760" y="3017520"/>
            <a:ext cx="2743200" cy="32004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63" name="Text 61"/>
          <p:cNvSpPr/>
          <p:nvPr/>
        </p:nvSpPr>
        <p:spPr>
          <a:xfrm>
            <a:off x="6172200" y="3017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Wks 11–12  ·  AUTHORITY &amp; PR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6208776" y="3483864"/>
            <a:ext cx="91440" cy="91440"/>
          </a:xfrm>
          <a:prstGeom prst="ellipse">
            <a:avLst/>
          </a:prstGeom>
          <a:solidFill>
            <a:srgbClr val="B44FFF"/>
          </a:solidFill>
          <a:ln/>
        </p:spPr>
      </p:sp>
      <p:sp>
        <p:nvSpPr>
          <p:cNvPr id="65" name="Text 63"/>
          <p:cNvSpPr/>
          <p:nvPr/>
        </p:nvSpPr>
        <p:spPr>
          <a:xfrm>
            <a:off x="6355080" y="3401568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Annual India Factory Safety Report launch (media pitch)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6208776" y="3822192"/>
            <a:ext cx="91440" cy="91440"/>
          </a:xfrm>
          <a:prstGeom prst="ellipse">
            <a:avLst/>
          </a:prstGeom>
          <a:solidFill>
            <a:srgbClr val="B44FFF"/>
          </a:solidFill>
          <a:ln/>
        </p:spPr>
      </p:sp>
      <p:sp>
        <p:nvSpPr>
          <p:cNvPr id="67" name="Text 65"/>
          <p:cNvSpPr/>
          <p:nvPr/>
        </p:nvSpPr>
        <p:spPr>
          <a:xfrm>
            <a:off x="6355080" y="3739896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'Safest Factory' award announcement + event</a:t>
            </a:r>
            <a:endParaRPr lang="en-US" sz="780" dirty="0"/>
          </a:p>
        </p:txBody>
      </p:sp>
      <p:sp>
        <p:nvSpPr>
          <p:cNvPr id="68" name="Shape 66"/>
          <p:cNvSpPr/>
          <p:nvPr/>
        </p:nvSpPr>
        <p:spPr>
          <a:xfrm>
            <a:off x="6208776" y="4160520"/>
            <a:ext cx="91440" cy="91440"/>
          </a:xfrm>
          <a:prstGeom prst="ellipse">
            <a:avLst/>
          </a:prstGeom>
          <a:solidFill>
            <a:srgbClr val="B44FFF"/>
          </a:solidFill>
          <a:ln/>
        </p:spPr>
      </p:sp>
      <p:sp>
        <p:nvSpPr>
          <p:cNvPr id="69" name="Text 67"/>
          <p:cNvSpPr/>
          <p:nvPr/>
        </p:nvSpPr>
        <p:spPr>
          <a:xfrm>
            <a:off x="6355080" y="407822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DGFASLI data newsjack: commentary post</a:t>
            </a:r>
            <a:endParaRPr lang="en-US" sz="780" dirty="0"/>
          </a:p>
        </p:txBody>
      </p:sp>
      <p:sp>
        <p:nvSpPr>
          <p:cNvPr id="70" name="Shape 68"/>
          <p:cNvSpPr/>
          <p:nvPr/>
        </p:nvSpPr>
        <p:spPr>
          <a:xfrm>
            <a:off x="6208776" y="4498848"/>
            <a:ext cx="91440" cy="91440"/>
          </a:xfrm>
          <a:prstGeom prst="ellipse">
            <a:avLst/>
          </a:prstGeom>
          <a:solidFill>
            <a:srgbClr val="B44FFF"/>
          </a:solidFill>
          <a:ln/>
        </p:spPr>
      </p:sp>
      <p:sp>
        <p:nvSpPr>
          <p:cNvPr id="71" name="Text 69"/>
          <p:cNvSpPr/>
          <p:nvPr/>
        </p:nvSpPr>
        <p:spPr>
          <a:xfrm>
            <a:off x="6355080" y="441655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 3 results: 'X violations caught, X lives protected'</a:t>
            </a:r>
            <a:endParaRPr lang="en-US" sz="780" dirty="0"/>
          </a:p>
        </p:txBody>
      </p:sp>
      <p:sp>
        <p:nvSpPr>
          <p:cNvPr id="72" name="Shape 7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73" name="Text 71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Syyaim SafeG AI  ·  Viral Growth Playbook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solidFill>
            <a:srgbClr val="00D4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PRODUCT-LED VIRALITY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Sharing Directly Into the Product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best viral growth doesn't come from marketing — it comes from the product itself spreading.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2743200" cy="1645920"/>
          </a:xfrm>
          <a:prstGeom prst="rect">
            <a:avLst/>
          </a:prstGeom>
          <a:solidFill>
            <a:srgbClr val="13151F"/>
          </a:solidFill>
          <a:ln w="12700">
            <a:solidFill>
              <a:srgbClr val="FFD6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81328"/>
            <a:ext cx="2743200" cy="54864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5361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11480" y="1956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Public Safety Score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224942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every plant a public 'SafeG Score' — a safety rating out of 100 based on real AI data. Plants that score high want to show it off. Plants that score low want to improve it. Both create engagement.</a:t>
            </a:r>
            <a:endParaRPr lang="en-US" sz="780" dirty="0"/>
          </a:p>
        </p:txBody>
      </p:sp>
      <p:sp>
        <p:nvSpPr>
          <p:cNvPr id="12" name="Shape 10"/>
          <p:cNvSpPr/>
          <p:nvPr/>
        </p:nvSpPr>
        <p:spPr>
          <a:xfrm>
            <a:off x="429768" y="2852928"/>
            <a:ext cx="2523744" cy="219456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" y="285292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Add to website footer, email signatures, and entrance gate display.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0" y="1481328"/>
            <a:ext cx="2743200" cy="1645920"/>
          </a:xfrm>
          <a:prstGeom prst="rect">
            <a:avLst/>
          </a:prstGeom>
          <a:solidFill>
            <a:srgbClr val="13151F"/>
          </a:solidFill>
          <a:ln w="1270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481328"/>
            <a:ext cx="2743200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5361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📤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91840" y="1956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Shareable Monthly Reports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24942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Auto-generate a beautiful monthly safety report card with before/after charts. Make it 1-click shareable to LinkedIn. When an HSE manager shares 'Our plant hit 97% PPE compliance this month', SafeG gets organic reach to their entire network.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310128" y="2852928"/>
            <a:ext cx="2523744" cy="21945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0" name="Text 18"/>
          <p:cNvSpPr/>
          <p:nvPr/>
        </p:nvSpPr>
        <p:spPr>
          <a:xfrm>
            <a:off x="3310128" y="285292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Add 'Share on LinkedIn' button to every report.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080760" y="1481328"/>
            <a:ext cx="2743200" cy="1645920"/>
          </a:xfrm>
          <a:prstGeom prst="rect">
            <a:avLst/>
          </a:prstGeom>
          <a:solidFill>
            <a:srgbClr val="13151F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080760" y="1481328"/>
            <a:ext cx="2743200" cy="54864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1536192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🔔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72200" y="19568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Alert Screenshots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90488" y="2249424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When SafeG AI catches a serious violation, auto-generate a shareable 'AI Alert' image — blurred faces, anonymised location — showing the detection box, violation type, and time stamp. These look dramatic and get shared.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6190488" y="2852928"/>
            <a:ext cx="2523744" cy="219456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7" name="Text 25"/>
          <p:cNvSpPr/>
          <p:nvPr/>
        </p:nvSpPr>
        <p:spPr>
          <a:xfrm>
            <a:off x="6190488" y="2852928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One-click share from mobile app alert notification.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20040" y="3236976"/>
            <a:ext cx="2743200" cy="1645920"/>
          </a:xfrm>
          <a:prstGeom prst="rect">
            <a:avLst/>
          </a:prstGeom>
          <a:solidFill>
            <a:srgbClr val="13151F"/>
          </a:solidFill>
          <a:ln w="12700">
            <a:solidFill>
              <a:srgbClr val="FF6B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236976"/>
            <a:ext cx="2743200" cy="54864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291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11480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'Caught by AI' Timelapse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9768" y="400507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Weekly auto-compiled 60-second timelapse of every violation detected that week. Delivered to plant manager every Monday. They will forward this to their team, their boss, and eventually their LinkedIn.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429768" y="4608576"/>
            <a:ext cx="2523744" cy="219456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" y="460857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Include brand watermark and website URL in every video frame.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200400" y="3236976"/>
            <a:ext cx="2743200" cy="1645920"/>
          </a:xfrm>
          <a:prstGeom prst="rect">
            <a:avLst/>
          </a:prstGeom>
          <a:solidFill>
            <a:srgbClr val="13151F"/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0" y="3236976"/>
            <a:ext cx="2743200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7" name="Text 35"/>
          <p:cNvSpPr/>
          <p:nvPr/>
        </p:nvSpPr>
        <p:spPr>
          <a:xfrm>
            <a:off x="3200400" y="3291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3291840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Benchmark Widget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310128" y="400507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'Your plant's PPE compliance vs. average for your industry in your state.' Gamification triggers competitive instinct. Plants that are below average are motivated. Plants above average want to show off.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3310128" y="4608576"/>
            <a:ext cx="2523744" cy="219456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41" name="Text 39"/>
          <p:cNvSpPr/>
          <p:nvPr/>
        </p:nvSpPr>
        <p:spPr>
          <a:xfrm>
            <a:off x="3310128" y="460857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Email this benchmark every month — most forwarded email you'll ever send.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080760" y="3236976"/>
            <a:ext cx="2743200" cy="1645920"/>
          </a:xfrm>
          <a:prstGeom prst="rect">
            <a:avLst/>
          </a:prstGeom>
          <a:solidFill>
            <a:srgbClr val="13151F"/>
          </a:solidFill>
          <a:ln w="12700">
            <a:solidFill>
              <a:srgbClr val="B44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080760" y="3236976"/>
            <a:ext cx="2743200" cy="54864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44" name="Text 42"/>
          <p:cNvSpPr/>
          <p:nvPr/>
        </p:nvSpPr>
        <p:spPr>
          <a:xfrm>
            <a:off x="6080760" y="32918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🌐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6172200" y="37124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Free Public Demo (No Login)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190488" y="4005072"/>
            <a:ext cx="2523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live, public demo page where anyone can upload a 10-second shopfloor video and see SafeG AI detect violations in real-time. Absolutely no sign-up required. This page alone will drive 10,000+ organic sessions if shared once on LinkedIn.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6190488" y="4608576"/>
            <a:ext cx="2523744" cy="219456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48" name="Text 46"/>
          <p:cNvSpPr/>
          <p:nvPr/>
        </p:nvSpPr>
        <p:spPr>
          <a:xfrm>
            <a:off x="6190488" y="4608576"/>
            <a:ext cx="252374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Put demo link in every ad, email, and social bio.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Syyaim SafeG AI  ·  Viral Growth Playbook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solidFill>
            <a:srgbClr val="FF2D2D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28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5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VIRAL BUDGET &amp; KPIS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to Spend ₹5 Lakh for Maximum Viral ROI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6070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MONTHLY VIRAL BUDGET — ₹5,00,000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2468880" cy="502920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37160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371600"/>
            <a:ext cx="2057400" cy="502920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0" y="137160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983480" y="1371600"/>
            <a:ext cx="1234440" cy="50292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3716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371600"/>
            <a:ext cx="1234440" cy="5029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3716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52360" y="1371600"/>
            <a:ext cx="822960" cy="5029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1371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10%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75320" y="1371600"/>
            <a:ext cx="411480" cy="50292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18" name="Text 16"/>
          <p:cNvSpPr/>
          <p:nvPr/>
        </p:nvSpPr>
        <p:spPr>
          <a:xfrm>
            <a:off x="8275320" y="1371600"/>
            <a:ext cx="411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9090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139696"/>
            <a:ext cx="237744" cy="237744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20" name="Text 18"/>
          <p:cNvSpPr/>
          <p:nvPr/>
        </p:nvSpPr>
        <p:spPr>
          <a:xfrm>
            <a:off x="768096" y="20299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Creation — (video, design, copywriting)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779776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6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₹1,50,000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37560" y="2139696"/>
            <a:ext cx="237744" cy="237744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23" name="Text 21"/>
          <p:cNvSpPr/>
          <p:nvPr/>
        </p:nvSpPr>
        <p:spPr>
          <a:xfrm>
            <a:off x="3648456" y="20299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Micro-Influencer Partnerships — (10 HSE creator posts)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60136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44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₹1,25,000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17920" y="2139696"/>
            <a:ext cx="237744" cy="23774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26" name="Text 24"/>
          <p:cNvSpPr/>
          <p:nvPr/>
        </p:nvSpPr>
        <p:spPr>
          <a:xfrm>
            <a:off x="6528816" y="20299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 &amp; Media Outreach — (press releases, journalist access)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540496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₹75,000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2670048"/>
            <a:ext cx="237744" cy="23774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9" name="Text 27"/>
          <p:cNvSpPr/>
          <p:nvPr/>
        </p:nvSpPr>
        <p:spPr>
          <a:xfrm>
            <a:off x="768096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Events &amp; Sponsorship — (CII/FICCI, safety conferences)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779776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₹75,000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2670048"/>
            <a:ext cx="237744" cy="237744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2" name="Text 30"/>
          <p:cNvSpPr/>
          <p:nvPr/>
        </p:nvSpPr>
        <p:spPr>
          <a:xfrm>
            <a:off x="3648456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Management — (WhatsApp, group admin, tools)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660136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₹50,000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2670048"/>
            <a:ext cx="237744" cy="237744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35" name="Text 33"/>
          <p:cNvSpPr/>
          <p:nvPr/>
        </p:nvSpPr>
        <p:spPr>
          <a:xfrm>
            <a:off x="6528816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Amplification — (boost top organic posts only)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540496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₹25,000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318211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90-DAY VIRAL KPIS TO TRACK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3493008"/>
            <a:ext cx="1298448" cy="1371600"/>
          </a:xfrm>
          <a:prstGeom prst="rect">
            <a:avLst/>
          </a:prstGeom>
          <a:solidFill>
            <a:srgbClr val="13151F"/>
          </a:solidFill>
          <a:ln w="15240">
            <a:solidFill>
              <a:srgbClr val="00D4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57200" y="3493008"/>
            <a:ext cx="1298448" cy="54864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35844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50K+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512064" y="413308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LinkedIn organic reach/mo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874520" y="3493008"/>
            <a:ext cx="1298448" cy="1371600"/>
          </a:xfrm>
          <a:prstGeom prst="rect">
            <a:avLst/>
          </a:prstGeom>
          <a:solidFill>
            <a:srgbClr val="13151F"/>
          </a:solidFill>
          <a:ln w="1524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874520" y="3493008"/>
            <a:ext cx="1298448" cy="54864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44" name="Text 42"/>
          <p:cNvSpPr/>
          <p:nvPr/>
        </p:nvSpPr>
        <p:spPr>
          <a:xfrm>
            <a:off x="1874520" y="35844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10K+</a:t>
            </a:r>
            <a:endParaRPr lang="en-US" sz="2800" dirty="0"/>
          </a:p>
        </p:txBody>
      </p:sp>
      <p:sp>
        <p:nvSpPr>
          <p:cNvPr id="45" name="Text 43"/>
          <p:cNvSpPr/>
          <p:nvPr/>
        </p:nvSpPr>
        <p:spPr>
          <a:xfrm>
            <a:off x="1929384" y="413308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YouTube Shorts views/mo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91840" y="3493008"/>
            <a:ext cx="1298448" cy="1371600"/>
          </a:xfrm>
          <a:prstGeom prst="rect">
            <a:avLst/>
          </a:prstGeom>
          <a:solidFill>
            <a:srgbClr val="13151F"/>
          </a:solidFill>
          <a:ln w="15240">
            <a:solidFill>
              <a:srgbClr val="FF6B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3291840" y="3493008"/>
            <a:ext cx="1298448" cy="54864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48" name="Text 46"/>
          <p:cNvSpPr/>
          <p:nvPr/>
        </p:nvSpPr>
        <p:spPr>
          <a:xfrm>
            <a:off x="3291840" y="35844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3346704" y="413308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mentions in 90 days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09160" y="3493008"/>
            <a:ext cx="1298448" cy="1371600"/>
          </a:xfrm>
          <a:prstGeom prst="rect">
            <a:avLst/>
          </a:prstGeom>
          <a:solidFill>
            <a:srgbClr val="13151F"/>
          </a:solidFill>
          <a:ln w="15240">
            <a:solidFill>
              <a:srgbClr val="00E6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09160" y="3493008"/>
            <a:ext cx="1298448" cy="5486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52" name="Text 50"/>
          <p:cNvSpPr/>
          <p:nvPr/>
        </p:nvSpPr>
        <p:spPr>
          <a:xfrm>
            <a:off x="4709160" y="35844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67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</a:t>
            </a:r>
            <a:endParaRPr lang="en-US" sz="2800" dirty="0"/>
          </a:p>
        </p:txBody>
      </p:sp>
      <p:sp>
        <p:nvSpPr>
          <p:cNvPr id="53" name="Text 51"/>
          <p:cNvSpPr/>
          <p:nvPr/>
        </p:nvSpPr>
        <p:spPr>
          <a:xfrm>
            <a:off x="4764024" y="413308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 group members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26480" y="3493008"/>
            <a:ext cx="1298448" cy="1371600"/>
          </a:xfrm>
          <a:prstGeom prst="rect">
            <a:avLst/>
          </a:prstGeom>
          <a:solidFill>
            <a:srgbClr val="13151F"/>
          </a:solidFill>
          <a:ln w="15240">
            <a:solidFill>
              <a:srgbClr val="B44F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126480" y="3493008"/>
            <a:ext cx="1298448" cy="54864"/>
          </a:xfrm>
          <a:prstGeom prst="rect">
            <a:avLst/>
          </a:prstGeom>
          <a:solidFill>
            <a:srgbClr val="B44FFF"/>
          </a:solidFill>
          <a:ln/>
        </p:spPr>
      </p:sp>
      <p:sp>
        <p:nvSpPr>
          <p:cNvPr id="56" name="Text 54"/>
          <p:cNvSpPr/>
          <p:nvPr/>
        </p:nvSpPr>
        <p:spPr>
          <a:xfrm>
            <a:off x="6126480" y="35844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4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2800" dirty="0"/>
          </a:p>
        </p:txBody>
      </p:sp>
      <p:sp>
        <p:nvSpPr>
          <p:cNvPr id="57" name="Text 55"/>
          <p:cNvSpPr/>
          <p:nvPr/>
        </p:nvSpPr>
        <p:spPr>
          <a:xfrm>
            <a:off x="6181344" y="413308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requests from organic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543800" y="3493008"/>
            <a:ext cx="1298448" cy="1371600"/>
          </a:xfrm>
          <a:prstGeom prst="rect">
            <a:avLst/>
          </a:prstGeom>
          <a:solidFill>
            <a:srgbClr val="13151F"/>
          </a:solidFill>
          <a:ln w="15240">
            <a:solidFill>
              <a:srgbClr val="FFD6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7543800" y="3493008"/>
            <a:ext cx="1298448" cy="54864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60" name="Text 58"/>
          <p:cNvSpPr/>
          <p:nvPr/>
        </p:nvSpPr>
        <p:spPr>
          <a:xfrm>
            <a:off x="7543800" y="3584448"/>
            <a:ext cx="12984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6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₹0</a:t>
            </a:r>
            <a:endParaRPr lang="en-US" sz="2800" dirty="0"/>
          </a:p>
        </p:txBody>
      </p:sp>
      <p:sp>
        <p:nvSpPr>
          <p:cNvPr id="61" name="Text 59"/>
          <p:cNvSpPr/>
          <p:nvPr/>
        </p:nvSpPr>
        <p:spPr>
          <a:xfrm>
            <a:off x="7598664" y="4133088"/>
            <a:ext cx="1188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per viral share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63" name="Text 61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Syyaim SafeG AI  ·  Viral Growth Playbook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71600"/>
            <a:ext cx="9144000" cy="2468880"/>
          </a:xfrm>
          <a:prstGeom prst="rect">
            <a:avLst/>
          </a:prstGeom>
          <a:solidFill>
            <a:srgbClr val="FF2D2D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800" kern="0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ONE THING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 every piece of content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this one question: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1444752"/>
            <a:ext cx="768096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444752"/>
            <a:ext cx="7680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"How many lives could SafeG AI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2D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have saved at [that accident]?"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2999232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 within 4 hours of any factory accident in the news.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Tag DGFASLI, NSC India, and relevant state HSE departments.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8D0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 this 3 times and you will be quoted by national media.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3730752"/>
            <a:ext cx="1463040" cy="530352"/>
          </a:xfrm>
          <a:prstGeom prst="rect">
            <a:avLst/>
          </a:prstGeom>
          <a:solidFill>
            <a:srgbClr val="191C2A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373075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🎬 Create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3730752"/>
            <a:ext cx="1463040" cy="530352"/>
          </a:xfrm>
          <a:prstGeom prst="rect">
            <a:avLst/>
          </a:prstGeom>
          <a:solidFill>
            <a:srgbClr val="191C2A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373075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Partner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886200" y="3730752"/>
            <a:ext cx="1463040" cy="530352"/>
          </a:xfrm>
          <a:prstGeom prst="rect">
            <a:avLst/>
          </a:prstGeom>
          <a:solidFill>
            <a:srgbClr val="191C2A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86200" y="373075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💥 Newsjack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3730752"/>
            <a:ext cx="1463040" cy="530352"/>
          </a:xfrm>
          <a:prstGeom prst="rect">
            <a:avLst/>
          </a:prstGeom>
          <a:solidFill>
            <a:srgbClr val="191C2A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0" y="373075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Refer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086600" y="3730752"/>
            <a:ext cx="1463040" cy="530352"/>
          </a:xfrm>
          <a:prstGeom prst="rect">
            <a:avLst/>
          </a:prstGeom>
          <a:solidFill>
            <a:srgbClr val="191C2A"/>
          </a:solidFill>
          <a:ln w="12700">
            <a:solidFill>
              <a:srgbClr val="FF2D2D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086600" y="373075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🏆 Award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FF2D2D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937760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2C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Syyaim SafeG AI  ·  Viral Growth Playbook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Make SafeG AI Go Viral — Growth Playbook</dc:title>
  <dc:subject>PptxGenJS Presentation</dc:subject>
  <dc:creator>PptxGenJS</dc:creator>
  <cp:lastModifiedBy>PptxGenJS</cp:lastModifiedBy>
  <cp:revision>1</cp:revision>
  <dcterms:created xsi:type="dcterms:W3CDTF">2026-03-08T09:58:45Z</dcterms:created>
  <dcterms:modified xsi:type="dcterms:W3CDTF">2026-03-08T09:58:45Z</dcterms:modified>
</cp:coreProperties>
</file>