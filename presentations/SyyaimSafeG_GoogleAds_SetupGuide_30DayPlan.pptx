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3" name="Shape 1"/>
          <p:cNvSpPr/>
          <p:nvPr/>
        </p:nvSpPr>
        <p:spPr>
          <a:xfrm>
            <a:off x="3858768" y="594360"/>
            <a:ext cx="1426464" cy="1463040"/>
          </a:xfrm>
          <a:prstGeom prst="rect">
            <a:avLst/>
          </a:prstGeom>
          <a:solidFill>
            <a:srgbClr val="FF5C1A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58768" y="594360"/>
            <a:ext cx="14264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SYYAIM SAFEG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Guide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+ 30-Day Action Plan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224528"/>
            <a:ext cx="1737360" cy="640080"/>
          </a:xfrm>
          <a:prstGeom prst="rect">
            <a:avLst/>
          </a:prstGeom>
          <a:solidFill>
            <a:srgbClr val="141C2E"/>
          </a:solidFill>
          <a:ln w="15240">
            <a:solidFill>
              <a:srgbClr val="FF5C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4224528"/>
            <a:ext cx="1737360" cy="54864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2793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5262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Setup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4224528"/>
            <a:ext cx="1737360" cy="640080"/>
          </a:xfrm>
          <a:prstGeom prst="rect">
            <a:avLst/>
          </a:prstGeom>
          <a:solidFill>
            <a:srgbClr val="141C2E"/>
          </a:solidFill>
          <a:ln w="15240">
            <a:solidFill>
              <a:srgbClr val="00C8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97480" y="4224528"/>
            <a:ext cx="1737360" cy="54864"/>
          </a:xfrm>
          <a:prstGeom prst="rect">
            <a:avLst/>
          </a:prstGeom>
          <a:solidFill>
            <a:srgbClr val="00C8A8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42793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45262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4224528"/>
            <a:ext cx="1737360" cy="640080"/>
          </a:xfrm>
          <a:prstGeom prst="rect">
            <a:avLst/>
          </a:prstGeom>
          <a:solidFill>
            <a:srgbClr val="141C2E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4224528"/>
            <a:ext cx="17373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42793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45262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29400" y="4224528"/>
            <a:ext cx="1737360" cy="640080"/>
          </a:xfrm>
          <a:prstGeom prst="rect">
            <a:avLst/>
          </a:prstGeom>
          <a:solidFill>
            <a:srgbClr val="141C2E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224528"/>
            <a:ext cx="173736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42793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9400" y="45262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5C1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solidFill>
            <a:srgbClr val="FF5C1A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Google Ads Journey — 5 Phases to Launch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554480" cy="2560320"/>
          </a:xfrm>
          <a:prstGeom prst="rect">
            <a:avLst/>
          </a:prstGeom>
          <a:solidFill>
            <a:srgbClr val="141C2E"/>
          </a:solidFill>
          <a:ln w="19050">
            <a:solidFill>
              <a:srgbClr val="FF5C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1554480" cy="73152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234440"/>
            <a:ext cx="457200" cy="457200"/>
          </a:xfrm>
          <a:prstGeom prst="ellipse">
            <a:avLst/>
          </a:prstGeom>
          <a:solidFill>
            <a:srgbClr val="FF5C1A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8912" y="21945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670048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20240" y="2423160"/>
            <a:ext cx="137160" cy="0"/>
          </a:xfrm>
          <a:prstGeom prst="line">
            <a:avLst/>
          </a:prstGeom>
          <a:noFill/>
          <a:ln w="19050">
            <a:solidFill>
              <a:srgbClr val="2A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2304288"/>
            <a:ext cx="146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057400" y="1143000"/>
            <a:ext cx="1554480" cy="2560320"/>
          </a:xfrm>
          <a:prstGeom prst="rect">
            <a:avLst/>
          </a:prstGeom>
          <a:solidFill>
            <a:srgbClr val="141C2E"/>
          </a:solidFill>
          <a:ln w="19050">
            <a:solidFill>
              <a:srgbClr val="00C8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57400" y="1143000"/>
            <a:ext cx="1554480" cy="73152"/>
          </a:xfrm>
          <a:prstGeom prst="rect">
            <a:avLst/>
          </a:prstGeom>
          <a:solidFill>
            <a:srgbClr val="00C8A8"/>
          </a:solidFill>
          <a:ln/>
        </p:spPr>
      </p:sp>
      <p:sp>
        <p:nvSpPr>
          <p:cNvPr id="17" name="Shape 15"/>
          <p:cNvSpPr/>
          <p:nvPr/>
        </p:nvSpPr>
        <p:spPr>
          <a:xfrm>
            <a:off x="2606040" y="1234440"/>
            <a:ext cx="457200" cy="457200"/>
          </a:xfrm>
          <a:prstGeom prst="ellipse">
            <a:avLst/>
          </a:prstGeom>
          <a:solidFill>
            <a:srgbClr val="00C8A8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060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057400" y="17373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130552" y="21945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Build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30552" y="2670048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3–5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11880" y="2423160"/>
            <a:ext cx="137160" cy="0"/>
          </a:xfrm>
          <a:prstGeom prst="line">
            <a:avLst/>
          </a:prstGeom>
          <a:noFill/>
          <a:ln w="19050">
            <a:solidFill>
              <a:srgbClr val="2A3A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85032" y="2304288"/>
            <a:ext cx="146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749040" y="1143000"/>
            <a:ext cx="1554480" cy="2560320"/>
          </a:xfrm>
          <a:prstGeom prst="rect">
            <a:avLst/>
          </a:prstGeom>
          <a:solidFill>
            <a:srgbClr val="141C2E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49040" y="1143000"/>
            <a:ext cx="155448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24"/>
          <p:cNvSpPr/>
          <p:nvPr/>
        </p:nvSpPr>
        <p:spPr>
          <a:xfrm>
            <a:off x="4297680" y="1234440"/>
            <a:ext cx="457200" cy="45720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2976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749040" y="17373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822192" y="21945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&amp; Ads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22192" y="2670048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5–7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0" y="2423160"/>
            <a:ext cx="137160" cy="0"/>
          </a:xfrm>
          <a:prstGeom prst="line">
            <a:avLst/>
          </a:prstGeom>
          <a:noFill/>
          <a:ln w="19050">
            <a:solidFill>
              <a:srgbClr val="2A3A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76672" y="2304288"/>
            <a:ext cx="146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440680" y="1143000"/>
            <a:ext cx="1554480" cy="2560320"/>
          </a:xfrm>
          <a:prstGeom prst="rect">
            <a:avLst/>
          </a:prstGeom>
          <a:solidFill>
            <a:srgbClr val="141C2E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40680" y="1143000"/>
            <a:ext cx="155448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5" name="Shape 33"/>
          <p:cNvSpPr/>
          <p:nvPr/>
        </p:nvSpPr>
        <p:spPr>
          <a:xfrm>
            <a:off x="5989320" y="1234440"/>
            <a:ext cx="457200" cy="457200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893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440680" y="17373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513832" y="21945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&amp; Launch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13832" y="2670048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7–8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95160" y="2423160"/>
            <a:ext cx="137160" cy="0"/>
          </a:xfrm>
          <a:prstGeom prst="line">
            <a:avLst/>
          </a:prstGeom>
          <a:noFill/>
          <a:ln w="19050">
            <a:solidFill>
              <a:srgbClr val="2A3A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68312" y="2304288"/>
            <a:ext cx="146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132320" y="1143000"/>
            <a:ext cx="1554480" cy="2560320"/>
          </a:xfrm>
          <a:prstGeom prst="rect">
            <a:avLst/>
          </a:prstGeom>
          <a:solidFill>
            <a:srgbClr val="141C2E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132320" y="1143000"/>
            <a:ext cx="1554480" cy="7315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4" name="Shape 42"/>
          <p:cNvSpPr/>
          <p:nvPr/>
        </p:nvSpPr>
        <p:spPr>
          <a:xfrm>
            <a:off x="7680960" y="1234440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6809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132320" y="17373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7205472" y="21945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&amp; Scale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205472" y="2670048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9–30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38221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 BY DAY 30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4069080"/>
            <a:ext cx="1554480" cy="822960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57200" y="4114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457200" y="44805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bookings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148840" y="4069080"/>
            <a:ext cx="1554480" cy="822960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148840" y="4114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₹120–220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2148840" y="44805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safety keywords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840480" y="4069080"/>
            <a:ext cx="1554480" cy="822960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840480" y="4114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6–10%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3840480" y="44805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CTR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532120" y="4069080"/>
            <a:ext cx="1554480" cy="822960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5532120" y="4114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&lt;₹40K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5532120" y="44805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budget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223760" y="4069080"/>
            <a:ext cx="1554480" cy="822960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7223760" y="4114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7223760" y="44805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first lead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66" name="Text 64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Syyaim SafeG AI  ·  Google Ads Launch Guide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solidFill>
            <a:srgbClr val="FF5C1A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ACCOUNT SETUP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Configure Your Google Ads Account — Day 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206240" cy="1755648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4206240" cy="54864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188720"/>
            <a:ext cx="384048" cy="384048"/>
          </a:xfrm>
          <a:prstGeom prst="ellipse">
            <a:avLst/>
          </a:prstGeom>
          <a:solidFill>
            <a:srgbClr val="FF5C1A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188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Google Ads Account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636776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15727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ads.google.com → Click 'Start Now'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1883664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18196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your business Google account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2130552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06654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'Switch to Expert Mode' — CRITICAL (avoids Smart campaigns)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2377440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23134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campaign goal: 'Create an account without a campaign'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2624328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25603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billing country: India · Currency: INR (₹)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1078992"/>
            <a:ext cx="4206240" cy="1755648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78992"/>
            <a:ext cx="4206240" cy="54864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1188720"/>
            <a:ext cx="384048" cy="384048"/>
          </a:xfrm>
          <a:prstGeom prst="ellipse">
            <a:avLst/>
          </a:prstGeom>
          <a:solidFill>
            <a:srgbClr val="FF5C1A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1188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924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Information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1636776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27" name="Text 25"/>
          <p:cNvSpPr/>
          <p:nvPr/>
        </p:nvSpPr>
        <p:spPr>
          <a:xfrm>
            <a:off x="5102352" y="15727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name: Syyaim SafeG AI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937760" y="1883664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29" name="Text 27"/>
          <p:cNvSpPr/>
          <p:nvPr/>
        </p:nvSpPr>
        <p:spPr>
          <a:xfrm>
            <a:off x="5102352" y="18196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URL: syyaimsafeg.ai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37760" y="2130552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31" name="Text 29"/>
          <p:cNvSpPr/>
          <p:nvPr/>
        </p:nvSpPr>
        <p:spPr>
          <a:xfrm>
            <a:off x="5102352" y="206654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zone: India Standard Time (IST, +5:30)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937760" y="2377440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33" name="Text 31"/>
          <p:cNvSpPr/>
          <p:nvPr/>
        </p:nvSpPr>
        <p:spPr>
          <a:xfrm>
            <a:off x="5102352" y="23134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Auto-tagging: Enable (required for GA4 tracking)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937760" y="2624328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35" name="Text 33"/>
          <p:cNvSpPr/>
          <p:nvPr/>
        </p:nvSpPr>
        <p:spPr>
          <a:xfrm>
            <a:off x="5102352" y="25603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Technology → Software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2999232"/>
            <a:ext cx="4206240" cy="1755648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2999232"/>
            <a:ext cx="4206240" cy="54864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38" name="Shape 36"/>
          <p:cNvSpPr/>
          <p:nvPr/>
        </p:nvSpPr>
        <p:spPr>
          <a:xfrm>
            <a:off x="502920" y="3108960"/>
            <a:ext cx="384048" cy="384048"/>
          </a:xfrm>
          <a:prstGeom prst="ellipse">
            <a:avLst/>
          </a:prstGeom>
          <a:solidFill>
            <a:srgbClr val="FF5C1A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2920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6012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Setup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3557016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" y="34930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method: Credit card or bank transfer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48640" y="3803904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44" name="Text 42"/>
          <p:cNvSpPr/>
          <p:nvPr/>
        </p:nvSpPr>
        <p:spPr>
          <a:xfrm>
            <a:off x="713232" y="373989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threshold: Start at ₹500 (auto-increases)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48640" y="4050792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46" name="Text 44"/>
          <p:cNvSpPr/>
          <p:nvPr/>
        </p:nvSpPr>
        <p:spPr>
          <a:xfrm>
            <a:off x="713232" y="39867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invoice: Apply once spend &gt; ₹50K/mo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48640" y="4297680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48" name="Text 46"/>
          <p:cNvSpPr/>
          <p:nvPr/>
        </p:nvSpPr>
        <p:spPr>
          <a:xfrm>
            <a:off x="713232" y="42336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payment notifications for budget alerts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48640" y="4544568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50" name="Text 48"/>
          <p:cNvSpPr/>
          <p:nvPr/>
        </p:nvSpPr>
        <p:spPr>
          <a:xfrm>
            <a:off x="713232" y="44805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GST number for Input Tax Credit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54880" y="2999232"/>
            <a:ext cx="4206240" cy="1755648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54880" y="2999232"/>
            <a:ext cx="4206240" cy="54864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53" name="Shape 51"/>
          <p:cNvSpPr/>
          <p:nvPr/>
        </p:nvSpPr>
        <p:spPr>
          <a:xfrm>
            <a:off x="4892040" y="3108960"/>
            <a:ext cx="384048" cy="384048"/>
          </a:xfrm>
          <a:prstGeom prst="ellipse">
            <a:avLst/>
          </a:prstGeom>
          <a:solidFill>
            <a:srgbClr val="FF5C1A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892040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34924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Structure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937760" y="3557016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57" name="Text 55"/>
          <p:cNvSpPr/>
          <p:nvPr/>
        </p:nvSpPr>
        <p:spPr>
          <a:xfrm>
            <a:off x="5102352" y="34930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1 Manager Account (MCC) if agency-managed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937760" y="3803904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59" name="Text 57"/>
          <p:cNvSpPr/>
          <p:nvPr/>
        </p:nvSpPr>
        <p:spPr>
          <a:xfrm>
            <a:off x="5102352" y="373989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Google Analytics 4 property immediately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937760" y="4050792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61" name="Text 59"/>
          <p:cNvSpPr/>
          <p:nvPr/>
        </p:nvSpPr>
        <p:spPr>
          <a:xfrm>
            <a:off x="5102352" y="39867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Google Merchant Centre (future use)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937760" y="4297680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63" name="Text 61"/>
          <p:cNvSpPr/>
          <p:nvPr/>
        </p:nvSpPr>
        <p:spPr>
          <a:xfrm>
            <a:off x="5102352" y="42336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Google Tag Manager container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937760" y="4544568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65" name="Text 63"/>
          <p:cNvSpPr/>
          <p:nvPr/>
        </p:nvSpPr>
        <p:spPr>
          <a:xfrm>
            <a:off x="5102352" y="44805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access: Admin → your team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67" name="Text 65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Syyaim SafeG AI  ·  Google Ads Launch Guide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solidFill>
            <a:srgbClr val="FF5C1A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ACCOUNT SETUP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Analytics &amp; Configure Settings — Day 2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206240" cy="1755648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4206240" cy="54864"/>
          </a:xfrm>
          <a:prstGeom prst="rect">
            <a:avLst/>
          </a:prstGeom>
          <a:solidFill>
            <a:srgbClr val="00C8A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188720"/>
            <a:ext cx="384048" cy="384048"/>
          </a:xfrm>
          <a:prstGeom prst="ellipse">
            <a:avLst/>
          </a:prstGeom>
          <a:solidFill>
            <a:srgbClr val="00C8A8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188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Google Analytics 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636776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15727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→ Admin → Google Ads Links → Link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1883664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18196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GA4 goals as Ads conversions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2130552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06654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auto-tagging in Ads account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2377440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23134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UTM parameters firing in GA4 Realtime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2624328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25603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attribution model: Data-driven (or Last click)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1078992"/>
            <a:ext cx="4206240" cy="1755648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78992"/>
            <a:ext cx="4206240" cy="54864"/>
          </a:xfrm>
          <a:prstGeom prst="rect">
            <a:avLst/>
          </a:prstGeom>
          <a:solidFill>
            <a:srgbClr val="00C8A8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1188720"/>
            <a:ext cx="384048" cy="384048"/>
          </a:xfrm>
          <a:prstGeom prst="ellipse">
            <a:avLst/>
          </a:prstGeom>
          <a:solidFill>
            <a:srgbClr val="00C8A8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1188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924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Conversion Tracking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1636776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27" name="Text 25"/>
          <p:cNvSpPr/>
          <p:nvPr/>
        </p:nvSpPr>
        <p:spPr>
          <a:xfrm>
            <a:off x="5102352" y="15727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Google Ads tag via Google Tag Manager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937760" y="1883664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29" name="Text 27"/>
          <p:cNvSpPr/>
          <p:nvPr/>
        </p:nvSpPr>
        <p:spPr>
          <a:xfrm>
            <a:off x="5102352" y="18196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conversion: 'Demo Form Submit' → value ₹60,000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37760" y="2130552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31" name="Text 29"/>
          <p:cNvSpPr/>
          <p:nvPr/>
        </p:nvSpPr>
        <p:spPr>
          <a:xfrm>
            <a:off x="5102352" y="206654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conversion: 'Pricing Page 30s+' → micro conversion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937760" y="2377440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33" name="Text 31"/>
          <p:cNvSpPr/>
          <p:nvPr/>
        </p:nvSpPr>
        <p:spPr>
          <a:xfrm>
            <a:off x="5102352" y="23134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conversion: 'ROI Calculator Used'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937760" y="2624328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35" name="Text 33"/>
          <p:cNvSpPr/>
          <p:nvPr/>
        </p:nvSpPr>
        <p:spPr>
          <a:xfrm>
            <a:off x="5102352" y="25603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Tag Assistant Chrome extension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2999232"/>
            <a:ext cx="4206240" cy="1755648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2999232"/>
            <a:ext cx="4206240" cy="54864"/>
          </a:xfrm>
          <a:prstGeom prst="rect">
            <a:avLst/>
          </a:prstGeom>
          <a:solidFill>
            <a:srgbClr val="00C8A8"/>
          </a:solidFill>
          <a:ln/>
        </p:spPr>
      </p:sp>
      <p:sp>
        <p:nvSpPr>
          <p:cNvPr id="38" name="Shape 36"/>
          <p:cNvSpPr/>
          <p:nvPr/>
        </p:nvSpPr>
        <p:spPr>
          <a:xfrm>
            <a:off x="502920" y="3108960"/>
            <a:ext cx="384048" cy="384048"/>
          </a:xfrm>
          <a:prstGeom prst="ellipse">
            <a:avLst/>
          </a:prstGeom>
          <a:solidFill>
            <a:srgbClr val="00C8A8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2920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6012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Account Preferences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3557016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" y="34930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targeting: English + Hindi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48640" y="3803904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44" name="Text 42"/>
          <p:cNvSpPr/>
          <p:nvPr/>
        </p:nvSpPr>
        <p:spPr>
          <a:xfrm>
            <a:off x="713232" y="373989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rotation: Optimise (Google picks best ads)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48640" y="4050792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46" name="Text 44"/>
          <p:cNvSpPr/>
          <p:nvPr/>
        </p:nvSpPr>
        <p:spPr>
          <a:xfrm>
            <a:off x="713232" y="39867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capping: 3 impressions/user/day (Display)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48640" y="4297680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48" name="Text 46"/>
          <p:cNvSpPr/>
          <p:nvPr/>
        </p:nvSpPr>
        <p:spPr>
          <a:xfrm>
            <a:off x="713232" y="42336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exclusions: Add your own office IP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48640" y="4544568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50" name="Text 48"/>
          <p:cNvSpPr/>
          <p:nvPr/>
        </p:nvSpPr>
        <p:spPr>
          <a:xfrm>
            <a:off x="713232" y="44805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Search Partners (MSN, YouTube search)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54880" y="2999232"/>
            <a:ext cx="4206240" cy="1755648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54880" y="2999232"/>
            <a:ext cx="4206240" cy="54864"/>
          </a:xfrm>
          <a:prstGeom prst="rect">
            <a:avLst/>
          </a:prstGeom>
          <a:solidFill>
            <a:srgbClr val="00C8A8"/>
          </a:solidFill>
          <a:ln/>
        </p:spPr>
      </p:sp>
      <p:sp>
        <p:nvSpPr>
          <p:cNvPr id="53" name="Shape 51"/>
          <p:cNvSpPr/>
          <p:nvPr/>
        </p:nvSpPr>
        <p:spPr>
          <a:xfrm>
            <a:off x="4892040" y="3108960"/>
            <a:ext cx="384048" cy="384048"/>
          </a:xfrm>
          <a:prstGeom prst="ellipse">
            <a:avLst/>
          </a:prstGeom>
          <a:solidFill>
            <a:srgbClr val="00C8A8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892040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34924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 Setup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937760" y="3557016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57" name="Text 55"/>
          <p:cNvSpPr/>
          <p:nvPr/>
        </p:nvSpPr>
        <p:spPr>
          <a:xfrm>
            <a:off x="5102352" y="34930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audience: 'All Website Visitors — 30 days'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937760" y="3803904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59" name="Text 57"/>
          <p:cNvSpPr/>
          <p:nvPr/>
        </p:nvSpPr>
        <p:spPr>
          <a:xfrm>
            <a:off x="5102352" y="373989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audience: 'Pricing Page Visitors — 14 days'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937760" y="4050792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61" name="Text 59"/>
          <p:cNvSpPr/>
          <p:nvPr/>
        </p:nvSpPr>
        <p:spPr>
          <a:xfrm>
            <a:off x="5102352" y="39867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audience: 'ROI Calculator — 30 days'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937760" y="4297680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63" name="Text 61"/>
          <p:cNvSpPr/>
          <p:nvPr/>
        </p:nvSpPr>
        <p:spPr>
          <a:xfrm>
            <a:off x="5102352" y="42336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audience: 'Demo Bounced &lt; 30s — 7 days'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937760" y="4544568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65" name="Text 63"/>
          <p:cNvSpPr/>
          <p:nvPr/>
        </p:nvSpPr>
        <p:spPr>
          <a:xfrm>
            <a:off x="5102352" y="44805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audience size: 100 (Display), 1,000 (Search)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C8A8"/>
          </a:solidFill>
          <a:ln/>
        </p:spPr>
      </p:sp>
      <p:sp>
        <p:nvSpPr>
          <p:cNvPr id="67" name="Text 65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Syyaim SafeG AI  ·  Google Ads Launch Guide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A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solidFill>
            <a:srgbClr val="00C8A8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CAMPAIGN BUILD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Architecture — How to Structure Your Ads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840480" y="10058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1280160"/>
            <a:ext cx="4572000" cy="384048"/>
          </a:xfrm>
          <a:prstGeom prst="rect">
            <a:avLst/>
          </a:prstGeom>
          <a:solidFill>
            <a:srgbClr val="FF5C1A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128016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Syyaim SafeG AI — India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664208"/>
            <a:ext cx="0" cy="201168"/>
          </a:xfrm>
          <a:prstGeom prst="line">
            <a:avLst/>
          </a:prstGeom>
          <a:noFill/>
          <a:ln w="25400">
            <a:solidFill>
              <a:srgbClr val="2A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81051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2377440" cy="594360"/>
          </a:xfrm>
          <a:prstGeom prst="rect">
            <a:avLst/>
          </a:prstGeom>
          <a:solidFill>
            <a:srgbClr val="1A2438"/>
          </a:solidFill>
          <a:ln w="15240">
            <a:solidFill>
              <a:srgbClr val="FF5C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1945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— HSE Managers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29000" y="2194560"/>
            <a:ext cx="2377440" cy="594360"/>
          </a:xfrm>
          <a:prstGeom prst="rect">
            <a:avLst/>
          </a:prstGeom>
          <a:solidFill>
            <a:srgbClr val="1A2438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20440" y="21945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— Plant Owners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0" y="2194560"/>
            <a:ext cx="2377440" cy="594360"/>
          </a:xfrm>
          <a:prstGeom prst="rect">
            <a:avLst/>
          </a:prstGeom>
          <a:solidFill>
            <a:srgbClr val="1A2438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21945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+ Remarketing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8803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400" kern="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090672"/>
            <a:ext cx="2377440" cy="411480"/>
          </a:xfrm>
          <a:prstGeom prst="rect">
            <a:avLst/>
          </a:prstGeom>
          <a:solidFill>
            <a:srgbClr val="16203A"/>
          </a:solidFill>
          <a:ln w="10160">
            <a:solidFill>
              <a:srgbClr val="FF5C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906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₹15K/mo  ·  ₹500/day avg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29000" y="3090672"/>
            <a:ext cx="2377440" cy="411480"/>
          </a:xfrm>
          <a:prstGeom prst="rect">
            <a:avLst/>
          </a:prstGeom>
          <a:solidFill>
            <a:srgbClr val="16203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0906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₹15K/mo  ·  ₹500/day avg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3090672"/>
            <a:ext cx="2377440" cy="411480"/>
          </a:xfrm>
          <a:prstGeom prst="rect">
            <a:avLst/>
          </a:prstGeom>
          <a:solidFill>
            <a:srgbClr val="16203A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0906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₹10K/mo  ·  ₹330/day avg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593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400" kern="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GROUPS (each campaign)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822192"/>
            <a:ext cx="1298448" cy="502920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382219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Safety KW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74520" y="3822192"/>
            <a:ext cx="1298448" cy="502920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29384" y="382219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Switch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91840" y="3822192"/>
            <a:ext cx="1298448" cy="502920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46704" y="382219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KW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3822192"/>
            <a:ext cx="1298448" cy="502920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64024" y="382219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/ Cost KW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26480" y="3822192"/>
            <a:ext cx="1298448" cy="502920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81344" y="382219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Vertical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543800" y="3822192"/>
            <a:ext cx="1298448" cy="502920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98664" y="382219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Technology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4425696"/>
            <a:ext cx="8229600" cy="502920"/>
          </a:xfrm>
          <a:prstGeom prst="rect">
            <a:avLst/>
          </a:prstGeom>
          <a:solidFill>
            <a:srgbClr val="1620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42569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Total Month 1 Budget:  ₹40,000  ·  Est. 180–250 clicks  ·  Target 15–20 demo bookings  ·  Expected CPL: ₹2,000–2,600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C8A8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Syyaim SafeG AI  ·  Google Ads Launch Guide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KEYWORDS &amp; ADS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Keywords — Match Types Explained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 TYPES — CHOOSE CORRECTLY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2651760" cy="1645920"/>
          </a:xfrm>
          <a:prstGeom prst="rect">
            <a:avLst/>
          </a:prstGeom>
          <a:solidFill>
            <a:srgbClr val="141C2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98448"/>
            <a:ext cx="265176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1371600"/>
            <a:ext cx="457200" cy="457200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630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[Exact]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1762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["factory safety system India"]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395728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intent — Use for top 5 proven keywords. Most precise, higher CPC.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1298448"/>
            <a:ext cx="2651760" cy="1645920"/>
          </a:xfrm>
          <a:prstGeom prst="rect">
            <a:avLst/>
          </a:prstGeom>
          <a:solidFill>
            <a:srgbClr val="141C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298448"/>
            <a:ext cx="26517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297680" y="1371600"/>
            <a:ext cx="457200" cy="45720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9184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21762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safety monitoring India"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10128" y="2395728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balance — Ads show when query contains this phrase in order. Use for most keywords.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35040" y="1298448"/>
            <a:ext cx="2651760" cy="164592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298448"/>
            <a:ext cx="26517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0" y="1371600"/>
            <a:ext cx="457200" cy="45720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323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2648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26480" y="21762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safety AI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44768" y="2395728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reach — Only for low-CPC discovery. Add negatives daily. Review search terms weekly.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8412480" cy="256032"/>
          </a:xfrm>
          <a:prstGeom prst="rect">
            <a:avLst/>
          </a:prstGeom>
          <a:solidFill>
            <a:srgbClr val="220808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0632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CRITICAL — Add These Negative Keywords BEFORE Launch: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49040" y="30632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training · jobs · salary · definition · pdf · ppt · download · how to · what is · news · certification · DIY · wikipedia · template · manual · course · study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34564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UPLOAD KEYWORDS IN GOOGLE ADS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7947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3232" y="3730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Campaign → Click Ad Group → Keywords tab → '+' button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06908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0690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3232" y="40050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keywords one per line in correct match type format: [exact], "phrase", broad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434340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343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3232" y="4279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default Max CPC bid: ₹150 (Exact), ₹120 (Phrase), ₹80 (Broad)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61772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6177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3232" y="45537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negatives: Campaign level → Negative Keywords → add full list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489204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8920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13232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Keyword Planner → verify search volumes before final upload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Syyaim SafeG AI  ·  Google Ads Launch Guide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WRITE YOUR ADS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Search Ads (RSA) — Step-by-Step Creation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AN RSA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16736"/>
            <a:ext cx="347472" cy="347472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167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126187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49961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&amp; Assets → Ads → + New Ad → Responsive Search Ad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347472" cy="347472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938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6968" y="1883664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URL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" y="212140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the audience-specific landing page: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A → /roi-calculator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B → /plant-owners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C → /compliance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347472" cy="347472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5603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2505456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Path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6968" y="274320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syyaimsafeg.ai/factory-safety/india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(Two optional path fields — fill both)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182112"/>
            <a:ext cx="347472" cy="347472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1821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6968" y="3127248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×15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336499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all 15 headlines. Mix formats: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problem-focused  ·  5× solution  ·  5× CTA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Headline 1 = your strongest (₹11 Lakh hook)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803904"/>
            <a:ext cx="347472" cy="347472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8039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6968" y="374904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×4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6968" y="39867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4 descriptions (90 chars each).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Description 1 = social proof or urgency.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will auto-test all combinations.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4425696"/>
            <a:ext cx="347472" cy="347472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44256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6968" y="437083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Strength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6968" y="460857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"Excellent" strength rating before saving.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Unique headlines, diverse topics, no repetition.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987552"/>
            <a:ext cx="3931920" cy="2286000"/>
          </a:xfrm>
          <a:prstGeom prst="rect">
            <a:avLst/>
          </a:prstGeom>
          <a:solidFill>
            <a:srgbClr val="F8FA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00600" y="10058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Preview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00600" y="1188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00600" y="137160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syyaimsafeg.ai › factory-safety › india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0600" y="1536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Accidents Before They Happen | AI Safety — ₹2,500/Cam/Mo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0600" y="18105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51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Syyaim SafeG AI monitors 16 cameras 24/7, detecting PPE violations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51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hazards in &lt;30 seconds. Factories Act compliant. Free 4-week pilot.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228600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4-Week Pilot   |   PPE Compliance   |   ROI Calculator   |   Book Demo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54880" y="3364992"/>
            <a:ext cx="3931920" cy="15544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46320" y="34198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 QUALITY TIPS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372160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367588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top keyword in at least 3 headlines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393192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388620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numbers: ₹11 Lakh · 40% · 30 seconds · 6 months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414223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409651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2 headlines with a CTA: 'Book Free Demo →'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46320" y="435254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0" y="430682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description must be &lt; 90 characters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46320" y="4562856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0" y="451713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4 sitelink extensions before going live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46320" y="477316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1" name="Text 49"/>
          <p:cNvSpPr/>
          <p:nvPr/>
        </p:nvSpPr>
        <p:spPr>
          <a:xfrm>
            <a:off x="5029200" y="472744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callout extensions: '24/7 Monitoring' · 'India Data'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Syyaim SafeG AI  ·  Google Ads Launch Guide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AD EXTENSIONS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Extensions — Increases CTR by 10–15%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97480" cy="17830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697480" cy="64008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972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Sitelinks (4 required)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847088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1792224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4-Week Pilot → /pilot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30352" y="2075688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2020824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Your ROI → /roi-calculator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0352" y="2304288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249424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Plans → /pricing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30352" y="2532888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2478024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 → /book-demo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0" y="1005840"/>
            <a:ext cx="2697480" cy="17830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005840"/>
            <a:ext cx="2697480" cy="64008"/>
          </a:xfrm>
          <a:prstGeom prst="rect">
            <a:avLst/>
          </a:prstGeom>
          <a:solidFill>
            <a:srgbClr val="00C8A8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10972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291840" y="14813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Callouts (6 minimum)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64992" y="1847088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23" name="Text 21"/>
          <p:cNvSpPr/>
          <p:nvPr/>
        </p:nvSpPr>
        <p:spPr>
          <a:xfrm>
            <a:off x="3502152" y="1792224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AI Monitoring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64992" y="2075688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25" name="Text 23"/>
          <p:cNvSpPr/>
          <p:nvPr/>
        </p:nvSpPr>
        <p:spPr>
          <a:xfrm>
            <a:off x="3502152" y="2020824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Act Compliant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364992" y="2304288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27" name="Text 25"/>
          <p:cNvSpPr/>
          <p:nvPr/>
        </p:nvSpPr>
        <p:spPr>
          <a:xfrm>
            <a:off x="3502152" y="2249424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Servers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364992" y="2532888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29" name="Text 27"/>
          <p:cNvSpPr/>
          <p:nvPr/>
        </p:nvSpPr>
        <p:spPr>
          <a:xfrm>
            <a:off x="3502152" y="2478024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Existing Cameras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364992" y="2761488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31" name="Text 29"/>
          <p:cNvSpPr/>
          <p:nvPr/>
        </p:nvSpPr>
        <p:spPr>
          <a:xfrm>
            <a:off x="3502152" y="2706624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Setup Included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35040" y="1005840"/>
            <a:ext cx="2697480" cy="17830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1005840"/>
            <a:ext cx="269748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6035040" y="10972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126480" y="14813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Snippets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99632" y="184708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6336792" y="1792224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Services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99632" y="207568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6336792" y="2020824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Values: PPE Detection · Hazard Zone Alerts · Incident Logging · Auto Compliance Reports · Real-Time Dashboard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2944368"/>
            <a:ext cx="2697480" cy="17830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5760" y="2944368"/>
            <a:ext cx="269748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303580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457200" y="341985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Extension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30352" y="378561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5" name="Text 43"/>
          <p:cNvSpPr/>
          <p:nvPr/>
        </p:nvSpPr>
        <p:spPr>
          <a:xfrm>
            <a:off x="667512" y="3730752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business phone number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0352" y="401421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7" name="Text 45"/>
          <p:cNvSpPr/>
          <p:nvPr/>
        </p:nvSpPr>
        <p:spPr>
          <a:xfrm>
            <a:off x="667512" y="3959352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schedule: Mon–Fri 9am–7pm IST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0352" y="424281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9" name="Text 47"/>
          <p:cNvSpPr/>
          <p:nvPr/>
        </p:nvSpPr>
        <p:spPr>
          <a:xfrm>
            <a:off x="667512" y="4187952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call reporting in Ads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30352" y="447141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1" name="Text 49"/>
          <p:cNvSpPr/>
          <p:nvPr/>
        </p:nvSpPr>
        <p:spPr>
          <a:xfrm>
            <a:off x="667512" y="4416552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conversion: calls &gt; 60 seconds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30352" y="470001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3" name="Text 51"/>
          <p:cNvSpPr/>
          <p:nvPr/>
        </p:nvSpPr>
        <p:spPr>
          <a:xfrm>
            <a:off x="667512" y="4645152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bid adjustment: +30%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200400" y="2944368"/>
            <a:ext cx="2697480" cy="17830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200400" y="2944368"/>
            <a:ext cx="2697480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6" name="Text 54"/>
          <p:cNvSpPr/>
          <p:nvPr/>
        </p:nvSpPr>
        <p:spPr>
          <a:xfrm>
            <a:off x="3200400" y="303580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3291840" y="341985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Form Extension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364992" y="3785616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59" name="Text 57"/>
          <p:cNvSpPr/>
          <p:nvPr/>
        </p:nvSpPr>
        <p:spPr>
          <a:xfrm>
            <a:off x="3502152" y="3730752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'Book Free Safety Demo'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364992" y="4014216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1" name="Text 59"/>
          <p:cNvSpPr/>
          <p:nvPr/>
        </p:nvSpPr>
        <p:spPr>
          <a:xfrm>
            <a:off x="3502152" y="3959352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Setup in 2 hours, no commitment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364992" y="4242816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3" name="Text 61"/>
          <p:cNvSpPr/>
          <p:nvPr/>
        </p:nvSpPr>
        <p:spPr>
          <a:xfrm>
            <a:off x="3502152" y="4187952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Name · Company · Phone · City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364992" y="4471416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5" name="Text 63"/>
          <p:cNvSpPr/>
          <p:nvPr/>
        </p:nvSpPr>
        <p:spPr>
          <a:xfrm>
            <a:off x="3502152" y="4416552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to your CRM / email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364992" y="4700016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7" name="Text 65"/>
          <p:cNvSpPr/>
          <p:nvPr/>
        </p:nvSpPr>
        <p:spPr>
          <a:xfrm>
            <a:off x="3502152" y="4645152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lead notification instantly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035040" y="2944368"/>
            <a:ext cx="2697480" cy="17830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035040" y="2944368"/>
            <a:ext cx="26974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0" name="Text 68"/>
          <p:cNvSpPr/>
          <p:nvPr/>
        </p:nvSpPr>
        <p:spPr>
          <a:xfrm>
            <a:off x="6035040" y="303580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6126480" y="341985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Extensions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199632" y="378561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3" name="Text 71"/>
          <p:cNvSpPr/>
          <p:nvPr/>
        </p:nvSpPr>
        <p:spPr>
          <a:xfrm>
            <a:off x="6336792" y="3730752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4 shopfloor safety images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199632" y="401421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5" name="Text 73"/>
          <p:cNvSpPr/>
          <p:nvPr/>
        </p:nvSpPr>
        <p:spPr>
          <a:xfrm>
            <a:off x="6336792" y="3959352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(1:1) and landscape (1.91:1)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199632" y="424281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7" name="Text 75"/>
          <p:cNvSpPr/>
          <p:nvPr/>
        </p:nvSpPr>
        <p:spPr>
          <a:xfrm>
            <a:off x="6336792" y="4187952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AI detection overlay screenshots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199632" y="447141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9" name="Text 77"/>
          <p:cNvSpPr/>
          <p:nvPr/>
        </p:nvSpPr>
        <p:spPr>
          <a:xfrm>
            <a:off x="6336792" y="4416552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 with 97% PPE metric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199632" y="470001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1" name="Text 79"/>
          <p:cNvSpPr/>
          <p:nvPr/>
        </p:nvSpPr>
        <p:spPr>
          <a:xfrm>
            <a:off x="6336792" y="4645152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logos-only images — show product in use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3" name="Text 81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Syyaim SafeG AI  ·  Google Ads Launch Guide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solidFill>
            <a:srgbClr val="22C55E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PRE-LAUNCH CHECKLIST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Go Live Until Every Box Is Ticked — Day 7–8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97480" cy="1783080"/>
          </a:xfrm>
          <a:prstGeom prst="rect">
            <a:avLst/>
          </a:prstGeom>
          <a:solidFill>
            <a:srgbClr val="141C2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697480" cy="2926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Tracking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990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1353312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tag fires on demo form submit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1746504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74650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1700784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goals imported into Google Ads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093976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0939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2048256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conversions enabled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2441448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4414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2395728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parameters on all landing page URLs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0" y="1005840"/>
            <a:ext cx="2697480" cy="1783080"/>
          </a:xfrm>
          <a:prstGeom prst="rect">
            <a:avLst/>
          </a:prstGeom>
          <a:solidFill>
            <a:srgbClr val="141C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005840"/>
            <a:ext cx="2697480" cy="2926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100584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Campaign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1399032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13990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11880" y="1353312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campaigns created with correct budgets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37560" y="1746504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174650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11880" y="1700784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ad groups have 15+ keywords each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37560" y="2093976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0939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11880" y="2048256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 list added (50+ terms)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37560" y="2441448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24414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11880" y="2395728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rotation: Optimise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35040" y="1005840"/>
            <a:ext cx="2697480" cy="1783080"/>
          </a:xfrm>
          <a:prstGeom prst="rect">
            <a:avLst/>
          </a:prstGeom>
          <a:solidFill>
            <a:srgbClr val="141C2E"/>
          </a:solidFill>
          <a:ln w="12700">
            <a:solidFill>
              <a:srgbClr val="FF5C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1005840"/>
            <a:ext cx="2697480" cy="292608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100584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2200" y="1399032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13990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46520" y="1353312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RSA variants in each ad group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72200" y="1746504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174650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46520" y="1700784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strength: Excellent or Good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72200" y="2093976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20939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46520" y="2048256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extension types added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72200" y="2441448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2200" y="24414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46520" y="2395728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URLs work — 200 status, no redirects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65760" y="2944368"/>
            <a:ext cx="2697480" cy="1783080"/>
          </a:xfrm>
          <a:prstGeom prst="rect">
            <a:avLst/>
          </a:prstGeom>
          <a:solidFill>
            <a:srgbClr val="141C2E"/>
          </a:solidFill>
          <a:ln w="12700">
            <a:solidFill>
              <a:srgbClr val="00C8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65760" y="2944368"/>
            <a:ext cx="2697480" cy="292608"/>
          </a:xfrm>
          <a:prstGeom prst="rect">
            <a:avLst/>
          </a:prstGeom>
          <a:solidFill>
            <a:srgbClr val="00C8A8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294436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Targeting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02920" y="3337560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00C8A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33375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77240" y="3291840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Geo: 8 priority cities + state targeting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02920" y="3685032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00C8A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36850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77240" y="3639312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bid adjustments set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02920" y="4032504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00C8A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403250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77240" y="3986784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schedule: Mon–Fri 9am–10pm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02920" y="4379976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00C8A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43799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77240" y="4334256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observations added (not targeting)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200400" y="2944368"/>
            <a:ext cx="2697480" cy="178308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200400" y="2944368"/>
            <a:ext cx="269748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8" name="Text 66"/>
          <p:cNvSpPr/>
          <p:nvPr/>
        </p:nvSpPr>
        <p:spPr>
          <a:xfrm>
            <a:off x="3291840" y="294436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Budget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337560" y="3337560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37560" y="33375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611880" y="3291840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budgets set for all campaigns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337560" y="3685032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337560" y="36850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3611880" y="3639312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method confirmed — card charged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337560" y="4032504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37560" y="403250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611880" y="3986784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alerts: 80% + 100% emails set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337560" y="4379976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43799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611880" y="4334256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budget NOT used (keep separate)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035040" y="2944368"/>
            <a:ext cx="2697480" cy="1783080"/>
          </a:xfrm>
          <a:prstGeom prst="rect">
            <a:avLst/>
          </a:prstGeom>
          <a:solidFill>
            <a:srgbClr val="141C2E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035040" y="2944368"/>
            <a:ext cx="2697480" cy="2926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83" name="Text 81"/>
          <p:cNvSpPr/>
          <p:nvPr/>
        </p:nvSpPr>
        <p:spPr>
          <a:xfrm>
            <a:off x="6126480" y="294436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Landing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6172200" y="3337560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172200" y="33375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446520" y="3291840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speed &lt; 3s on mobile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172200" y="3685032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72200" y="36850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446520" y="3639312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works and sends email notification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172200" y="4032504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172200" y="403250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446520" y="3986784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page fires conversion tag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172200" y="4379976"/>
            <a:ext cx="219456" cy="219456"/>
          </a:xfrm>
          <a:prstGeom prst="rect">
            <a:avLst/>
          </a:prstGeom>
          <a:solidFill>
            <a:srgbClr val="11182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172200" y="43799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6446520" y="4334256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headline matches ad headline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7" name="Text 95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Syyaim SafeG AI  ·  Google Ads Launch Guide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solidFill>
            <a:srgbClr val="FF5C1A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ACTION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Foundation &amp; Launch  (Days 1–7)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2057400" cy="1828800"/>
          </a:xfrm>
          <a:prstGeom prst="rect">
            <a:avLst/>
          </a:prstGeom>
          <a:solidFill>
            <a:srgbClr val="141C2E"/>
          </a:solidFill>
          <a:ln w="12700">
            <a:solidFill>
              <a:srgbClr val="FF5C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2057400" cy="274320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241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" y="1426464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3533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Google Ads account in Expert Mode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29768" y="1728216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65506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billing: INR · credit card · GST number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429768" y="2029968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195681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Manager Account (MCC)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29768" y="2331720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2585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Google Analytics 4 · enable auto-tagging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429768" y="2633472"/>
            <a:ext cx="91440" cy="9144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5603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Google Tag Manager on website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2514600" y="1024128"/>
            <a:ext cx="2057400" cy="1828800"/>
          </a:xfrm>
          <a:prstGeom prst="rect">
            <a:avLst/>
          </a:prstGeom>
          <a:solidFill>
            <a:srgbClr val="141C2E"/>
          </a:solidFill>
          <a:ln w="12700">
            <a:solidFill>
              <a:srgbClr val="FF80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14600" y="1024128"/>
            <a:ext cx="2057400" cy="274320"/>
          </a:xfrm>
          <a:prstGeom prst="rect">
            <a:avLst/>
          </a:prstGeom>
          <a:solidFill>
            <a:srgbClr val="FF8040"/>
          </a:solidFill>
          <a:ln/>
        </p:spPr>
      </p:sp>
      <p:sp>
        <p:nvSpPr>
          <p:cNvPr id="21" name="Text 19"/>
          <p:cNvSpPr/>
          <p:nvPr/>
        </p:nvSpPr>
        <p:spPr>
          <a:xfrm>
            <a:off x="2514600" y="10241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24328" y="1426464"/>
            <a:ext cx="91440" cy="91440"/>
          </a:xfrm>
          <a:prstGeom prst="ellipse">
            <a:avLst/>
          </a:prstGeom>
          <a:solidFill>
            <a:srgbClr val="FF8040"/>
          </a:solidFill>
          <a:ln/>
        </p:spPr>
      </p:sp>
      <p:sp>
        <p:nvSpPr>
          <p:cNvPr id="23" name="Text 21"/>
          <p:cNvSpPr/>
          <p:nvPr/>
        </p:nvSpPr>
        <p:spPr>
          <a:xfrm>
            <a:off x="2761488" y="13533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conversion tracking (3 conversions)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2624328" y="1728216"/>
            <a:ext cx="91440" cy="91440"/>
          </a:xfrm>
          <a:prstGeom prst="ellipse">
            <a:avLst/>
          </a:prstGeom>
          <a:solidFill>
            <a:srgbClr val="FF8040"/>
          </a:solidFill>
          <a:ln/>
        </p:spPr>
      </p:sp>
      <p:sp>
        <p:nvSpPr>
          <p:cNvPr id="25" name="Text 23"/>
          <p:cNvSpPr/>
          <p:nvPr/>
        </p:nvSpPr>
        <p:spPr>
          <a:xfrm>
            <a:off x="2761488" y="165506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remarketing audiences (4 lists)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624328" y="2029968"/>
            <a:ext cx="91440" cy="91440"/>
          </a:xfrm>
          <a:prstGeom prst="ellipse">
            <a:avLst/>
          </a:prstGeom>
          <a:solidFill>
            <a:srgbClr val="FF8040"/>
          </a:solidFill>
          <a:ln/>
        </p:spPr>
      </p:sp>
      <p:sp>
        <p:nvSpPr>
          <p:cNvPr id="27" name="Text 25"/>
          <p:cNvSpPr/>
          <p:nvPr/>
        </p:nvSpPr>
        <p:spPr>
          <a:xfrm>
            <a:off x="2761488" y="195681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Tag Assistant shows conversions firing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2624328" y="2331720"/>
            <a:ext cx="91440" cy="91440"/>
          </a:xfrm>
          <a:prstGeom prst="ellipse">
            <a:avLst/>
          </a:prstGeom>
          <a:solidFill>
            <a:srgbClr val="FF8040"/>
          </a:solidFill>
          <a:ln/>
        </p:spPr>
      </p:sp>
      <p:sp>
        <p:nvSpPr>
          <p:cNvPr id="29" name="Text 27"/>
          <p:cNvSpPr/>
          <p:nvPr/>
        </p:nvSpPr>
        <p:spPr>
          <a:xfrm>
            <a:off x="2761488" y="22585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account preferences (language, IP exclusions)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2624328" y="2633472"/>
            <a:ext cx="91440" cy="91440"/>
          </a:xfrm>
          <a:prstGeom prst="ellipse">
            <a:avLst/>
          </a:prstGeom>
          <a:solidFill>
            <a:srgbClr val="FF8040"/>
          </a:solidFill>
          <a:ln/>
        </p:spPr>
      </p:sp>
      <p:sp>
        <p:nvSpPr>
          <p:cNvPr id="31" name="Text 29"/>
          <p:cNvSpPr/>
          <p:nvPr/>
        </p:nvSpPr>
        <p:spPr>
          <a:xfrm>
            <a:off x="2761488" y="25603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billing alerts at ₹20K and ₹35K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4709160" y="1024128"/>
            <a:ext cx="2057400" cy="1828800"/>
          </a:xfrm>
          <a:prstGeom prst="rect">
            <a:avLst/>
          </a:prstGeom>
          <a:solidFill>
            <a:srgbClr val="141C2E"/>
          </a:solidFill>
          <a:ln w="12700">
            <a:solidFill>
              <a:srgbClr val="00C8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1024128"/>
            <a:ext cx="2057400" cy="274320"/>
          </a:xfrm>
          <a:prstGeom prst="rect">
            <a:avLst/>
          </a:prstGeom>
          <a:solidFill>
            <a:srgbClr val="00C8A8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10241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18888" y="1426464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36" name="Text 34"/>
          <p:cNvSpPr/>
          <p:nvPr/>
        </p:nvSpPr>
        <p:spPr>
          <a:xfrm>
            <a:off x="4956048" y="13533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Campaign 1: HSE Manager Search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4818888" y="1728216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38" name="Text 36"/>
          <p:cNvSpPr/>
          <p:nvPr/>
        </p:nvSpPr>
        <p:spPr>
          <a:xfrm>
            <a:off x="4956048" y="165506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6 ad groups with keyword themes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4818888" y="2029968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40" name="Text 38"/>
          <p:cNvSpPr/>
          <p:nvPr/>
        </p:nvSpPr>
        <p:spPr>
          <a:xfrm>
            <a:off x="4956048" y="195681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50 keywords in correct match types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4818888" y="2331720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42" name="Text 40"/>
          <p:cNvSpPr/>
          <p:nvPr/>
        </p:nvSpPr>
        <p:spPr>
          <a:xfrm>
            <a:off x="4956048" y="22585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50+ negative keywords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4818888" y="2633472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44" name="Text 42"/>
          <p:cNvSpPr/>
          <p:nvPr/>
        </p:nvSpPr>
        <p:spPr>
          <a:xfrm>
            <a:off x="4956048" y="25603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bids: ₹150 exact · ₹120 phrase · ₹80 broad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6903720" y="1024128"/>
            <a:ext cx="2057400" cy="1828800"/>
          </a:xfrm>
          <a:prstGeom prst="rect">
            <a:avLst/>
          </a:prstGeom>
          <a:solidFill>
            <a:srgbClr val="141C2E"/>
          </a:solidFill>
          <a:ln w="12700">
            <a:solidFill>
              <a:srgbClr val="00C8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903720" y="1024128"/>
            <a:ext cx="2057400" cy="274320"/>
          </a:xfrm>
          <a:prstGeom prst="rect">
            <a:avLst/>
          </a:prstGeom>
          <a:solidFill>
            <a:srgbClr val="00C8A8"/>
          </a:solidFill>
          <a:ln/>
        </p:spPr>
      </p:sp>
      <p:sp>
        <p:nvSpPr>
          <p:cNvPr id="47" name="Text 45"/>
          <p:cNvSpPr/>
          <p:nvPr/>
        </p:nvSpPr>
        <p:spPr>
          <a:xfrm>
            <a:off x="6903720" y="10241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013448" y="1426464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49" name="Text 47"/>
          <p:cNvSpPr/>
          <p:nvPr/>
        </p:nvSpPr>
        <p:spPr>
          <a:xfrm>
            <a:off x="7150608" y="13533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Campaign 2: Plant Owner Search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7013448" y="1728216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51" name="Text 49"/>
          <p:cNvSpPr/>
          <p:nvPr/>
        </p:nvSpPr>
        <p:spPr>
          <a:xfrm>
            <a:off x="7150608" y="165506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 RSA variants per ad group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7013448" y="2029968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53" name="Text 51"/>
          <p:cNvSpPr/>
          <p:nvPr/>
        </p:nvSpPr>
        <p:spPr>
          <a:xfrm>
            <a:off x="7150608" y="195681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6 extension types to both campaigns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7013448" y="2331720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55" name="Text 53"/>
          <p:cNvSpPr/>
          <p:nvPr/>
        </p:nvSpPr>
        <p:spPr>
          <a:xfrm>
            <a:off x="7150608" y="22585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geo targeting: 8 cities + state layer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7013448" y="2633472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57" name="Text 55"/>
          <p:cNvSpPr/>
          <p:nvPr/>
        </p:nvSpPr>
        <p:spPr>
          <a:xfrm>
            <a:off x="7150608" y="25603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Display Campaign 3 (remarketing only)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320040" y="3017520"/>
            <a:ext cx="2057400" cy="1828800"/>
          </a:xfrm>
          <a:prstGeom prst="rect">
            <a:avLst/>
          </a:prstGeom>
          <a:solidFill>
            <a:srgbClr val="141C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20040" y="3017520"/>
            <a:ext cx="205740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0" name="Text 58"/>
          <p:cNvSpPr/>
          <p:nvPr/>
        </p:nvSpPr>
        <p:spPr>
          <a:xfrm>
            <a:off x="320040" y="30175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29768" y="3419856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2" name="Text 60"/>
          <p:cNvSpPr/>
          <p:nvPr/>
        </p:nvSpPr>
        <p:spPr>
          <a:xfrm>
            <a:off x="566928" y="334670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all ads — check URLs, grammar, char counts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429768" y="372160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4" name="Text 62"/>
          <p:cNvSpPr/>
          <p:nvPr/>
        </p:nvSpPr>
        <p:spPr>
          <a:xfrm>
            <a:off x="566928" y="364845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all landing pages on mobile + desktop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429768" y="402336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6" name="Text 64"/>
          <p:cNvSpPr/>
          <p:nvPr/>
        </p:nvSpPr>
        <p:spPr>
          <a:xfrm>
            <a:off x="566928" y="39502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ad strength: all Excellent or Good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429768" y="432511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8" name="Text 66"/>
          <p:cNvSpPr/>
          <p:nvPr/>
        </p:nvSpPr>
        <p:spPr>
          <a:xfrm>
            <a:off x="566928" y="42519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 copy with team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429768" y="462686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0" name="Text 68"/>
          <p:cNvSpPr/>
          <p:nvPr/>
        </p:nvSpPr>
        <p:spPr>
          <a:xfrm>
            <a:off x="566928" y="45537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keyword review vs. Keyword Planner volumes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2514600" y="3017520"/>
            <a:ext cx="2057400" cy="1828800"/>
          </a:xfrm>
          <a:prstGeom prst="rect">
            <a:avLst/>
          </a:prstGeom>
          <a:solidFill>
            <a:srgbClr val="141C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2514600" y="3017520"/>
            <a:ext cx="205740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3" name="Text 71"/>
          <p:cNvSpPr/>
          <p:nvPr/>
        </p:nvSpPr>
        <p:spPr>
          <a:xfrm>
            <a:off x="2514600" y="30175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624328" y="3419856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5" name="Text 73"/>
          <p:cNvSpPr/>
          <p:nvPr/>
        </p:nvSpPr>
        <p:spPr>
          <a:xfrm>
            <a:off x="2761488" y="334670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final daily budgets (₹500+₹500+₹330)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2624328" y="372160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7" name="Text 75"/>
          <p:cNvSpPr/>
          <p:nvPr/>
        </p:nvSpPr>
        <p:spPr>
          <a:xfrm>
            <a:off x="2761488" y="364845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Enhanced CPC bidding (not Smart Bidding yet)</a:t>
            </a:r>
            <a:endParaRPr lang="en-US" sz="780" dirty="0"/>
          </a:p>
        </p:txBody>
      </p:sp>
      <p:sp>
        <p:nvSpPr>
          <p:cNvPr id="78" name="Shape 76"/>
          <p:cNvSpPr/>
          <p:nvPr/>
        </p:nvSpPr>
        <p:spPr>
          <a:xfrm>
            <a:off x="2624328" y="402336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9" name="Text 77"/>
          <p:cNvSpPr/>
          <p:nvPr/>
        </p:nvSpPr>
        <p:spPr>
          <a:xfrm>
            <a:off x="2761488" y="39502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Double-check negative keyword lists</a:t>
            </a:r>
            <a:endParaRPr lang="en-US" sz="780" dirty="0"/>
          </a:p>
        </p:txBody>
      </p:sp>
      <p:sp>
        <p:nvSpPr>
          <p:cNvPr id="80" name="Shape 78"/>
          <p:cNvSpPr/>
          <p:nvPr/>
        </p:nvSpPr>
        <p:spPr>
          <a:xfrm>
            <a:off x="2624328" y="432511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1" name="Text 79"/>
          <p:cNvSpPr/>
          <p:nvPr/>
        </p:nvSpPr>
        <p:spPr>
          <a:xfrm>
            <a:off x="2761488" y="42519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ads for review (takes 1–2 business days)</a:t>
            </a:r>
            <a:endParaRPr lang="en-US" sz="780" dirty="0"/>
          </a:p>
        </p:txBody>
      </p:sp>
      <p:sp>
        <p:nvSpPr>
          <p:cNvPr id="82" name="Shape 80"/>
          <p:cNvSpPr/>
          <p:nvPr/>
        </p:nvSpPr>
        <p:spPr>
          <a:xfrm>
            <a:off x="2624328" y="462686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3" name="Text 81"/>
          <p:cNvSpPr/>
          <p:nvPr/>
        </p:nvSpPr>
        <p:spPr>
          <a:xfrm>
            <a:off x="2761488" y="45537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weekly reporting dashboard in Google Looker</a:t>
            </a:r>
            <a:endParaRPr lang="en-US" sz="780" dirty="0"/>
          </a:p>
        </p:txBody>
      </p:sp>
      <p:sp>
        <p:nvSpPr>
          <p:cNvPr id="84" name="Shape 82"/>
          <p:cNvSpPr/>
          <p:nvPr/>
        </p:nvSpPr>
        <p:spPr>
          <a:xfrm>
            <a:off x="4709160" y="3017520"/>
            <a:ext cx="2057400" cy="1828800"/>
          </a:xfrm>
          <a:prstGeom prst="rect">
            <a:avLst/>
          </a:prstGeom>
          <a:solidFill>
            <a:srgbClr val="141C2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4709160" y="3017520"/>
            <a:ext cx="205740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6" name="Text 84"/>
          <p:cNvSpPr/>
          <p:nvPr/>
        </p:nvSpPr>
        <p:spPr>
          <a:xfrm>
            <a:off x="4709160" y="30175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818888" y="341985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8" name="Text 86"/>
          <p:cNvSpPr/>
          <p:nvPr/>
        </p:nvSpPr>
        <p:spPr>
          <a:xfrm>
            <a:off x="4956048" y="334670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LAUNCH — Enable all campaigns</a:t>
            </a:r>
            <a:endParaRPr lang="en-US" sz="780" dirty="0"/>
          </a:p>
        </p:txBody>
      </p:sp>
      <p:sp>
        <p:nvSpPr>
          <p:cNvPr id="89" name="Shape 87"/>
          <p:cNvSpPr/>
          <p:nvPr/>
        </p:nvSpPr>
        <p:spPr>
          <a:xfrm>
            <a:off x="4818888" y="372160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0" name="Text 88"/>
          <p:cNvSpPr/>
          <p:nvPr/>
        </p:nvSpPr>
        <p:spPr>
          <a:xfrm>
            <a:off x="4956048" y="364845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first 2 hours for any disapprovals</a:t>
            </a:r>
            <a:endParaRPr lang="en-US" sz="780" dirty="0"/>
          </a:p>
        </p:txBody>
      </p:sp>
      <p:sp>
        <p:nvSpPr>
          <p:cNvPr id="91" name="Shape 89"/>
          <p:cNvSpPr/>
          <p:nvPr/>
        </p:nvSpPr>
        <p:spPr>
          <a:xfrm>
            <a:off x="4818888" y="402336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2" name="Text 90"/>
          <p:cNvSpPr/>
          <p:nvPr/>
        </p:nvSpPr>
        <p:spPr>
          <a:xfrm>
            <a:off x="4956048" y="39502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Search Terms report immediately</a:t>
            </a:r>
            <a:endParaRPr lang="en-US" sz="780" dirty="0"/>
          </a:p>
        </p:txBody>
      </p:sp>
      <p:sp>
        <p:nvSpPr>
          <p:cNvPr id="93" name="Shape 91"/>
          <p:cNvSpPr/>
          <p:nvPr/>
        </p:nvSpPr>
        <p:spPr>
          <a:xfrm>
            <a:off x="4818888" y="4325112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4" name="Text 92"/>
          <p:cNvSpPr/>
          <p:nvPr/>
        </p:nvSpPr>
        <p:spPr>
          <a:xfrm>
            <a:off x="4956048" y="42519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any new negatives from initial data</a:t>
            </a:r>
            <a:endParaRPr lang="en-US" sz="780" dirty="0"/>
          </a:p>
        </p:txBody>
      </p:sp>
      <p:sp>
        <p:nvSpPr>
          <p:cNvPr id="95" name="Shape 93"/>
          <p:cNvSpPr/>
          <p:nvPr/>
        </p:nvSpPr>
        <p:spPr>
          <a:xfrm>
            <a:off x="4818888" y="462686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6" name="Text 94"/>
          <p:cNvSpPr/>
          <p:nvPr/>
        </p:nvSpPr>
        <p:spPr>
          <a:xfrm>
            <a:off x="4956048" y="45537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internal launch notification to sales team</a:t>
            </a:r>
            <a:endParaRPr lang="en-US" sz="780" dirty="0"/>
          </a:p>
        </p:txBody>
      </p:sp>
      <p:sp>
        <p:nvSpPr>
          <p:cNvPr id="97" name="Shape 9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98" name="Text 96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Syyaim SafeG AI  ·  Google Ads Launch Guide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ACTION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2–4 — Optimise · Scale · Convert  (Days 8–30)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1261872"/>
          </a:xfrm>
          <a:prstGeom prst="rect">
            <a:avLst/>
          </a:prstGeom>
          <a:solidFill>
            <a:srgbClr val="141C2E"/>
          </a:solidFill>
          <a:ln w="12700">
            <a:solidFill>
              <a:srgbClr val="00C8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1691640" cy="1261872"/>
          </a:xfrm>
          <a:prstGeom prst="rect">
            <a:avLst/>
          </a:prstGeom>
          <a:solidFill>
            <a:srgbClr val="00C8A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1556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(Days 8–14)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optimisation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76272" y="1170432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11" name="Text 9"/>
          <p:cNvSpPr/>
          <p:nvPr/>
        </p:nvSpPr>
        <p:spPr>
          <a:xfrm>
            <a:off x="2340864" y="10972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8: Review Search Terms — add 15+ new negatives from real search data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176272" y="1463040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13" name="Text 11"/>
          <p:cNvSpPr/>
          <p:nvPr/>
        </p:nvSpPr>
        <p:spPr>
          <a:xfrm>
            <a:off x="2340864" y="1389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9: Identify top 3 performing keywords — increase bids by 20%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176272" y="1755648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15" name="Text 13"/>
          <p:cNvSpPr/>
          <p:nvPr/>
        </p:nvSpPr>
        <p:spPr>
          <a:xfrm>
            <a:off x="2340864" y="168249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10: Pause any keywords with CTR &lt; 1% after 50+ impressions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176272" y="2048256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17" name="Text 15"/>
          <p:cNvSpPr/>
          <p:nvPr/>
        </p:nvSpPr>
        <p:spPr>
          <a:xfrm>
            <a:off x="2340864" y="197510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11: A/B test landing pages — swap ROI Calculator with calculator widget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5513832" y="1170432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19" name="Text 17"/>
          <p:cNvSpPr/>
          <p:nvPr/>
        </p:nvSpPr>
        <p:spPr>
          <a:xfrm>
            <a:off x="5678424" y="10972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12: Check Quality Scores — anything &lt; 5 needs ad copy or landing page fix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5513832" y="1463040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21" name="Text 19"/>
          <p:cNvSpPr/>
          <p:nvPr/>
        </p:nvSpPr>
        <p:spPr>
          <a:xfrm>
            <a:off x="5678424" y="1389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13: Add 10 new long-tail keywords from Search Terms report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5513832" y="1755648"/>
            <a:ext cx="91440" cy="91440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23" name="Text 21"/>
          <p:cNvSpPr/>
          <p:nvPr/>
        </p:nvSpPr>
        <p:spPr>
          <a:xfrm>
            <a:off x="5678424" y="168249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14: Week 2 report — CTR, CPC, conversions, top search terms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65760" y="2377440"/>
            <a:ext cx="8412480" cy="1261872"/>
          </a:xfrm>
          <a:prstGeom prst="rect">
            <a:avLst/>
          </a:prstGeom>
          <a:solidFill>
            <a:srgbClr val="141C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377440"/>
            <a:ext cx="1691640" cy="12618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248716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(Days 15–21)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28346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refinement &amp; bidding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76272" y="25420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2340864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15: Switch to Target CPA bidding IF you have 15+ conversions (else wait)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2176272" y="283464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2340864" y="27614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16: Review audience observation data — increase bids for best-performing segments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2176272" y="312724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2340864" y="305409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17: Create RLSA (Remarketing Lists for Search Ads) campaigns for pricing page visitors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2176272" y="3419856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2340864" y="334670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18: Check device data — mobile vs. desktop CTR. Adjust device bid modifiers ±20%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513832" y="25420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5678424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19: Review ad variation performance — pause headline combinations with &lt; 0.5% CTR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5513832" y="283464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5678424" y="27614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20: Add Customer Match list from your CRM database (min 1,000 emails)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5513832" y="312724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5678424" y="305409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21: Week 3 report — conversion rate, CPL trends, top-performing ad copy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365760" y="3749040"/>
            <a:ext cx="8412480" cy="1261872"/>
          </a:xfrm>
          <a:prstGeom prst="rect">
            <a:avLst/>
          </a:prstGeom>
          <a:solidFill>
            <a:srgbClr val="141C2E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65760" y="3749040"/>
            <a:ext cx="1691640" cy="126187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4" name="Text 42"/>
          <p:cNvSpPr/>
          <p:nvPr/>
        </p:nvSpPr>
        <p:spPr>
          <a:xfrm>
            <a:off x="411480" y="385876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(Days 22–30)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11480" y="42062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what's working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176272" y="3913632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7" name="Text 45"/>
          <p:cNvSpPr/>
          <p:nvPr/>
        </p:nvSpPr>
        <p:spPr>
          <a:xfrm>
            <a:off x="2340864" y="38404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22: Increase budget by 25% on campaigns hitting target CPL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2176272" y="4206240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9" name="Text 47"/>
          <p:cNvSpPr/>
          <p:nvPr/>
        </p:nvSpPr>
        <p:spPr>
          <a:xfrm>
            <a:off x="2340864" y="41330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23: Launch Competitor Keyword campaign (Wobot AI, Intenseye alternatives)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2176272" y="4498848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51" name="Text 49"/>
          <p:cNvSpPr/>
          <p:nvPr/>
        </p:nvSpPr>
        <p:spPr>
          <a:xfrm>
            <a:off x="2340864" y="442569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24: Create a YouTube bumper ad (6s) using MotionGraphics video clip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2176272" y="4791456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53" name="Text 51"/>
          <p:cNvSpPr/>
          <p:nvPr/>
        </p:nvSpPr>
        <p:spPr>
          <a:xfrm>
            <a:off x="2340864" y="471830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25: Review geographic data — add +20% bid adjustments for top-converting cities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5513832" y="3913632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55" name="Text 53"/>
          <p:cNvSpPr/>
          <p:nvPr/>
        </p:nvSpPr>
        <p:spPr>
          <a:xfrm>
            <a:off x="5678424" y="38404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26: Request Display Network placements for manufacturing/EHS websites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5513832" y="4206240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57" name="Text 55"/>
          <p:cNvSpPr/>
          <p:nvPr/>
        </p:nvSpPr>
        <p:spPr>
          <a:xfrm>
            <a:off x="5678424" y="41330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27: Build 'Demo Attended — Didn't Convert' remarketing audience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5513832" y="4498848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59" name="Text 57"/>
          <p:cNvSpPr/>
          <p:nvPr/>
        </p:nvSpPr>
        <p:spPr>
          <a:xfrm>
            <a:off x="5678424" y="442569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28–30: Full month review — build Month 2 plan with data-backed budget allocation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Syyaim SafeG AI  ·  Google Ads Launch Guide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solidFill>
            <a:srgbClr val="22C55E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TRACKING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to Monitor Daily, Weekly &amp; Monthly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2743200" cy="2926080"/>
          </a:xfrm>
          <a:prstGeom prst="rect">
            <a:avLst/>
          </a:prstGeom>
          <a:solidFill>
            <a:srgbClr val="141C2E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24128"/>
            <a:ext cx="274320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241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 (5 min check)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444752"/>
            <a:ext cx="2468880" cy="402336"/>
          </a:xfrm>
          <a:prstGeom prst="rect">
            <a:avLst/>
          </a:prstGeom>
          <a:solidFill>
            <a:srgbClr val="1A2438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72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consumed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16459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Daily budget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1920240"/>
            <a:ext cx="2468880" cy="402336"/>
          </a:xfrm>
          <a:prstGeom prst="rect">
            <a:avLst/>
          </a:prstGeom>
          <a:solidFill>
            <a:srgbClr val="1A2438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4767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12140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200/day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395728"/>
            <a:ext cx="2468880" cy="402336"/>
          </a:xfrm>
          <a:prstGeom prst="rect">
            <a:avLst/>
          </a:prstGeom>
          <a:solidFill>
            <a:srgbClr val="1A2438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423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259689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 clicks/day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2871216"/>
            <a:ext cx="2468880" cy="402336"/>
          </a:xfrm>
          <a:prstGeom prst="rect">
            <a:avLst/>
          </a:prstGeom>
          <a:solidFill>
            <a:srgbClr val="1A2438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89864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Disapprovals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307238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346704"/>
            <a:ext cx="2468880" cy="402336"/>
          </a:xfrm>
          <a:prstGeom prst="rect">
            <a:avLst/>
          </a:prstGeom>
          <a:solidFill>
            <a:srgbClr val="1A2438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7413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search terms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354787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negatives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46120" y="1024128"/>
            <a:ext cx="2743200" cy="292608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1024128"/>
            <a:ext cx="274320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10241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 (30 min review)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1444752"/>
            <a:ext cx="2468880" cy="402336"/>
          </a:xfrm>
          <a:prstGeom prst="rect">
            <a:avLst/>
          </a:prstGeom>
          <a:solidFill>
            <a:srgbClr val="1A2438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472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74720" y="16459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6–10%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83280" y="1920240"/>
            <a:ext cx="2468880" cy="402336"/>
          </a:xfrm>
          <a:prstGeom prst="rect">
            <a:avLst/>
          </a:prstGeom>
          <a:solidFill>
            <a:srgbClr val="1A2438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194767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74720" y="212140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₹120–220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83280" y="2395728"/>
            <a:ext cx="2468880" cy="402336"/>
          </a:xfrm>
          <a:prstGeom prst="rect">
            <a:avLst/>
          </a:prstGeom>
          <a:solidFill>
            <a:srgbClr val="1A2438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2423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74720" y="259689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3–5/week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383280" y="2871216"/>
            <a:ext cx="2468880" cy="402336"/>
          </a:xfrm>
          <a:prstGeom prst="rect">
            <a:avLst/>
          </a:prstGeom>
          <a:solidFill>
            <a:srgbClr val="1A2438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289864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474720" y="307238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7+ avg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383280" y="3346704"/>
            <a:ext cx="2468880" cy="402336"/>
          </a:xfrm>
          <a:prstGeom prst="rect">
            <a:avLst/>
          </a:prstGeom>
          <a:solidFill>
            <a:srgbClr val="1A2438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337413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Share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474720" y="354787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 40%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26480" y="1024128"/>
            <a:ext cx="2743200" cy="2926080"/>
          </a:xfrm>
          <a:prstGeom prst="rect">
            <a:avLst/>
          </a:prstGeom>
          <a:solidFill>
            <a:srgbClr val="141C2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26480" y="1024128"/>
            <a:ext cx="2743200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4" name="Text 42"/>
          <p:cNvSpPr/>
          <p:nvPr/>
        </p:nvSpPr>
        <p:spPr>
          <a:xfrm>
            <a:off x="6217920" y="10241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 (Deep analysis)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63640" y="1444752"/>
            <a:ext cx="2468880" cy="402336"/>
          </a:xfrm>
          <a:prstGeom prst="rect">
            <a:avLst/>
          </a:prstGeom>
          <a:solidFill>
            <a:srgbClr val="1A2438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14721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demo bookings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55080" y="16459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15–20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63640" y="1920240"/>
            <a:ext cx="2468880" cy="402336"/>
          </a:xfrm>
          <a:prstGeom prst="rect">
            <a:avLst/>
          </a:prstGeom>
          <a:solidFill>
            <a:srgbClr val="1A2438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194767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Lead (CPL)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355080" y="212140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₹2,000–3,000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63640" y="2395728"/>
            <a:ext cx="2468880" cy="402336"/>
          </a:xfrm>
          <a:prstGeom prst="rect">
            <a:avLst/>
          </a:prstGeom>
          <a:solidFill>
            <a:srgbClr val="1A2438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55080" y="2423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55080" y="259689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5–8%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263640" y="2871216"/>
            <a:ext cx="2468880" cy="402336"/>
          </a:xfrm>
          <a:prstGeom prst="rect">
            <a:avLst/>
          </a:prstGeom>
          <a:solidFill>
            <a:srgbClr val="1A2438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55080" y="289864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Ad Spend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355080" y="307238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15× ROAS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63640" y="3346704"/>
            <a:ext cx="2468880" cy="402336"/>
          </a:xfrm>
          <a:prstGeom prst="rect">
            <a:avLst/>
          </a:prstGeom>
          <a:solidFill>
            <a:srgbClr val="1A2438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337413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keyword by conv.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355080" y="354787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budget 25%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65760" y="4041648"/>
            <a:ext cx="8412480" cy="822960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40965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REPORTING TOOLS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02920" y="4325112"/>
            <a:ext cx="128016" cy="128016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63" name="Text 61"/>
          <p:cNvSpPr/>
          <p:nvPr/>
        </p:nvSpPr>
        <p:spPr>
          <a:xfrm>
            <a:off x="685800" y="429768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Dashboard (daily)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624328" y="4325112"/>
            <a:ext cx="128016" cy="128016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65" name="Text 63"/>
          <p:cNvSpPr/>
          <p:nvPr/>
        </p:nvSpPr>
        <p:spPr>
          <a:xfrm>
            <a:off x="2807208" y="429768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 (weekly report)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745736" y="4325112"/>
            <a:ext cx="128016" cy="128016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67" name="Text 65"/>
          <p:cNvSpPr/>
          <p:nvPr/>
        </p:nvSpPr>
        <p:spPr>
          <a:xfrm>
            <a:off x="4928616" y="429768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Funnel Exploration (conversion path)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867144" y="4325112"/>
            <a:ext cx="128016" cy="128016"/>
          </a:xfrm>
          <a:prstGeom prst="ellipse">
            <a:avLst/>
          </a:prstGeom>
          <a:solidFill>
            <a:srgbClr val="00C8A8"/>
          </a:solidFill>
          <a:ln/>
        </p:spPr>
      </p:sp>
      <p:sp>
        <p:nvSpPr>
          <p:cNvPr id="69" name="Text 67"/>
          <p:cNvSpPr/>
          <p:nvPr/>
        </p:nvSpPr>
        <p:spPr>
          <a:xfrm>
            <a:off x="7050024" y="429768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Editor (bulk changes)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1" name="Text 69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Syyaim SafeG AI  ·  Google Ads Launch Guide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solidFill>
            <a:srgbClr val="FF5C1A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+ NEXT STEPS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Problems &amp; Solutions — Then Launch!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97480" cy="1280160"/>
          </a:xfrm>
          <a:prstGeom prst="rect">
            <a:avLst/>
          </a:prstGeom>
          <a:solidFill>
            <a:srgbClr val="141C2E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697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6070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impressions (&lt;100/day)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73736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max CPC bids by 30%. Broaden match types. Check campaign status.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97480" cy="128016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06070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91840" y="14447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CTR (&lt;3%)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10128" y="173736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headlines — lead with ₹11 Lakh hook. Add FOMO element. Test new sitelinks.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35040" y="1005840"/>
            <a:ext cx="2697480" cy="1280160"/>
          </a:xfrm>
          <a:prstGeom prst="rect">
            <a:avLst/>
          </a:prstGeom>
          <a:solidFill>
            <a:srgbClr val="141C2E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005840"/>
            <a:ext cx="2697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06070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26480" y="14447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CPC (&gt;₹300)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44768" y="173736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exact match keywords. Remove broad keywords. Improve Quality Score.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423160"/>
            <a:ext cx="2697480" cy="128016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42316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47802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28620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conversions (&lt;1%)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" y="315468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audit: speed test, form visibility, CTA above fold. Add trust signals.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0" y="2423160"/>
            <a:ext cx="2697480" cy="1280160"/>
          </a:xfrm>
          <a:prstGeom prst="rect">
            <a:avLst/>
          </a:prstGeom>
          <a:solidFill>
            <a:srgbClr val="141C2E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423160"/>
            <a:ext cx="2697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0" y="247802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291840" y="28620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disapprovals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10128" y="315468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No superlatives (Best/#1). No excessive caps. Prices must be accurate.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35040" y="2423160"/>
            <a:ext cx="2697480" cy="128016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242316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247802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126480" y="28620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depletes by noon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44768" y="315468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ad scheduling: full spend over 8am–9pm. Or increase daily budget by 30%.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3895344"/>
            <a:ext cx="8412480" cy="1051560"/>
          </a:xfrm>
          <a:prstGeom prst="rect">
            <a:avLst/>
          </a:prstGeom>
          <a:solidFill>
            <a:srgbClr val="FF5C1A"/>
          </a:solidFill>
          <a:ln/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39502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Ready to Launch?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57200" y="4297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this guide top-to-bottom · Allow 2–3 days for ad approval · Expect first leads within 5–7 days of launch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572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questions → marketing@syyaimsafeg.ai  ·  syyaimsafeg.ai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Syyaim SafeG AI  ·  Google Ads Launch Guide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Syyaim SafeG AI — Google Ads Setup Guide &amp; 30-Day Action Plan</dc:title>
  <dc:subject>PptxGenJS Presentation</dc:subject>
  <dc:creator>PptxGenJS</dc:creator>
  <cp:lastModifiedBy>PptxGenJS</cp:lastModifiedBy>
  <cp:revision>1</cp:revision>
  <dcterms:created xsi:type="dcterms:W3CDTF">2026-03-08T09:41:34Z</dcterms:created>
  <dcterms:modified xsi:type="dcterms:W3CDTF">2026-03-08T09:41:34Z</dcterms:modified>
</cp:coreProperties>
</file>